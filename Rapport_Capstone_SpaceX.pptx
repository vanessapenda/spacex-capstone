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charts/chart1.xml" ContentType="application/vnd.openxmlformats-officedocument.drawingml.chart+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521c993-3e24-62b1-eb33-027cb1339662}">
          <p14:sldIdLst>
            <p14:sldId id="256"/>
            <p14:sldId id="257"/>
            <p14:sldId id="258"/>
            <p14:sldId id="259"/>
          </p14:sldIdLst>
        </p14:section>
        <p14:section name="Méthodologie" id="{72361e73-cb4a-1645-13a4-45865be5b83d}">
          <p14:sldIdLst>
            <p14:sldId id="260"/>
            <p14:sldId id="261"/>
            <p14:sldId id="262"/>
            <p14:sldId id="263"/>
            <p14:sldId id="264"/>
            <p14:sldId id="265"/>
            <p14:sldId id="266"/>
            <p14:sldId id="267"/>
            <p14:sldId id="268"/>
            <p14:sldId id="269"/>
            <p14:sldId id="270"/>
          </p14:sldIdLst>
        </p14:section>
        <p14:section name="Résultats de l'EDA" id="{8ec082db-971b-857f-2f13-33ca2eeb531a}">
          <p14:sldIdLst>
            <p14:sldId id="271"/>
            <p14:sldId id="272"/>
            <p14:sldId id="273"/>
            <p14:sldId id="274"/>
            <p14:sldId id="275"/>
            <p14:sldId id="276"/>
            <p14:sldId id="277"/>
            <p14:sldId id="278"/>
            <p14:sldId id="279"/>
            <p14:sldId id="280"/>
            <p14:sldId id="281"/>
            <p14:sldId id="282"/>
            <p14:sldId id="283"/>
            <p14:sldId id="284"/>
            <p14:sldId id="285"/>
            <p14:sldId id="286"/>
            <p14:sldId id="287"/>
          </p14:sldIdLst>
        </p14:section>
        <p14:section name="Analyse de proximité" id="{12f60f8c-7a5b-c9a9-285c-75d3576751a5}">
          <p14:sldIdLst>
            <p14:sldId id="288"/>
            <p14:sldId id="289"/>
            <p14:sldId id="290"/>
            <p14:sldId id="291"/>
          </p14:sldIdLst>
        </p14:section>
        <p14:section name="Dashboard" id="{766b53fe-3a4c-27e6-8ee0-f42621fad057}">
          <p14:sldIdLst>
            <p14:sldId id="292"/>
            <p14:sldId id="293"/>
            <p14:sldId id="294"/>
            <p14:sldId id="295"/>
          </p14:sldIdLst>
        </p14:section>
        <p14:section name="Analyse prédictive" id="{7ed29add-b318-73ce-c388-115240c64c09}">
          <p14:sldIdLst>
            <p14:sldId id="296"/>
            <p14:sldId id="297"/>
            <p14:sldId id="298"/>
          </p14:sldIdLst>
        </p14:section>
        <p14:section name="Conclusion" id="{b34aadef-5733-6825-2ab8-27d25616f2c3}">
          <p14:sldIdLst>
            <p14:sldId id="299"/>
          </p14:sldIdLst>
        </p14:section>
        <p14:section name="Annexe" id="{431dfbc9-7e8c-d1da-f380-7529ee9c9f30}">
          <p14:sldIdLst>
            <p14:sldId id="300"/>
            <p14:sldId id="301"/>
            <p14:sldId id="30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D3A"/>
                </a:solidFill>
                <a:latin typeface="+mn-lt"/>
              </a:defRPr>
            </a:pPr>
            <a:r>
              <a:rPr sz="1400" b="0" i="0" u="none" strike="noStrike">
                <a:solidFill>
                  <a:srgbClr val="0B1D3A"/>
                </a:solidFill>
                <a:latin typeface="+mn-lt"/>
              </a:rPr>
              <a:t>Précision (%)</a:t>
            </a:r>
          </a:p>
        </c:rich>
      </c:tx>
      <c:layout/>
      <c:overlay val="0"/>
    </c:title>
    <c:autoTitleDeleted val="0"/>
    <c:plotArea>
      <c:layout/>
      <c:barChart>
        <c:barDir val="col"/>
        <c:grouping val="clustered"/>
        <c:varyColors val="0"/>
        <c:ser>
          <c:idx val="0"/>
          <c:order val="0"/>
          <c:tx>
            <c:strRef>
              <c:f>Sheet1!$B$1</c:f>
              <c:strCache>
                <c:ptCount val="1"/>
                <c:pt idx="0">
                  <c:v>Validation croisée (entraînement)</c:v>
                </c:pt>
              </c:strCache>
            </c:strRef>
          </c:tx>
          <c:spPr>
            <a:solidFill>
              <a:srgbClr val="3D5A80"/>
            </a:solidFill>
            <a:effectLst/>
          </c:spPr>
          <c:invertIfNegative val="0"/>
          <c:dLbls>
            <c:numFmt formatCode="0.0&quot;%&quot;" sourceLinked="0"/>
            <c:txPr>
              <a:bodyPr/>
              <a:lstStyle/>
              <a:p>
                <a:pPr>
                  <a:defRPr b="0" i="0" strike="noStrike" sz="1100" u="none">
                    <a:solidFill>
                      <a:srgbClr val="1F2937"/>
                    </a:solidFill>
                    <a:latin typeface="+mn-lt"/>
                  </a:defRPr>
                </a:pPr>
              </a:p>
            </c:txPr>
            <c:showLegendKey val="0"/>
            <c:showVal val="1"/>
            <c:showCatName val="0"/>
            <c:showSerName val="0"/>
            <c:showPercent val="0"/>
            <c:showBubbleSize val="0"/>
            <c:showLeaderLines val="0"/>
          </c:dLbls>
          <c:cat>
            <c:multiLvlStrRef>
              <c:f>Sheet1!$A$2:$A$5</c:f>
              <c:multiLvlStrCache>
                <c:ptCount val="4"/>
                <c:lvl>
                  <c:pt idx="0">
                    <c:v>Régression logistique</c:v>
                  </c:pt>
                  <c:pt idx="1">
                    <c:v>SVM</c:v>
                  </c:pt>
                  <c:pt idx="2">
                    <c:v>Arbre de décision</c:v>
                  </c:pt>
                  <c:pt idx="3">
                    <c:v>KNN</c:v>
                  </c:pt>
                </c:lvl>
              </c:multiLvlStrCache>
            </c:multiLvlStrRef>
          </c:cat>
          <c:val>
            <c:numRef>
              <c:f>Sheet1!$B$2:$B$5</c:f>
              <c:numCache>
                <c:formatCode>General</c:formatCode>
                <c:ptCount val="4"/>
                <c:pt idx="0">
                  <c:v>84.6</c:v>
                </c:pt>
                <c:pt idx="1">
                  <c:v>84.8</c:v>
                </c:pt>
                <c:pt idx="2">
                  <c:v>86.3</c:v>
                </c:pt>
                <c:pt idx="3">
                  <c:v>84.8</c:v>
                </c:pt>
              </c:numCache>
            </c:numRef>
          </c:val>
        </c:ser>
        <c:ser>
          <c:idx val="1"/>
          <c:order val="1"/>
          <c:tx>
            <c:strRef>
              <c:f>Sheet1!$C$1</c:f>
              <c:strCache>
                <c:ptCount val="1"/>
                <c:pt idx="0">
                  <c:v>Jeu de test (18 vols)</c:v>
                </c:pt>
              </c:strCache>
            </c:strRef>
          </c:tx>
          <c:spPr>
            <a:solidFill>
              <a:srgbClr val="E8590C"/>
            </a:solidFill>
            <a:effectLst/>
          </c:spPr>
          <c:invertIfNegative val="0"/>
          <c:dLbls>
            <c:numFmt formatCode="0.0&quot;%&quot;" sourceLinked="0"/>
            <c:txPr>
              <a:bodyPr/>
              <a:lstStyle/>
              <a:p>
                <a:pPr>
                  <a:defRPr b="0" i="0" strike="noStrike" sz="1100" u="none">
                    <a:solidFill>
                      <a:srgbClr val="1F2937"/>
                    </a:solidFill>
                    <a:latin typeface="+mn-lt"/>
                  </a:defRPr>
                </a:pPr>
              </a:p>
            </c:txPr>
            <c:showLegendKey val="0"/>
            <c:showVal val="1"/>
            <c:showCatName val="0"/>
            <c:showSerName val="0"/>
            <c:showPercent val="0"/>
            <c:showBubbleSize val="0"/>
            <c:showLeaderLines val="0"/>
          </c:dLbls>
          <c:cat>
            <c:multiLvlStrRef>
              <c:f>Sheet1!$A$2:$A$5</c:f>
              <c:multiLvlStrCache>
                <c:ptCount val="4"/>
                <c:lvl>
                  <c:pt idx="0">
                    <c:v>Régression logistique</c:v>
                  </c:pt>
                  <c:pt idx="1">
                    <c:v>SVM</c:v>
                  </c:pt>
                  <c:pt idx="2">
                    <c:v>Arbre de décision</c:v>
                  </c:pt>
                  <c:pt idx="3">
                    <c:v>KNN</c:v>
                  </c:pt>
                </c:lvl>
              </c:multiLvlStrCache>
            </c:multiLvlStrRef>
          </c:cat>
          <c:val>
            <c:numRef>
              <c:f>Sheet1!$C$2:$C$5</c:f>
              <c:numCache>
                <c:formatCode>General</c:formatCode>
                <c:ptCount val="4"/>
                <c:pt idx="0">
                  <c:v>83.3</c:v>
                </c:pt>
                <c:pt idx="1">
                  <c:v>83.3</c:v>
                </c:pt>
                <c:pt idx="2">
                  <c:v>83.3</c:v>
                </c:pt>
                <c:pt idx="3">
                  <c:v>83.3</c:v>
                </c:pt>
              </c:numCache>
            </c:numRef>
          </c:val>
        </c:ser>
        <c:dLbls>
          <c:numFmt formatCode="0.0&quot;%&quot;" sourceLinked="0"/>
          <c:txPr>
            <a:bodyPr/>
            <a:lstStyle/>
            <a:p>
              <a:pPr>
                <a:defRPr b="0" i="0" strike="noStrike" sz="1100" u="none">
                  <a:solidFill>
                    <a:srgbClr val="1F2937"/>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937"/>
                </a:solidFill>
                <a:latin typeface="+mn-lt"/>
              </a:defRPr>
            </a:pPr>
            <a:endParaRPr lang="en-US"/>
          </a:p>
        </c:txPr>
        <c:crossAx val="2094734552"/>
        <c:crosses val="autoZero"/>
        <c:auto val="1"/>
        <c:lblAlgn val="ctr"/>
        <c:noMultiLvlLbl val="1"/>
      </c:catAx>
      <c:valAx>
        <c:axId val="2094734552"/>
        <c:scaling>
          <c:orientation val="minMax"/>
          <c:max val="90"/>
          <c:min val="75"/>
        </c:scaling>
        <c:delete val="0"/>
        <c:axPos val="l"/>
        <c:majorGridlines>
          <c:spPr>
            <a:ln w="6350" cap="flat">
              <a:solidFill>
                <a:srgbClr val="D5DBE5"/>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472"/>
                </a:solidFill>
                <a:latin typeface="+mn-lt"/>
              </a:defRPr>
            </a:pPr>
            <a:endParaRPr lang="en-US"/>
          </a:p>
        </c:txPr>
        <c:crossAx val="2094734554"/>
        <c:crosses val="autoZero"/>
        <c:crossBetween val="between"/>
        <c:majorUnit val="5"/>
      </c:valAx>
      <c:spPr>
        <a:noFill/>
        <a:ln>
          <a:noFill/>
        </a:ln>
        <a:effectLst/>
      </c:spPr>
    </c:plotArea>
    <c:legend>
      <c:legendPos val="b"/>
      <c:overlay val="0"/>
      <c:txPr>
        <a:bodyPr/>
        <a:lstStyle/>
        <a:p>
          <a:pPr>
            <a:defRPr sz="1200">
              <a:solidFill>
                <a:srgbClr val="1F2937"/>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B1D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10698480" cy="1737360"/>
          </a:xfrm>
          <a:prstGeom prst="rect">
            <a:avLst/>
          </a:prstGeom>
          <a:noFill/>
          <a:ln/>
        </p:spPr>
        <p:txBody>
          <a:bodyPr wrap="square" rtlCol="0"/>
          <a:lstStyle>
            <a:lvl1pPr algn="l" indent="0" marL="0">
              <a:buNone/>
              <a:defRPr lang="en-US" sz="4000" b="1" dirty="0">
                <a:solidFill>
                  <a:srgbClr val="FFFFFF"/>
                </a:solidFill>
                <a:latin typeface="Arial" pitchFamily="34" charset="0"/>
                <a:ea typeface="Arial" pitchFamily="34" charset="-122"/>
                <a:cs typeface="Arial" pitchFamily="34" charset="-120"/>
              </a:defRPr>
            </a:lvl1pPr>
          </a:lstStyle>
          <a:p>
            <a:pPr algn="l" indent="0" marL="0">
              <a:buNone/>
            </a:pPr>
            <a:endParaRPr lang="en-US" sz="4000" dirty="0"/>
          </a:p>
        </p:txBody>
      </p:sp>
      <p:sp>
        <p:nvSpPr>
          <p:cNvPr id="3" name="Text 0"/>
          <p:cNvSpPr/>
          <p:nvPr>
            <p:ph idx="101" type="body" hasCustomPrompt="1"/>
          </p:nvPr>
        </p:nvSpPr>
        <p:spPr>
          <a:xfrm>
            <a:off x="731520" y="3657600"/>
            <a:ext cx="10698480" cy="2011680"/>
          </a:xfrm>
          <a:prstGeom prst="rect">
            <a:avLst/>
          </a:prstGeom>
          <a:noFill/>
          <a:ln/>
        </p:spPr>
        <p:txBody>
          <a:bodyPr wrap="square" rtlCol="0"/>
          <a:lstStyle>
            <a:lvl1pPr algn="l" indent="0" marL="0">
              <a:buNone/>
              <a:defRPr lang="en-US" sz="1800" dirty="0">
                <a:solidFill>
                  <a:srgbClr val="CADCFC"/>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0B1D3A"/>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2103120"/>
            <a:ext cx="8229600" cy="548640"/>
          </a:xfrm>
          <a:prstGeom prst="rect">
            <a:avLst/>
          </a:prstGeom>
          <a:noFill/>
          <a:ln/>
        </p:spPr>
        <p:txBody>
          <a:bodyPr wrap="square" rtlCol="0"/>
          <a:lstStyle>
            <a:lvl1pPr algn="l" indent="0" marL="0">
              <a:buNone/>
              <a:defRPr lang="en-US" sz="1800" b="1" dirty="0">
                <a:solidFill>
                  <a:srgbClr val="E8590C"/>
                </a:solidFill>
              </a:defRPr>
            </a:lvl1pPr>
          </a:lstStyle>
          <a:p>
            <a:pPr algn="l" indent="0" marL="0">
              <a:buNone/>
            </a:pPr>
            <a:endParaRPr lang="en-US" sz="1800" dirty="0"/>
          </a:p>
        </p:txBody>
      </p:sp>
      <p:sp>
        <p:nvSpPr>
          <p:cNvPr id="3" name="Text 0"/>
          <p:cNvSpPr/>
          <p:nvPr>
            <p:ph idx="101" type="title" hasCustomPrompt="1"/>
          </p:nvPr>
        </p:nvSpPr>
        <p:spPr>
          <a:xfrm>
            <a:off x="731520" y="2697480"/>
            <a:ext cx="10698480" cy="1280160"/>
          </a:xfrm>
          <a:prstGeom prst="rect">
            <a:avLst/>
          </a:prstGeom>
          <a:noFill/>
          <a:ln/>
        </p:spPr>
        <p:txBody>
          <a:bodyPr wrap="square" rtlCol="0"/>
          <a:lstStyle>
            <a:lvl1pPr algn="l" indent="0" marL="0">
              <a:buNone/>
              <a:defRPr lang="en-US" sz="4000" b="1" dirty="0">
                <a:solidFill>
                  <a:srgbClr val="FFFFFF"/>
                </a:solidFill>
                <a:latin typeface="Arial" pitchFamily="34" charset="0"/>
                <a:ea typeface="Arial" pitchFamily="34" charset="-122"/>
                <a:cs typeface="Arial" pitchFamily="34" charset="-120"/>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lstStyle>
            <a:lvl1pPr algn="l" indent="0" marL="0">
              <a:buNone/>
              <a:defRPr lang="en-US" sz="3000" b="1" dirty="0">
                <a:solidFill>
                  <a:srgbClr val="0B1D3A"/>
                </a:solidFill>
                <a:latin typeface="Arial" pitchFamily="34" charset="0"/>
                <a:ea typeface="Arial" pitchFamily="34" charset="-122"/>
                <a:cs typeface="Arial" pitchFamily="34" charset="-120"/>
              </a:defRPr>
            </a:lvl1pPr>
          </a:lstStyle>
          <a:p>
            <a:pPr algn="l" indent="0" marL="0">
              <a:buNone/>
            </a:pPr>
            <a:endParaRPr lang="en-US" sz="3000" dirty="0"/>
          </a:p>
        </p:txBody>
      </p:sp>
      <p:sp>
        <p:nvSpPr>
          <p:cNvPr id="3" name="Text 0"/>
          <p:cNvSpPr/>
          <p:nvPr/>
        </p:nvSpPr>
        <p:spPr>
          <a:xfrm>
            <a:off x="548640" y="6355080"/>
            <a:ext cx="7315200" cy="320040"/>
          </a:xfrm>
          <a:prstGeom prst="rect">
            <a:avLst/>
          </a:prstGeom>
          <a:noFill/>
          <a:ln/>
        </p:spPr>
        <p:txBody>
          <a:bodyPr wrap="square" lIns="0" tIns="0" rIns="0" bIns="0" rtlCol="0" anchor="ctr"/>
          <a:lstStyle/>
          <a:p>
            <a:pPr indent="0" marL="0">
              <a:buNone/>
            </a:pPr>
            <a:r>
              <a:rPr lang="en-US" sz="1000" dirty="0">
                <a:solidFill>
                  <a:srgbClr val="5B6472"/>
                </a:solidFill>
              </a:rPr>
              <a:t>IBM Data Science Capstone — SpaceX Falcon 9</a:t>
            </a:r>
            <a:endParaRPr lang="en-US" sz="10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github.com/vanessapenda/Spacex-Capstone/blob/main/jupyter-labs-spacex-data-collection-api.ipynb" TargetMode="External"/><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github.com/vanessapenda/Spacex-Capstone/blob/main/jupyter-labs-webscraping.ipynb" TargetMode="External"/><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github.com/vanessapenda/Spacex-Capstone/blob/main/labs-jupyter-spacex-data-wrangling.ipynb" TargetMode="External"/><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github.com/vanessapenda/Spacex-Capstone/blob/main/edadataviz.ipynb" TargetMode="External"/><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github.com/vanessapenda/Spacex-Capstone/blob/main/jupyter-labs-eda-sql-coursera_sqllite.ipynb" TargetMode="External"/><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4" Type="http://schemas.openxmlformats.org/officeDocument/2006/relationships/hyperlink" Target="https://github.com/vanessapenda/Spacex-Capstone/blob/main/lab_jupyter_launch_site_location.ipynb" TargetMode="External"/><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5" Type="http://schemas.openxmlformats.org/officeDocument/2006/relationships/slideLayout" Target="../slideLayouts/slideLayout4.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hyperlink" Target="https://github.com/vanessapenda/Spacex-Capstone/blob/main/spacex-dash-app.py" TargetMode="External"/><Relationship Id="rId1" Type="http://schemas.openxmlformats.org/officeDocument/2006/relationships/image" Target="../media/image-13-1.png"/><Relationship Id="rId3" Type="http://schemas.openxmlformats.org/officeDocument/2006/relationships/slideLayout" Target="../slideLayouts/slideLayout4.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github.com/vanessapenda/Spacex-Capstone/blob/main/SpaceX_Machine_Learning_Prediction_Part_5.ipynb" TargetMode="External"/><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4.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4.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4.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4.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4.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4.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4.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4.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5" Type="http://schemas.openxmlformats.org/officeDocument/2006/relationships/hyperlink" Target="https://github.com/vanessapenda/Spacex-Capstone/blob/main/SpaceX_Machine_Learning_Prediction_Part_5.ipynb" TargetMode="External"/><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image" Target="../media/image-47-4.png"/><Relationship Id="rId6" Type="http://schemas.openxmlformats.org/officeDocument/2006/relationships/slideLayout" Target="../slideLayouts/slideLayout4.xml"/><Relationship Id="rId7"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10698480" cy="1737360"/>
          </a:xfrm>
          <a:prstGeom prst="rect">
            <a:avLst/>
          </a:prstGeom>
          <a:noFill/>
          <a:ln/>
        </p:spPr>
        <p:txBody>
          <a:bodyPr wrap="square" rtlCol="0" anchor="b"/>
          <a:lstStyle/>
          <a:p>
            <a:pPr algn="l" indent="0" marL="0">
              <a:buNone/>
            </a:pPr>
            <a:r>
              <a:rPr lang="en-US" sz="4000" b="1" dirty="0">
                <a:solidFill>
                  <a:srgbClr val="FFFFFF"/>
                </a:solidFill>
                <a:latin typeface="Arial" pitchFamily="34" charset="0"/>
                <a:ea typeface="Arial" pitchFamily="34" charset="-122"/>
                <a:cs typeface="Arial" pitchFamily="34" charset="-120"/>
              </a:rPr>
              <a:t>Prédire l'atterrissage du premier étage du Falcon 9</a:t>
            </a:r>
            <a:endParaRPr lang="en-US" sz="4000" dirty="0"/>
          </a:p>
        </p:txBody>
      </p:sp>
      <p:sp>
        <p:nvSpPr>
          <p:cNvPr id="3" name="Text 0"/>
          <p:cNvSpPr/>
          <p:nvPr>
            <p:ph idx="101" type="body" hasCustomPrompt="1"/>
          </p:nvPr>
        </p:nvSpPr>
        <p:spPr>
          <a:xfrm>
            <a:off x="731520" y="3657600"/>
            <a:ext cx="10698480" cy="2011680"/>
          </a:xfrm>
          <a:prstGeom prst="rect">
            <a:avLst/>
          </a:prstGeom>
          <a:noFill/>
          <a:ln/>
        </p:spPr>
        <p:txBody>
          <a:bodyPr wrap="square" rtlCol="0" anchor="t"/>
          <a:lstStyle/>
          <a:p>
            <a:pPr algn="l" indent="0" marL="0">
              <a:buNone/>
            </a:pPr>
            <a:r>
              <a:rPr lang="en-US" sz="1800" dirty="0">
                <a:solidFill>
                  <a:srgbClr val="CADCFC"/>
                </a:solidFill>
              </a:rPr>
              <a:t>Projet Capstone — IBM Data Science Professional Certificate</a:t>
            </a:r>
            <a:endParaRPr lang="en-US" sz="1800" dirty="0"/>
          </a:p>
          <a:p>
            <a:pPr algn="l" indent="0" marL="0">
              <a:buNone/>
            </a:pPr>
            <a:r>
              <a:rPr lang="en-US" sz="1800" b="1" dirty="0">
                <a:solidFill>
                  <a:srgbClr val="FFFFFF"/>
                </a:solidFill>
              </a:rPr>
              <a:t>Penda Vanessa</a:t>
            </a:r>
            <a:endParaRPr lang="en-US" sz="1800" dirty="0"/>
          </a:p>
          <a:p>
            <a:pPr algn="l" indent="0" marL="0">
              <a:buNone/>
            </a:pPr>
            <a:r>
              <a:rPr lang="en-US" sz="1800" dirty="0">
                <a:solidFill>
                  <a:srgbClr val="CADCFC"/>
                </a:solidFill>
              </a:rPr>
              <a:t>19 octobre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rgbClr val="0B1D3A"/>
                </a:solidFill>
                <a:latin typeface="Arial" pitchFamily="34" charset="0"/>
                <a:ea typeface="Arial" pitchFamily="34" charset="-122"/>
                <a:cs typeface="Arial" pitchFamily="34" charset="-120"/>
              </a:rPr>
              <a:t>Plan</a:t>
            </a:r>
            <a:endParaRPr lang="en-US" sz="3000" dirty="0"/>
          </a:p>
        </p:txBody>
      </p:sp>
      <p:sp>
        <p:nvSpPr>
          <p:cNvPr id="3" name="Shape 1"/>
          <p:cNvSpPr/>
          <p:nvPr/>
        </p:nvSpPr>
        <p:spPr>
          <a:xfrm>
            <a:off x="548640" y="1463040"/>
            <a:ext cx="3474720" cy="1920240"/>
          </a:xfrm>
          <a:prstGeom prst="roundRect">
            <a:avLst>
              <a:gd name="adj" fmla="val 3810"/>
            </a:avLst>
          </a:prstGeom>
          <a:solidFill>
            <a:srgbClr val="EEF2F7"/>
          </a:solidFill>
          <a:ln w="12700">
            <a:solidFill>
              <a:srgbClr val="EEF2F7"/>
            </a:solidFill>
            <a:prstDash val="solid"/>
          </a:ln>
        </p:spPr>
      </p:sp>
      <p:sp>
        <p:nvSpPr>
          <p:cNvPr id="4" name="Shape 2"/>
          <p:cNvSpPr/>
          <p:nvPr/>
        </p:nvSpPr>
        <p:spPr>
          <a:xfrm>
            <a:off x="822960" y="1737360"/>
            <a:ext cx="502920" cy="502920"/>
          </a:xfrm>
          <a:prstGeom prst="ellipse">
            <a:avLst/>
          </a:prstGeom>
          <a:solidFill>
            <a:srgbClr val="E8590C"/>
          </a:solidFill>
          <a:ln w="12700">
            <a:solidFill>
              <a:srgbClr val="E8590C"/>
            </a:solidFill>
            <a:prstDash val="solid"/>
          </a:ln>
        </p:spPr>
      </p:sp>
      <p:sp>
        <p:nvSpPr>
          <p:cNvPr id="5" name="Text 3"/>
          <p:cNvSpPr txBox="1"/>
          <p:nvPr/>
        </p:nvSpPr>
        <p:spPr>
          <a:xfrm>
            <a:off x="822960" y="173736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6" name="Text 4"/>
          <p:cNvSpPr txBox="1"/>
          <p:nvPr/>
        </p:nvSpPr>
        <p:spPr>
          <a:xfrm>
            <a:off x="822960" y="2377440"/>
            <a:ext cx="3017520" cy="457200"/>
          </a:xfrm>
          <a:prstGeom prst="rect">
            <a:avLst/>
          </a:prstGeom>
          <a:noFill/>
          <a:ln/>
        </p:spPr>
        <p:txBody>
          <a:bodyPr wrap="square" lIns="0" tIns="0" rIns="0" bIns="0" rtlCol="0" anchor="ctr"/>
          <a:lstStyle/>
          <a:p>
            <a:pPr indent="0" marL="0">
              <a:buNone/>
            </a:pPr>
            <a:r>
              <a:rPr lang="en-US" sz="2000" b="1" dirty="0">
                <a:solidFill>
                  <a:srgbClr val="0B1D3A"/>
                </a:solidFill>
                <a:latin typeface="Arial" pitchFamily="34" charset="0"/>
                <a:ea typeface="Arial" pitchFamily="34" charset="-122"/>
                <a:cs typeface="Arial" pitchFamily="34" charset="-120"/>
              </a:rPr>
              <a:t>Résumé exécutif</a:t>
            </a:r>
            <a:endParaRPr lang="en-US" sz="2000" dirty="0"/>
          </a:p>
        </p:txBody>
      </p:sp>
      <p:sp>
        <p:nvSpPr>
          <p:cNvPr id="7" name="Text 5"/>
          <p:cNvSpPr txBox="1"/>
          <p:nvPr/>
        </p:nvSpPr>
        <p:spPr>
          <a:xfrm>
            <a:off x="822960" y="2834640"/>
            <a:ext cx="3017520" cy="411480"/>
          </a:xfrm>
          <a:prstGeom prst="rect">
            <a:avLst/>
          </a:prstGeom>
          <a:noFill/>
          <a:ln/>
        </p:spPr>
        <p:txBody>
          <a:bodyPr wrap="square" lIns="0" tIns="0" rIns="0" bIns="0" rtlCol="0" anchor="ctr"/>
          <a:lstStyle/>
          <a:p>
            <a:pPr indent="0" marL="0">
              <a:buNone/>
            </a:pPr>
            <a:r>
              <a:rPr lang="en-US" sz="1400" dirty="0">
                <a:solidFill>
                  <a:srgbClr val="5B6472"/>
                </a:solidFill>
              </a:rPr>
              <a:t>Méthodes et résultats clés</a:t>
            </a:r>
            <a:endParaRPr lang="en-US" sz="1400" dirty="0"/>
          </a:p>
        </p:txBody>
      </p:sp>
      <p:sp>
        <p:nvSpPr>
          <p:cNvPr id="8" name="Shape 6"/>
          <p:cNvSpPr/>
          <p:nvPr/>
        </p:nvSpPr>
        <p:spPr>
          <a:xfrm>
            <a:off x="4297680" y="1463040"/>
            <a:ext cx="3474720" cy="1920240"/>
          </a:xfrm>
          <a:prstGeom prst="roundRect">
            <a:avLst>
              <a:gd name="adj" fmla="val 3810"/>
            </a:avLst>
          </a:prstGeom>
          <a:solidFill>
            <a:srgbClr val="EEF2F7"/>
          </a:solidFill>
          <a:ln w="12700">
            <a:solidFill>
              <a:srgbClr val="EEF2F7"/>
            </a:solidFill>
            <a:prstDash val="solid"/>
          </a:ln>
        </p:spPr>
      </p:sp>
      <p:sp>
        <p:nvSpPr>
          <p:cNvPr id="9" name="Shape 7"/>
          <p:cNvSpPr/>
          <p:nvPr/>
        </p:nvSpPr>
        <p:spPr>
          <a:xfrm>
            <a:off x="4572000" y="1737360"/>
            <a:ext cx="502920" cy="502920"/>
          </a:xfrm>
          <a:prstGeom prst="ellipse">
            <a:avLst/>
          </a:prstGeom>
          <a:solidFill>
            <a:srgbClr val="E8590C"/>
          </a:solidFill>
          <a:ln w="12700">
            <a:solidFill>
              <a:srgbClr val="E8590C"/>
            </a:solidFill>
            <a:prstDash val="solid"/>
          </a:ln>
        </p:spPr>
      </p:sp>
      <p:sp>
        <p:nvSpPr>
          <p:cNvPr id="10" name="Text 8"/>
          <p:cNvSpPr txBox="1"/>
          <p:nvPr/>
        </p:nvSpPr>
        <p:spPr>
          <a:xfrm>
            <a:off x="4572000" y="173736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txBox="1"/>
          <p:nvPr/>
        </p:nvSpPr>
        <p:spPr>
          <a:xfrm>
            <a:off x="4572000" y="2377440"/>
            <a:ext cx="3017520" cy="457200"/>
          </a:xfrm>
          <a:prstGeom prst="rect">
            <a:avLst/>
          </a:prstGeom>
          <a:noFill/>
          <a:ln/>
        </p:spPr>
        <p:txBody>
          <a:bodyPr wrap="square" lIns="0" tIns="0" rIns="0" bIns="0" rtlCol="0" anchor="ctr"/>
          <a:lstStyle/>
          <a:p>
            <a:pPr indent="0" marL="0">
              <a:buNone/>
            </a:pPr>
            <a:r>
              <a:rPr lang="en-US" sz="2000" b="1" dirty="0">
                <a:solidFill>
                  <a:srgbClr val="0B1D3A"/>
                </a:solidFill>
                <a:latin typeface="Arial" pitchFamily="34" charset="0"/>
                <a:ea typeface="Arial" pitchFamily="34" charset="-122"/>
                <a:cs typeface="Arial" pitchFamily="34" charset="-120"/>
              </a:rPr>
              <a:t>Introduction</a:t>
            </a:r>
            <a:endParaRPr lang="en-US" sz="2000" dirty="0"/>
          </a:p>
        </p:txBody>
      </p:sp>
      <p:sp>
        <p:nvSpPr>
          <p:cNvPr id="12" name="Text 10"/>
          <p:cNvSpPr txBox="1"/>
          <p:nvPr/>
        </p:nvSpPr>
        <p:spPr>
          <a:xfrm>
            <a:off x="4572000" y="2834640"/>
            <a:ext cx="3017520" cy="411480"/>
          </a:xfrm>
          <a:prstGeom prst="rect">
            <a:avLst/>
          </a:prstGeom>
          <a:noFill/>
          <a:ln/>
        </p:spPr>
        <p:txBody>
          <a:bodyPr wrap="square" lIns="0" tIns="0" rIns="0" bIns="0" rtlCol="0" anchor="ctr"/>
          <a:lstStyle/>
          <a:p>
            <a:pPr indent="0" marL="0">
              <a:buNone/>
            </a:pPr>
            <a:r>
              <a:rPr lang="en-US" sz="1400" dirty="0">
                <a:solidFill>
                  <a:srgbClr val="5B6472"/>
                </a:solidFill>
              </a:rPr>
              <a:t>Contexte et questions</a:t>
            </a:r>
            <a:endParaRPr lang="en-US" sz="1400" dirty="0"/>
          </a:p>
        </p:txBody>
      </p:sp>
      <p:sp>
        <p:nvSpPr>
          <p:cNvPr id="13" name="Shape 11"/>
          <p:cNvSpPr/>
          <p:nvPr/>
        </p:nvSpPr>
        <p:spPr>
          <a:xfrm>
            <a:off x="8046720" y="1463040"/>
            <a:ext cx="3474720" cy="1920240"/>
          </a:xfrm>
          <a:prstGeom prst="roundRect">
            <a:avLst>
              <a:gd name="adj" fmla="val 3810"/>
            </a:avLst>
          </a:prstGeom>
          <a:solidFill>
            <a:srgbClr val="EEF2F7"/>
          </a:solidFill>
          <a:ln w="12700">
            <a:solidFill>
              <a:srgbClr val="EEF2F7"/>
            </a:solidFill>
            <a:prstDash val="solid"/>
          </a:ln>
        </p:spPr>
      </p:sp>
      <p:sp>
        <p:nvSpPr>
          <p:cNvPr id="14" name="Shape 12"/>
          <p:cNvSpPr/>
          <p:nvPr/>
        </p:nvSpPr>
        <p:spPr>
          <a:xfrm>
            <a:off x="8321040" y="1737360"/>
            <a:ext cx="502920" cy="502920"/>
          </a:xfrm>
          <a:prstGeom prst="ellipse">
            <a:avLst/>
          </a:prstGeom>
          <a:solidFill>
            <a:srgbClr val="E8590C"/>
          </a:solidFill>
          <a:ln w="12700">
            <a:solidFill>
              <a:srgbClr val="E8590C"/>
            </a:solidFill>
            <a:prstDash val="solid"/>
          </a:ln>
        </p:spPr>
      </p:sp>
      <p:sp>
        <p:nvSpPr>
          <p:cNvPr id="15" name="Text 13"/>
          <p:cNvSpPr txBox="1"/>
          <p:nvPr/>
        </p:nvSpPr>
        <p:spPr>
          <a:xfrm>
            <a:off x="8321040" y="173736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6" name="Text 14"/>
          <p:cNvSpPr txBox="1"/>
          <p:nvPr/>
        </p:nvSpPr>
        <p:spPr>
          <a:xfrm>
            <a:off x="8321040" y="2377440"/>
            <a:ext cx="3017520" cy="457200"/>
          </a:xfrm>
          <a:prstGeom prst="rect">
            <a:avLst/>
          </a:prstGeom>
          <a:noFill/>
          <a:ln/>
        </p:spPr>
        <p:txBody>
          <a:bodyPr wrap="square" lIns="0" tIns="0" rIns="0" bIns="0" rtlCol="0" anchor="ctr"/>
          <a:lstStyle/>
          <a:p>
            <a:pPr indent="0" marL="0">
              <a:buNone/>
            </a:pPr>
            <a:r>
              <a:rPr lang="en-US" sz="2000" b="1" dirty="0">
                <a:solidFill>
                  <a:srgbClr val="0B1D3A"/>
                </a:solidFill>
                <a:latin typeface="Arial" pitchFamily="34" charset="0"/>
                <a:ea typeface="Arial" pitchFamily="34" charset="-122"/>
                <a:cs typeface="Arial" pitchFamily="34" charset="-120"/>
              </a:rPr>
              <a:t>Méthodologie</a:t>
            </a:r>
            <a:endParaRPr lang="en-US" sz="2000" dirty="0"/>
          </a:p>
        </p:txBody>
      </p:sp>
      <p:sp>
        <p:nvSpPr>
          <p:cNvPr id="17" name="Text 15"/>
          <p:cNvSpPr txBox="1"/>
          <p:nvPr/>
        </p:nvSpPr>
        <p:spPr>
          <a:xfrm>
            <a:off x="8321040" y="2834640"/>
            <a:ext cx="3017520" cy="411480"/>
          </a:xfrm>
          <a:prstGeom prst="rect">
            <a:avLst/>
          </a:prstGeom>
          <a:noFill/>
          <a:ln/>
        </p:spPr>
        <p:txBody>
          <a:bodyPr wrap="square" lIns="0" tIns="0" rIns="0" bIns="0" rtlCol="0" anchor="ctr"/>
          <a:lstStyle/>
          <a:p>
            <a:pPr indent="0" marL="0">
              <a:buNone/>
            </a:pPr>
            <a:r>
              <a:rPr lang="en-US" sz="1400" dirty="0">
                <a:solidFill>
                  <a:srgbClr val="5B6472"/>
                </a:solidFill>
              </a:rPr>
              <a:t>Collecte, préparation, EDA, ML</a:t>
            </a:r>
            <a:endParaRPr lang="en-US" sz="1400" dirty="0"/>
          </a:p>
        </p:txBody>
      </p:sp>
      <p:sp>
        <p:nvSpPr>
          <p:cNvPr id="18" name="Shape 16"/>
          <p:cNvSpPr/>
          <p:nvPr/>
        </p:nvSpPr>
        <p:spPr>
          <a:xfrm>
            <a:off x="548640" y="3703320"/>
            <a:ext cx="3474720" cy="1920240"/>
          </a:xfrm>
          <a:prstGeom prst="roundRect">
            <a:avLst>
              <a:gd name="adj" fmla="val 3810"/>
            </a:avLst>
          </a:prstGeom>
          <a:solidFill>
            <a:srgbClr val="EEF2F7"/>
          </a:solidFill>
          <a:ln w="12700">
            <a:solidFill>
              <a:srgbClr val="EEF2F7"/>
            </a:solidFill>
            <a:prstDash val="solid"/>
          </a:ln>
        </p:spPr>
      </p:sp>
      <p:sp>
        <p:nvSpPr>
          <p:cNvPr id="19" name="Shape 17"/>
          <p:cNvSpPr/>
          <p:nvPr/>
        </p:nvSpPr>
        <p:spPr>
          <a:xfrm>
            <a:off x="822960" y="3977640"/>
            <a:ext cx="502920" cy="502920"/>
          </a:xfrm>
          <a:prstGeom prst="ellipse">
            <a:avLst/>
          </a:prstGeom>
          <a:solidFill>
            <a:srgbClr val="E8590C"/>
          </a:solidFill>
          <a:ln w="12700">
            <a:solidFill>
              <a:srgbClr val="E8590C"/>
            </a:solidFill>
            <a:prstDash val="solid"/>
          </a:ln>
        </p:spPr>
      </p:sp>
      <p:sp>
        <p:nvSpPr>
          <p:cNvPr id="20" name="Text 18"/>
          <p:cNvSpPr txBox="1"/>
          <p:nvPr/>
        </p:nvSpPr>
        <p:spPr>
          <a:xfrm>
            <a:off x="822960" y="397764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1" name="Text 19"/>
          <p:cNvSpPr txBox="1"/>
          <p:nvPr/>
        </p:nvSpPr>
        <p:spPr>
          <a:xfrm>
            <a:off x="822960" y="4617720"/>
            <a:ext cx="3017520" cy="457200"/>
          </a:xfrm>
          <a:prstGeom prst="rect">
            <a:avLst/>
          </a:prstGeom>
          <a:noFill/>
          <a:ln/>
        </p:spPr>
        <p:txBody>
          <a:bodyPr wrap="square" lIns="0" tIns="0" rIns="0" bIns="0" rtlCol="0" anchor="ctr"/>
          <a:lstStyle/>
          <a:p>
            <a:pPr indent="0" marL="0">
              <a:buNone/>
            </a:pPr>
            <a:r>
              <a:rPr lang="en-US" sz="2000" b="1" dirty="0">
                <a:solidFill>
                  <a:srgbClr val="0B1D3A"/>
                </a:solidFill>
                <a:latin typeface="Arial" pitchFamily="34" charset="0"/>
                <a:ea typeface="Arial" pitchFamily="34" charset="-122"/>
                <a:cs typeface="Arial" pitchFamily="34" charset="-120"/>
              </a:rPr>
              <a:t>Résultats</a:t>
            </a:r>
            <a:endParaRPr lang="en-US" sz="2000" dirty="0"/>
          </a:p>
        </p:txBody>
      </p:sp>
      <p:sp>
        <p:nvSpPr>
          <p:cNvPr id="22" name="Text 20"/>
          <p:cNvSpPr txBox="1"/>
          <p:nvPr/>
        </p:nvSpPr>
        <p:spPr>
          <a:xfrm>
            <a:off x="822960" y="5074920"/>
            <a:ext cx="3017520" cy="411480"/>
          </a:xfrm>
          <a:prstGeom prst="rect">
            <a:avLst/>
          </a:prstGeom>
          <a:noFill/>
          <a:ln/>
        </p:spPr>
        <p:txBody>
          <a:bodyPr wrap="square" lIns="0" tIns="0" rIns="0" bIns="0" rtlCol="0" anchor="ctr"/>
          <a:lstStyle/>
          <a:p>
            <a:pPr indent="0" marL="0">
              <a:buNone/>
            </a:pPr>
            <a:r>
              <a:rPr lang="en-US" sz="1400" dirty="0">
                <a:solidFill>
                  <a:srgbClr val="5B6472"/>
                </a:solidFill>
              </a:rPr>
              <a:t>EDA, cartes, dashboard, modèles</a:t>
            </a:r>
            <a:endParaRPr lang="en-US" sz="1400" dirty="0"/>
          </a:p>
        </p:txBody>
      </p:sp>
      <p:sp>
        <p:nvSpPr>
          <p:cNvPr id="23" name="Shape 21"/>
          <p:cNvSpPr/>
          <p:nvPr/>
        </p:nvSpPr>
        <p:spPr>
          <a:xfrm>
            <a:off x="4297680" y="3703320"/>
            <a:ext cx="3474720" cy="1920240"/>
          </a:xfrm>
          <a:prstGeom prst="roundRect">
            <a:avLst>
              <a:gd name="adj" fmla="val 3810"/>
            </a:avLst>
          </a:prstGeom>
          <a:solidFill>
            <a:srgbClr val="EEF2F7"/>
          </a:solidFill>
          <a:ln w="12700">
            <a:solidFill>
              <a:srgbClr val="EEF2F7"/>
            </a:solidFill>
            <a:prstDash val="solid"/>
          </a:ln>
        </p:spPr>
      </p:sp>
      <p:sp>
        <p:nvSpPr>
          <p:cNvPr id="24" name="Shape 22"/>
          <p:cNvSpPr/>
          <p:nvPr/>
        </p:nvSpPr>
        <p:spPr>
          <a:xfrm>
            <a:off x="4572000" y="3977640"/>
            <a:ext cx="502920" cy="502920"/>
          </a:xfrm>
          <a:prstGeom prst="ellipse">
            <a:avLst/>
          </a:prstGeom>
          <a:solidFill>
            <a:srgbClr val="E8590C"/>
          </a:solidFill>
          <a:ln w="12700">
            <a:solidFill>
              <a:srgbClr val="E8590C"/>
            </a:solidFill>
            <a:prstDash val="solid"/>
          </a:ln>
        </p:spPr>
      </p:sp>
      <p:sp>
        <p:nvSpPr>
          <p:cNvPr id="25" name="Text 23"/>
          <p:cNvSpPr txBox="1"/>
          <p:nvPr/>
        </p:nvSpPr>
        <p:spPr>
          <a:xfrm>
            <a:off x="4572000" y="397764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4572000" y="4617720"/>
            <a:ext cx="3017520" cy="457200"/>
          </a:xfrm>
          <a:prstGeom prst="rect">
            <a:avLst/>
          </a:prstGeom>
          <a:noFill/>
          <a:ln/>
        </p:spPr>
        <p:txBody>
          <a:bodyPr wrap="square" lIns="0" tIns="0" rIns="0" bIns="0" rtlCol="0" anchor="ctr"/>
          <a:lstStyle/>
          <a:p>
            <a:pPr indent="0" marL="0">
              <a:buNone/>
            </a:pPr>
            <a:r>
              <a:rPr lang="en-US" sz="2000" b="1" dirty="0">
                <a:solidFill>
                  <a:srgbClr val="0B1D3A"/>
                </a:solidFill>
                <a:latin typeface="Arial" pitchFamily="34" charset="0"/>
                <a:ea typeface="Arial" pitchFamily="34" charset="-122"/>
                <a:cs typeface="Arial" pitchFamily="34" charset="-120"/>
              </a:rPr>
              <a:t>Conclusion</a:t>
            </a:r>
            <a:endParaRPr lang="en-US" sz="2000" dirty="0"/>
          </a:p>
        </p:txBody>
      </p:sp>
      <p:sp>
        <p:nvSpPr>
          <p:cNvPr id="27" name="Text 25"/>
          <p:cNvSpPr txBox="1"/>
          <p:nvPr/>
        </p:nvSpPr>
        <p:spPr>
          <a:xfrm>
            <a:off x="4572000" y="5074920"/>
            <a:ext cx="3017520" cy="411480"/>
          </a:xfrm>
          <a:prstGeom prst="rect">
            <a:avLst/>
          </a:prstGeom>
          <a:noFill/>
          <a:ln/>
        </p:spPr>
        <p:txBody>
          <a:bodyPr wrap="square" lIns="0" tIns="0" rIns="0" bIns="0" rtlCol="0" anchor="ctr"/>
          <a:lstStyle/>
          <a:p>
            <a:pPr indent="0" marL="0">
              <a:buNone/>
            </a:pPr>
            <a:r>
              <a:rPr lang="en-US" sz="1400" dirty="0">
                <a:solidFill>
                  <a:srgbClr val="5B6472"/>
                </a:solidFill>
              </a:rPr>
              <a:t>Enseignements et idées</a:t>
            </a:r>
            <a:endParaRPr lang="en-US" sz="1400" dirty="0"/>
          </a:p>
        </p:txBody>
      </p:sp>
      <p:sp>
        <p:nvSpPr>
          <p:cNvPr id="28" name="Shape 26"/>
          <p:cNvSpPr/>
          <p:nvPr/>
        </p:nvSpPr>
        <p:spPr>
          <a:xfrm>
            <a:off x="8046720" y="3703320"/>
            <a:ext cx="3474720" cy="1920240"/>
          </a:xfrm>
          <a:prstGeom prst="roundRect">
            <a:avLst>
              <a:gd name="adj" fmla="val 3810"/>
            </a:avLst>
          </a:prstGeom>
          <a:solidFill>
            <a:srgbClr val="EEF2F7"/>
          </a:solidFill>
          <a:ln w="12700">
            <a:solidFill>
              <a:srgbClr val="EEF2F7"/>
            </a:solidFill>
            <a:prstDash val="solid"/>
          </a:ln>
        </p:spPr>
      </p:sp>
      <p:sp>
        <p:nvSpPr>
          <p:cNvPr id="29" name="Shape 27"/>
          <p:cNvSpPr/>
          <p:nvPr/>
        </p:nvSpPr>
        <p:spPr>
          <a:xfrm>
            <a:off x="8321040" y="3977640"/>
            <a:ext cx="502920" cy="502920"/>
          </a:xfrm>
          <a:prstGeom prst="ellipse">
            <a:avLst/>
          </a:prstGeom>
          <a:solidFill>
            <a:srgbClr val="E8590C"/>
          </a:solidFill>
          <a:ln w="12700">
            <a:solidFill>
              <a:srgbClr val="E8590C"/>
            </a:solidFill>
            <a:prstDash val="solid"/>
          </a:ln>
        </p:spPr>
      </p:sp>
      <p:sp>
        <p:nvSpPr>
          <p:cNvPr id="30" name="Text 28"/>
          <p:cNvSpPr txBox="1"/>
          <p:nvPr/>
        </p:nvSpPr>
        <p:spPr>
          <a:xfrm>
            <a:off x="8321040" y="397764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31" name="Text 29"/>
          <p:cNvSpPr txBox="1"/>
          <p:nvPr/>
        </p:nvSpPr>
        <p:spPr>
          <a:xfrm>
            <a:off x="8321040" y="4617720"/>
            <a:ext cx="3017520" cy="457200"/>
          </a:xfrm>
          <a:prstGeom prst="rect">
            <a:avLst/>
          </a:prstGeom>
          <a:noFill/>
          <a:ln/>
        </p:spPr>
        <p:txBody>
          <a:bodyPr wrap="square" lIns="0" tIns="0" rIns="0" bIns="0" rtlCol="0" anchor="ctr"/>
          <a:lstStyle/>
          <a:p>
            <a:pPr indent="0" marL="0">
              <a:buNone/>
            </a:pPr>
            <a:r>
              <a:rPr lang="en-US" sz="2000" b="1" dirty="0">
                <a:solidFill>
                  <a:srgbClr val="0B1D3A"/>
                </a:solidFill>
                <a:latin typeface="Arial" pitchFamily="34" charset="0"/>
                <a:ea typeface="Arial" pitchFamily="34" charset="-122"/>
                <a:cs typeface="Arial" pitchFamily="34" charset="-120"/>
              </a:rPr>
              <a:t>Annexe</a:t>
            </a:r>
            <a:endParaRPr lang="en-US" sz="2000" dirty="0"/>
          </a:p>
        </p:txBody>
      </p:sp>
      <p:sp>
        <p:nvSpPr>
          <p:cNvPr id="32" name="Text 30"/>
          <p:cNvSpPr txBox="1"/>
          <p:nvPr/>
        </p:nvSpPr>
        <p:spPr>
          <a:xfrm>
            <a:off x="8321040" y="5074920"/>
            <a:ext cx="3017520" cy="411480"/>
          </a:xfrm>
          <a:prstGeom prst="rect">
            <a:avLst/>
          </a:prstGeom>
          <a:noFill/>
          <a:ln/>
        </p:spPr>
        <p:txBody>
          <a:bodyPr wrap="square" lIns="0" tIns="0" rIns="0" bIns="0" rtlCol="0" anchor="ctr"/>
          <a:lstStyle/>
          <a:p>
            <a:pPr indent="0" marL="0">
              <a:buNone/>
            </a:pPr>
            <a:r>
              <a:rPr lang="en-US" sz="1400" dirty="0">
                <a:solidFill>
                  <a:srgbClr val="5B6472"/>
                </a:solidFill>
              </a:rPr>
              <a:t>Graphiques complémentaires</a:t>
            </a:r>
            <a:endParaRPr lang="en-US" sz="14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rgbClr val="0B1D3A"/>
                </a:solidFill>
                <a:latin typeface="Arial" pitchFamily="34" charset="0"/>
                <a:ea typeface="Arial" pitchFamily="34" charset="-122"/>
                <a:cs typeface="Arial" pitchFamily="34" charset="-120"/>
              </a:rPr>
              <a:t>Résumé exécutif</a:t>
            </a:r>
            <a:endParaRPr lang="en-US" sz="3000" dirty="0"/>
          </a:p>
        </p:txBody>
      </p:sp>
      <p:sp>
        <p:nvSpPr>
          <p:cNvPr id="3" name="Text 1"/>
          <p:cNvSpPr txBox="1"/>
          <p:nvPr/>
        </p:nvSpPr>
        <p:spPr>
          <a:xfrm>
            <a:off x="548640" y="1234440"/>
            <a:ext cx="6035040" cy="411480"/>
          </a:xfrm>
          <a:prstGeom prst="rect">
            <a:avLst/>
          </a:prstGeom>
          <a:noFill/>
          <a:ln/>
        </p:spPr>
        <p:txBody>
          <a:bodyPr wrap="square" lIns="0" tIns="0" rIns="0" bIns="0" rtlCol="0" anchor="ctr"/>
          <a:lstStyle/>
          <a:p>
            <a:pPr indent="0" marL="0">
              <a:buNone/>
            </a:pPr>
            <a:r>
              <a:rPr lang="en-US" sz="1800" b="1" dirty="0">
                <a:solidFill>
                  <a:srgbClr val="0B1D3A"/>
                </a:solidFill>
                <a:latin typeface="Arial" pitchFamily="34" charset="0"/>
                <a:ea typeface="Arial" pitchFamily="34" charset="-122"/>
                <a:cs typeface="Arial" pitchFamily="34" charset="-120"/>
              </a:rPr>
              <a:t>Méthodes utilisées</a:t>
            </a:r>
            <a:endParaRPr lang="en-US" sz="1800" dirty="0"/>
          </a:p>
        </p:txBody>
      </p:sp>
      <p:sp>
        <p:nvSpPr>
          <p:cNvPr id="4" name="Text 2"/>
          <p:cNvSpPr txBox="1"/>
          <p:nvPr/>
        </p:nvSpPr>
        <p:spPr>
          <a:xfrm>
            <a:off x="548640" y="1691640"/>
            <a:ext cx="6035040" cy="4114800"/>
          </a:xfrm>
          <a:prstGeom prst="rect">
            <a:avLst/>
          </a:prstGeom>
          <a:noFill/>
          <a:ln/>
        </p:spPr>
        <p:txBody>
          <a:bodyPr wrap="square" lIns="50800" tIns="50800" rIns="50800" bIns="50800" rtlCol="0" anchor="t"/>
          <a:lstStyle/>
          <a:p>
            <a:pPr marL="228600" indent="-228600">
              <a:spcAft>
                <a:spcPts val="1000"/>
              </a:spcAft>
              <a:buSzPct val="100000"/>
              <a:buChar char="•"/>
            </a:pPr>
            <a:r>
              <a:rPr lang="en-US" sz="1600" b="1" dirty="0">
                <a:solidFill>
                  <a:srgbClr val="1F2937"/>
                </a:solidFill>
                <a:latin typeface="Calibri" pitchFamily="34" charset="0"/>
                <a:ea typeface="Calibri" pitchFamily="34" charset="-122"/>
                <a:cs typeface="Calibri" pitchFamily="34" charset="-120"/>
              </a:rPr>
              <a:t>Collecte : </a:t>
            </a:r>
            <a:pPr indent="0" marL="0">
              <a:buNone/>
            </a:pPr>
            <a:r>
              <a:rPr lang="en-US" sz="1600" dirty="0">
                <a:solidFill>
                  <a:srgbClr val="1F2937"/>
                </a:solidFill>
                <a:latin typeface="Calibri" pitchFamily="34" charset="0"/>
                <a:ea typeface="Calibri" pitchFamily="34" charset="-122"/>
                <a:cs typeface="Calibri" pitchFamily="34" charset="-120"/>
              </a:rPr>
              <a:t>API REST SpaceX et web scraping de Wikipedia</a:t>
            </a:r>
            <a:endParaRPr lang="en-US" sz="1600" dirty="0"/>
          </a:p>
          <a:p>
            <a:pPr marL="228600" indent="-228600">
              <a:spcAft>
                <a:spcPts val="1000"/>
              </a:spcAft>
              <a:buSzPct val="100000"/>
              <a:buChar char="•"/>
            </a:pPr>
            <a:r>
              <a:rPr lang="en-US" sz="1600" b="1" dirty="0">
                <a:solidFill>
                  <a:srgbClr val="1F2937"/>
                </a:solidFill>
                <a:latin typeface="Calibri" pitchFamily="34" charset="0"/>
                <a:ea typeface="Calibri" pitchFamily="34" charset="-122"/>
                <a:cs typeface="Calibri" pitchFamily="34" charset="-120"/>
              </a:rPr>
              <a:t>Préparation : </a:t>
            </a:r>
            <a:pPr indent="0" marL="0">
              <a:buNone/>
            </a:pPr>
            <a:r>
              <a:rPr lang="en-US" sz="1600" dirty="0">
                <a:solidFill>
                  <a:srgbClr val="1F2937"/>
                </a:solidFill>
                <a:latin typeface="Calibri" pitchFamily="34" charset="0"/>
                <a:ea typeface="Calibri" pitchFamily="34" charset="-122"/>
                <a:cs typeface="Calibri" pitchFamily="34" charset="-120"/>
              </a:rPr>
              <a:t>filtrage Falcon 9, valeurs manquantes, création de la cible Class</a:t>
            </a:r>
            <a:endParaRPr lang="en-US" sz="1600" dirty="0"/>
          </a:p>
          <a:p>
            <a:pPr marL="228600" indent="-228600">
              <a:spcAft>
                <a:spcPts val="1000"/>
              </a:spcAft>
              <a:buSzPct val="100000"/>
              <a:buChar char="•"/>
            </a:pPr>
            <a:r>
              <a:rPr lang="en-US" sz="1600" b="1" dirty="0">
                <a:solidFill>
                  <a:srgbClr val="1F2937"/>
                </a:solidFill>
                <a:latin typeface="Calibri" pitchFamily="34" charset="0"/>
                <a:ea typeface="Calibri" pitchFamily="34" charset="-122"/>
                <a:cs typeface="Calibri" pitchFamily="34" charset="-120"/>
              </a:rPr>
              <a:t>EDA : </a:t>
            </a:r>
            <a:pPr indent="0" marL="0">
              <a:buNone/>
            </a:pPr>
            <a:r>
              <a:rPr lang="en-US" sz="1600" dirty="0">
                <a:solidFill>
                  <a:srgbClr val="1F2937"/>
                </a:solidFill>
                <a:latin typeface="Calibri" pitchFamily="34" charset="0"/>
                <a:ea typeface="Calibri" pitchFamily="34" charset="-122"/>
                <a:cs typeface="Calibri" pitchFamily="34" charset="-120"/>
              </a:rPr>
              <a:t>graphiques Matplotlib/Seaborn et requêtes SQL (SQLite)</a:t>
            </a:r>
            <a:endParaRPr lang="en-US" sz="1600" dirty="0"/>
          </a:p>
          <a:p>
            <a:pPr marL="228600" indent="-228600">
              <a:spcAft>
                <a:spcPts val="1000"/>
              </a:spcAft>
              <a:buSzPct val="100000"/>
              <a:buChar char="•"/>
            </a:pPr>
            <a:r>
              <a:rPr lang="en-US" sz="1600" b="1" dirty="0">
                <a:solidFill>
                  <a:srgbClr val="1F2937"/>
                </a:solidFill>
                <a:latin typeface="Calibri" pitchFamily="34" charset="0"/>
                <a:ea typeface="Calibri" pitchFamily="34" charset="-122"/>
                <a:cs typeface="Calibri" pitchFamily="34" charset="-120"/>
              </a:rPr>
              <a:t>Analytique interactive : </a:t>
            </a:r>
            <a:pPr indent="0" marL="0">
              <a:buNone/>
            </a:pPr>
            <a:r>
              <a:rPr lang="en-US" sz="1600" dirty="0">
                <a:solidFill>
                  <a:srgbClr val="1F2937"/>
                </a:solidFill>
                <a:latin typeface="Calibri" pitchFamily="34" charset="0"/>
                <a:ea typeface="Calibri" pitchFamily="34" charset="-122"/>
                <a:cs typeface="Calibri" pitchFamily="34" charset="-120"/>
              </a:rPr>
              <a:t>carte Folium et dashboard Plotly Dash</a:t>
            </a:r>
            <a:endParaRPr lang="en-US" sz="1600" dirty="0"/>
          </a:p>
          <a:p>
            <a:pPr marL="228600" indent="-228600">
              <a:spcAft>
                <a:spcPts val="1000"/>
              </a:spcAft>
              <a:buSzPct val="100000"/>
              <a:buChar char="•"/>
            </a:pPr>
            <a:r>
              <a:rPr lang="en-US" sz="1600" b="1" dirty="0">
                <a:solidFill>
                  <a:srgbClr val="1F2937"/>
                </a:solidFill>
                <a:latin typeface="Calibri" pitchFamily="34" charset="0"/>
                <a:ea typeface="Calibri" pitchFamily="34" charset="-122"/>
                <a:cs typeface="Calibri" pitchFamily="34" charset="-120"/>
              </a:rPr>
              <a:t>Prédiction : </a:t>
            </a:r>
            <a:pPr indent="0" marL="0">
              <a:buNone/>
            </a:pPr>
            <a:r>
              <a:rPr lang="en-US" sz="1600" dirty="0">
                <a:solidFill>
                  <a:srgbClr val="1F2937"/>
                </a:solidFill>
                <a:latin typeface="Calibri" pitchFamily="34" charset="0"/>
                <a:ea typeface="Calibri" pitchFamily="34" charset="-122"/>
                <a:cs typeface="Calibri" pitchFamily="34" charset="-120"/>
              </a:rPr>
              <a:t>régression logistique, SVM, arbre de décision, KNN optimisés par GridSearchCV (cv = 10)</a:t>
            </a:r>
            <a:endParaRPr lang="en-US" sz="1600" dirty="0"/>
          </a:p>
        </p:txBody>
      </p:sp>
      <p:sp>
        <p:nvSpPr>
          <p:cNvPr id="5" name="Text 3"/>
          <p:cNvSpPr txBox="1"/>
          <p:nvPr/>
        </p:nvSpPr>
        <p:spPr>
          <a:xfrm>
            <a:off x="7040880" y="1234440"/>
            <a:ext cx="4572000" cy="411480"/>
          </a:xfrm>
          <a:prstGeom prst="rect">
            <a:avLst/>
          </a:prstGeom>
          <a:noFill/>
          <a:ln/>
        </p:spPr>
        <p:txBody>
          <a:bodyPr wrap="square" lIns="0" tIns="0" rIns="0" bIns="0" rtlCol="0" anchor="ctr"/>
          <a:lstStyle/>
          <a:p>
            <a:pPr indent="0" marL="0">
              <a:buNone/>
            </a:pPr>
            <a:r>
              <a:rPr lang="en-US" sz="1800" b="1" dirty="0">
                <a:solidFill>
                  <a:srgbClr val="0B1D3A"/>
                </a:solidFill>
                <a:latin typeface="Arial" pitchFamily="34" charset="0"/>
                <a:ea typeface="Arial" pitchFamily="34" charset="-122"/>
                <a:cs typeface="Arial" pitchFamily="34" charset="-120"/>
              </a:rPr>
              <a:t>Résultats clés</a:t>
            </a:r>
            <a:endParaRPr lang="en-US" sz="1800" dirty="0"/>
          </a:p>
        </p:txBody>
      </p:sp>
      <p:sp>
        <p:nvSpPr>
          <p:cNvPr id="6" name="Shape 4"/>
          <p:cNvSpPr/>
          <p:nvPr/>
        </p:nvSpPr>
        <p:spPr>
          <a:xfrm>
            <a:off x="7040880" y="1691640"/>
            <a:ext cx="4572000" cy="4069080"/>
          </a:xfrm>
          <a:prstGeom prst="roundRect">
            <a:avLst>
              <a:gd name="adj" fmla="val 1798"/>
            </a:avLst>
          </a:prstGeom>
          <a:solidFill>
            <a:srgbClr val="EEF2F7"/>
          </a:solidFill>
          <a:ln w="12700">
            <a:solidFill>
              <a:srgbClr val="EEF2F7"/>
            </a:solidFill>
            <a:prstDash val="solid"/>
          </a:ln>
        </p:spPr>
      </p:sp>
      <p:sp>
        <p:nvSpPr>
          <p:cNvPr id="7" name="Text 5"/>
          <p:cNvSpPr txBox="1"/>
          <p:nvPr/>
        </p:nvSpPr>
        <p:spPr>
          <a:xfrm>
            <a:off x="7315200" y="1737360"/>
            <a:ext cx="2011680" cy="731520"/>
          </a:xfrm>
          <a:prstGeom prst="rect">
            <a:avLst/>
          </a:prstGeom>
          <a:noFill/>
          <a:ln/>
        </p:spPr>
        <p:txBody>
          <a:bodyPr wrap="square" lIns="0" tIns="0" rIns="0" bIns="0" rtlCol="0" anchor="b"/>
          <a:lstStyle/>
          <a:p>
            <a:pPr indent="0" marL="0">
              <a:buNone/>
            </a:pPr>
            <a:r>
              <a:rPr lang="en-US" sz="3600" b="1" dirty="0">
                <a:solidFill>
                  <a:srgbClr val="E8590C"/>
                </a:solidFill>
                <a:latin typeface="Arial" pitchFamily="34" charset="0"/>
                <a:ea typeface="Arial" pitchFamily="34" charset="-122"/>
                <a:cs typeface="Arial" pitchFamily="34" charset="-120"/>
              </a:rPr>
              <a:t>66,7 %</a:t>
            </a:r>
            <a:endParaRPr lang="en-US" sz="3600" dirty="0"/>
          </a:p>
        </p:txBody>
      </p:sp>
      <p:sp>
        <p:nvSpPr>
          <p:cNvPr id="8" name="Text 6"/>
          <p:cNvSpPr txBox="1"/>
          <p:nvPr/>
        </p:nvSpPr>
        <p:spPr>
          <a:xfrm>
            <a:off x="7315200" y="2487168"/>
            <a:ext cx="2011680" cy="54864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taux d'atterrissage réussi (90 vols)</a:t>
            </a:r>
            <a:endParaRPr lang="en-US" sz="1300" dirty="0"/>
          </a:p>
        </p:txBody>
      </p:sp>
      <p:sp>
        <p:nvSpPr>
          <p:cNvPr id="9" name="Text 7"/>
          <p:cNvSpPr txBox="1"/>
          <p:nvPr/>
        </p:nvSpPr>
        <p:spPr>
          <a:xfrm>
            <a:off x="9418320" y="1737360"/>
            <a:ext cx="2011680" cy="731520"/>
          </a:xfrm>
          <a:prstGeom prst="rect">
            <a:avLst/>
          </a:prstGeom>
          <a:noFill/>
          <a:ln/>
        </p:spPr>
        <p:txBody>
          <a:bodyPr wrap="square" lIns="0" tIns="0" rIns="0" bIns="0" rtlCol="0" anchor="b"/>
          <a:lstStyle/>
          <a:p>
            <a:pPr indent="0" marL="0">
              <a:buNone/>
            </a:pPr>
            <a:r>
              <a:rPr lang="en-US" sz="3600" b="1" dirty="0">
                <a:solidFill>
                  <a:srgbClr val="E8590C"/>
                </a:solidFill>
                <a:latin typeface="Arial" pitchFamily="34" charset="0"/>
                <a:ea typeface="Arial" pitchFamily="34" charset="-122"/>
                <a:cs typeface="Arial" pitchFamily="34" charset="-120"/>
              </a:rPr>
              <a:t>90 %</a:t>
            </a:r>
            <a:endParaRPr lang="en-US" sz="3600" dirty="0"/>
          </a:p>
        </p:txBody>
      </p:sp>
      <p:sp>
        <p:nvSpPr>
          <p:cNvPr id="10" name="Text 8"/>
          <p:cNvSpPr txBox="1"/>
          <p:nvPr/>
        </p:nvSpPr>
        <p:spPr>
          <a:xfrm>
            <a:off x="9418320" y="2487168"/>
            <a:ext cx="2011680" cy="54864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taux de succès en 2019 (0 % avant 2014)</a:t>
            </a:r>
            <a:endParaRPr lang="en-US" sz="1300" dirty="0"/>
          </a:p>
        </p:txBody>
      </p:sp>
      <p:sp>
        <p:nvSpPr>
          <p:cNvPr id="11" name="Text 9"/>
          <p:cNvSpPr txBox="1"/>
          <p:nvPr/>
        </p:nvSpPr>
        <p:spPr>
          <a:xfrm>
            <a:off x="7315200" y="3611880"/>
            <a:ext cx="2011680" cy="731520"/>
          </a:xfrm>
          <a:prstGeom prst="rect">
            <a:avLst/>
          </a:prstGeom>
          <a:noFill/>
          <a:ln/>
        </p:spPr>
        <p:txBody>
          <a:bodyPr wrap="square" lIns="0" tIns="0" rIns="0" bIns="0" rtlCol="0" anchor="b"/>
          <a:lstStyle/>
          <a:p>
            <a:pPr indent="0" marL="0">
              <a:buNone/>
            </a:pPr>
            <a:r>
              <a:rPr lang="en-US" sz="3600" b="1" dirty="0">
                <a:solidFill>
                  <a:srgbClr val="E8590C"/>
                </a:solidFill>
                <a:latin typeface="Arial" pitchFamily="34" charset="0"/>
                <a:ea typeface="Arial" pitchFamily="34" charset="-122"/>
                <a:cs typeface="Arial" pitchFamily="34" charset="-120"/>
              </a:rPr>
              <a:t>76,9 %</a:t>
            </a:r>
            <a:endParaRPr lang="en-US" sz="3600" dirty="0"/>
          </a:p>
        </p:txBody>
      </p:sp>
      <p:sp>
        <p:nvSpPr>
          <p:cNvPr id="12" name="Text 10"/>
          <p:cNvSpPr txBox="1"/>
          <p:nvPr/>
        </p:nvSpPr>
        <p:spPr>
          <a:xfrm>
            <a:off x="7315200" y="4361688"/>
            <a:ext cx="2011680" cy="54864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succès au site KSC LC-39A, le meilleur</a:t>
            </a:r>
            <a:endParaRPr lang="en-US" sz="1300" dirty="0"/>
          </a:p>
        </p:txBody>
      </p:sp>
      <p:sp>
        <p:nvSpPr>
          <p:cNvPr id="13" name="Text 11"/>
          <p:cNvSpPr txBox="1"/>
          <p:nvPr/>
        </p:nvSpPr>
        <p:spPr>
          <a:xfrm>
            <a:off x="9418320" y="3611880"/>
            <a:ext cx="2011680" cy="731520"/>
          </a:xfrm>
          <a:prstGeom prst="rect">
            <a:avLst/>
          </a:prstGeom>
          <a:noFill/>
          <a:ln/>
        </p:spPr>
        <p:txBody>
          <a:bodyPr wrap="square" lIns="0" tIns="0" rIns="0" bIns="0" rtlCol="0" anchor="b"/>
          <a:lstStyle/>
          <a:p>
            <a:pPr indent="0" marL="0">
              <a:buNone/>
            </a:pPr>
            <a:r>
              <a:rPr lang="en-US" sz="3600" b="1" dirty="0">
                <a:solidFill>
                  <a:srgbClr val="E8590C"/>
                </a:solidFill>
                <a:latin typeface="Arial" pitchFamily="34" charset="0"/>
                <a:ea typeface="Arial" pitchFamily="34" charset="-122"/>
                <a:cs typeface="Arial" pitchFamily="34" charset="-120"/>
              </a:rPr>
              <a:t>83,3 %</a:t>
            </a:r>
            <a:endParaRPr lang="en-US" sz="3600" dirty="0"/>
          </a:p>
        </p:txBody>
      </p:sp>
      <p:sp>
        <p:nvSpPr>
          <p:cNvPr id="14" name="Text 12"/>
          <p:cNvSpPr txBox="1"/>
          <p:nvPr/>
        </p:nvSpPr>
        <p:spPr>
          <a:xfrm>
            <a:off x="9418320" y="4361688"/>
            <a:ext cx="2011680" cy="54864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précision sur le test ; arbre de décision retenu</a:t>
            </a:r>
            <a:endParaRPr lang="en-US" sz="13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rgbClr val="0B1D3A"/>
                </a:solidFill>
                <a:latin typeface="Arial" pitchFamily="34" charset="0"/>
                <a:ea typeface="Arial" pitchFamily="34" charset="-122"/>
                <a:cs typeface="Arial" pitchFamily="34" charset="-120"/>
              </a:rPr>
              <a:t>Introduction</a:t>
            </a:r>
            <a:endParaRPr lang="en-US" sz="3000" dirty="0"/>
          </a:p>
        </p:txBody>
      </p:sp>
      <p:sp>
        <p:nvSpPr>
          <p:cNvPr id="3" name="Text 1"/>
          <p:cNvSpPr txBox="1"/>
          <p:nvPr/>
        </p:nvSpPr>
        <p:spPr>
          <a:xfrm>
            <a:off x="548640" y="1234440"/>
            <a:ext cx="5486400" cy="411480"/>
          </a:xfrm>
          <a:prstGeom prst="rect">
            <a:avLst/>
          </a:prstGeom>
          <a:noFill/>
          <a:ln/>
        </p:spPr>
        <p:txBody>
          <a:bodyPr wrap="square" lIns="0" tIns="0" rIns="0" bIns="0" rtlCol="0" anchor="ctr"/>
          <a:lstStyle/>
          <a:p>
            <a:pPr indent="0" marL="0">
              <a:buNone/>
            </a:pPr>
            <a:r>
              <a:rPr lang="en-US" sz="1800" b="1" dirty="0">
                <a:solidFill>
                  <a:srgbClr val="0B1D3A"/>
                </a:solidFill>
                <a:latin typeface="Arial" pitchFamily="34" charset="0"/>
                <a:ea typeface="Arial" pitchFamily="34" charset="-122"/>
                <a:cs typeface="Arial" pitchFamily="34" charset="-120"/>
              </a:rPr>
              <a:t>Contexte</a:t>
            </a:r>
            <a:endParaRPr lang="en-US" sz="1800" dirty="0"/>
          </a:p>
        </p:txBody>
      </p:sp>
      <p:sp>
        <p:nvSpPr>
          <p:cNvPr id="4" name="Text 2"/>
          <p:cNvSpPr txBox="1"/>
          <p:nvPr/>
        </p:nvSpPr>
        <p:spPr>
          <a:xfrm>
            <a:off x="548640" y="1691640"/>
            <a:ext cx="5486400" cy="4023360"/>
          </a:xfrm>
          <a:prstGeom prst="rect">
            <a:avLst/>
          </a:prstGeom>
          <a:noFill/>
          <a:ln/>
        </p:spPr>
        <p:txBody>
          <a:bodyPr wrap="square" rtlCol="0" anchor="t"/>
          <a:lstStyle/>
          <a:p>
            <a:pPr indent="0" marL="0">
              <a:buNone/>
            </a:pPr>
            <a:r>
              <a:rPr lang="en-US" sz="1600" dirty="0">
                <a:solidFill>
                  <a:srgbClr val="1F2937"/>
                </a:solidFill>
                <a:latin typeface="Calibri" pitchFamily="34" charset="0"/>
                <a:ea typeface="Calibri" pitchFamily="34" charset="-122"/>
                <a:cs typeface="Calibri" pitchFamily="34" charset="-120"/>
              </a:rPr>
              <a:t>SpaceX propose des lancements Falcon 9 à environ 62 millions de dollars, contre plus de 165 millions chez les concurrents. L'essentiel de cette économie vient de la réutilisation du premier étage, qui revient se poser sur une barge ou une plateforme au sol.</a:t>
            </a:r>
            <a:endParaRPr lang="en-US" sz="1600" dirty="0"/>
          </a:p>
          <a:p>
            <a:pPr indent="0" marL="0">
              <a:buNone/>
            </a:pPr>
            <a:endParaRPr lang="en-US" sz="1600" dirty="0"/>
          </a:p>
          <a:p>
            <a:pPr indent="0" marL="0">
              <a:buNone/>
            </a:pPr>
            <a:r>
              <a:rPr lang="en-US" sz="1600" dirty="0">
                <a:solidFill>
                  <a:srgbClr val="1F2937"/>
                </a:solidFill>
                <a:latin typeface="Calibri" pitchFamily="34" charset="0"/>
                <a:ea typeface="Calibri" pitchFamily="34" charset="-122"/>
                <a:cs typeface="Calibri" pitchFamily="34" charset="-120"/>
              </a:rPr>
              <a:t>Si l'on sait prédire l'atterrissage du premier étage, on peut estimer le coût d'un lancement. Cette information est précieuse pour une entreprise concurrente (Space Y) qui veut répondre aux mêmes appels d'offres.</a:t>
            </a:r>
            <a:endParaRPr lang="en-US" sz="1600" dirty="0"/>
          </a:p>
        </p:txBody>
      </p:sp>
      <p:sp>
        <p:nvSpPr>
          <p:cNvPr id="5" name="Text 3"/>
          <p:cNvSpPr txBox="1"/>
          <p:nvPr/>
        </p:nvSpPr>
        <p:spPr>
          <a:xfrm>
            <a:off x="6492240" y="1234440"/>
            <a:ext cx="5120640" cy="411480"/>
          </a:xfrm>
          <a:prstGeom prst="rect">
            <a:avLst/>
          </a:prstGeom>
          <a:noFill/>
          <a:ln/>
        </p:spPr>
        <p:txBody>
          <a:bodyPr wrap="square" lIns="0" tIns="0" rIns="0" bIns="0" rtlCol="0" anchor="ctr"/>
          <a:lstStyle/>
          <a:p>
            <a:pPr indent="0" marL="0">
              <a:buNone/>
            </a:pPr>
            <a:r>
              <a:rPr lang="en-US" sz="1800" b="1" dirty="0">
                <a:solidFill>
                  <a:srgbClr val="0B1D3A"/>
                </a:solidFill>
                <a:latin typeface="Arial" pitchFamily="34" charset="0"/>
                <a:ea typeface="Arial" pitchFamily="34" charset="-122"/>
                <a:cs typeface="Arial" pitchFamily="34" charset="-120"/>
              </a:rPr>
              <a:t>Questions étudiées</a:t>
            </a:r>
            <a:endParaRPr lang="en-US" sz="1800" dirty="0"/>
          </a:p>
        </p:txBody>
      </p:sp>
      <p:sp>
        <p:nvSpPr>
          <p:cNvPr id="6" name="Shape 4"/>
          <p:cNvSpPr/>
          <p:nvPr/>
        </p:nvSpPr>
        <p:spPr>
          <a:xfrm>
            <a:off x="6492240" y="1737360"/>
            <a:ext cx="5120640" cy="1143000"/>
          </a:xfrm>
          <a:prstGeom prst="roundRect">
            <a:avLst>
              <a:gd name="adj" fmla="val 6400"/>
            </a:avLst>
          </a:prstGeom>
          <a:solidFill>
            <a:srgbClr val="EEF2F7"/>
          </a:solidFill>
          <a:ln w="12700">
            <a:solidFill>
              <a:srgbClr val="EEF2F7"/>
            </a:solidFill>
            <a:prstDash val="solid"/>
          </a:ln>
        </p:spPr>
      </p:sp>
      <p:sp>
        <p:nvSpPr>
          <p:cNvPr id="7" name="Shape 5"/>
          <p:cNvSpPr/>
          <p:nvPr/>
        </p:nvSpPr>
        <p:spPr>
          <a:xfrm>
            <a:off x="6675120" y="2084832"/>
            <a:ext cx="457200" cy="457200"/>
          </a:xfrm>
          <a:prstGeom prst="ellipse">
            <a:avLst/>
          </a:prstGeom>
          <a:solidFill>
            <a:srgbClr val="E8590C"/>
          </a:solidFill>
          <a:ln w="12700">
            <a:solidFill>
              <a:srgbClr val="E8590C"/>
            </a:solidFill>
            <a:prstDash val="solid"/>
          </a:ln>
        </p:spPr>
      </p:sp>
      <p:sp>
        <p:nvSpPr>
          <p:cNvPr id="8" name="Text 6"/>
          <p:cNvSpPr txBox="1"/>
          <p:nvPr/>
        </p:nvSpPr>
        <p:spPr>
          <a:xfrm>
            <a:off x="6675120" y="208483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9" name="Text 7"/>
          <p:cNvSpPr txBox="1"/>
          <p:nvPr/>
        </p:nvSpPr>
        <p:spPr>
          <a:xfrm>
            <a:off x="7315200" y="1828800"/>
            <a:ext cx="4160520" cy="96012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Quels facteurs (charge utile, site, orbite, nombre de vols, version du booster) influencent le succès de l'atterrissage ?</a:t>
            </a:r>
            <a:endParaRPr lang="en-US" sz="1500" dirty="0"/>
          </a:p>
        </p:txBody>
      </p:sp>
      <p:sp>
        <p:nvSpPr>
          <p:cNvPr id="10" name="Shape 8"/>
          <p:cNvSpPr/>
          <p:nvPr/>
        </p:nvSpPr>
        <p:spPr>
          <a:xfrm>
            <a:off x="6492240" y="3063240"/>
            <a:ext cx="5120640" cy="1143000"/>
          </a:xfrm>
          <a:prstGeom prst="roundRect">
            <a:avLst>
              <a:gd name="adj" fmla="val 6400"/>
            </a:avLst>
          </a:prstGeom>
          <a:solidFill>
            <a:srgbClr val="EEF2F7"/>
          </a:solidFill>
          <a:ln w="12700">
            <a:solidFill>
              <a:srgbClr val="EEF2F7"/>
            </a:solidFill>
            <a:prstDash val="solid"/>
          </a:ln>
        </p:spPr>
      </p:sp>
      <p:sp>
        <p:nvSpPr>
          <p:cNvPr id="11" name="Shape 9"/>
          <p:cNvSpPr/>
          <p:nvPr/>
        </p:nvSpPr>
        <p:spPr>
          <a:xfrm>
            <a:off x="6675120" y="3410712"/>
            <a:ext cx="457200" cy="457200"/>
          </a:xfrm>
          <a:prstGeom prst="ellipse">
            <a:avLst/>
          </a:prstGeom>
          <a:solidFill>
            <a:srgbClr val="E8590C"/>
          </a:solidFill>
          <a:ln w="12700">
            <a:solidFill>
              <a:srgbClr val="E8590C"/>
            </a:solidFill>
            <a:prstDash val="solid"/>
          </a:ln>
        </p:spPr>
      </p:sp>
      <p:sp>
        <p:nvSpPr>
          <p:cNvPr id="12" name="Text 10"/>
          <p:cNvSpPr txBox="1"/>
          <p:nvPr/>
        </p:nvSpPr>
        <p:spPr>
          <a:xfrm>
            <a:off x="6675120" y="341071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3" name="Text 11"/>
          <p:cNvSpPr txBox="1"/>
          <p:nvPr/>
        </p:nvSpPr>
        <p:spPr>
          <a:xfrm>
            <a:off x="7315200" y="3154680"/>
            <a:ext cx="4160520" cy="96012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Comment le taux de succès évolue-t-il dans le temps ?</a:t>
            </a:r>
            <a:endParaRPr lang="en-US" sz="1500" dirty="0"/>
          </a:p>
        </p:txBody>
      </p:sp>
      <p:sp>
        <p:nvSpPr>
          <p:cNvPr id="14" name="Shape 12"/>
          <p:cNvSpPr/>
          <p:nvPr/>
        </p:nvSpPr>
        <p:spPr>
          <a:xfrm>
            <a:off x="6492240" y="4389120"/>
            <a:ext cx="5120640" cy="1143000"/>
          </a:xfrm>
          <a:prstGeom prst="roundRect">
            <a:avLst>
              <a:gd name="adj" fmla="val 6400"/>
            </a:avLst>
          </a:prstGeom>
          <a:solidFill>
            <a:srgbClr val="EEF2F7"/>
          </a:solidFill>
          <a:ln w="12700">
            <a:solidFill>
              <a:srgbClr val="EEF2F7"/>
            </a:solidFill>
            <a:prstDash val="solid"/>
          </a:ln>
        </p:spPr>
      </p:sp>
      <p:sp>
        <p:nvSpPr>
          <p:cNvPr id="15" name="Shape 13"/>
          <p:cNvSpPr/>
          <p:nvPr/>
        </p:nvSpPr>
        <p:spPr>
          <a:xfrm>
            <a:off x="6675120" y="4736592"/>
            <a:ext cx="457200" cy="457200"/>
          </a:xfrm>
          <a:prstGeom prst="ellipse">
            <a:avLst/>
          </a:prstGeom>
          <a:solidFill>
            <a:srgbClr val="E8590C"/>
          </a:solidFill>
          <a:ln w="12700">
            <a:solidFill>
              <a:srgbClr val="E8590C"/>
            </a:solidFill>
            <a:prstDash val="solid"/>
          </a:ln>
        </p:spPr>
      </p:sp>
      <p:sp>
        <p:nvSpPr>
          <p:cNvPr id="16" name="Text 14"/>
          <p:cNvSpPr txBox="1"/>
          <p:nvPr/>
        </p:nvSpPr>
        <p:spPr>
          <a:xfrm>
            <a:off x="6675120" y="473659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7" name="Text 15"/>
          <p:cNvSpPr txBox="1"/>
          <p:nvPr/>
        </p:nvSpPr>
        <p:spPr>
          <a:xfrm>
            <a:off x="7315200" y="4480560"/>
            <a:ext cx="4160520" cy="96012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Quel modèle de classification prédit le mieux l'atterrissage ?</a:t>
            </a:r>
            <a:endParaRPr lang="en-US" sz="15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731520" y="2103120"/>
            <a:ext cx="8229600" cy="548640"/>
          </a:xfrm>
          <a:prstGeom prst="rect">
            <a:avLst/>
          </a:prstGeom>
          <a:noFill/>
          <a:ln/>
        </p:spPr>
        <p:txBody>
          <a:bodyPr wrap="square" rtlCol="0" anchor="b"/>
          <a:lstStyle/>
          <a:p>
            <a:pPr algn="l" indent="0" marL="0">
              <a:buNone/>
            </a:pPr>
            <a:r>
              <a:rPr lang="en-US" sz="1800" b="1" dirty="0">
                <a:solidFill>
                  <a:srgbClr val="E8590C"/>
                </a:solidFill>
              </a:rPr>
              <a:t>Section 1</a:t>
            </a:r>
            <a:endParaRPr lang="en-US" sz="1800" dirty="0"/>
          </a:p>
        </p:txBody>
      </p:sp>
      <p:sp>
        <p:nvSpPr>
          <p:cNvPr id="3" name="Text 0"/>
          <p:cNvSpPr/>
          <p:nvPr>
            <p:ph idx="101" type="title" hasCustomPrompt="1"/>
          </p:nvPr>
        </p:nvSpPr>
        <p:spPr>
          <a:xfrm>
            <a:off x="731520" y="2697480"/>
            <a:ext cx="10698480" cy="1280160"/>
          </a:xfrm>
          <a:prstGeom prst="rect">
            <a:avLst/>
          </a:prstGeom>
          <a:noFill/>
          <a:ln/>
        </p:spPr>
        <p:txBody>
          <a:bodyPr wrap="square" rtlCol="0" anchor="t"/>
          <a:lstStyle/>
          <a:p>
            <a:pPr algn="l" indent="0" marL="0">
              <a:buNone/>
            </a:pPr>
            <a:r>
              <a:rPr lang="en-US" sz="4000" b="1" dirty="0">
                <a:solidFill>
                  <a:srgbClr val="FFFFFF"/>
                </a:solidFill>
                <a:latin typeface="Arial" pitchFamily="34" charset="0"/>
                <a:ea typeface="Arial" pitchFamily="34" charset="-122"/>
                <a:cs typeface="Arial" pitchFamily="34" charset="-120"/>
              </a:rPr>
              <a:t>Méthodologie</a:t>
            </a:r>
            <a:endParaRPr lang="en-US" sz="4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rgbClr val="0B1D3A"/>
                </a:solidFill>
                <a:latin typeface="Arial" pitchFamily="34" charset="0"/>
                <a:ea typeface="Arial" pitchFamily="34" charset="-122"/>
                <a:cs typeface="Arial" pitchFamily="34" charset="-120"/>
              </a:rPr>
              <a:t>Résumé de la méthodologie</a:t>
            </a:r>
            <a:endParaRPr lang="en-US" sz="3000" dirty="0"/>
          </a:p>
        </p:txBody>
      </p:sp>
      <p:sp>
        <p:nvSpPr>
          <p:cNvPr id="3" name="Shape 1"/>
          <p:cNvSpPr/>
          <p:nvPr/>
        </p:nvSpPr>
        <p:spPr>
          <a:xfrm>
            <a:off x="548640" y="1280160"/>
            <a:ext cx="11064240" cy="822960"/>
          </a:xfrm>
          <a:prstGeom prst="roundRect">
            <a:avLst>
              <a:gd name="adj" fmla="val 8889"/>
            </a:avLst>
          </a:prstGeom>
          <a:solidFill>
            <a:srgbClr val="EEF2F7"/>
          </a:solidFill>
          <a:ln w="12700">
            <a:solidFill>
              <a:srgbClr val="EEF2F7"/>
            </a:solidFill>
            <a:prstDash val="solid"/>
          </a:ln>
        </p:spPr>
      </p:sp>
      <p:sp>
        <p:nvSpPr>
          <p:cNvPr id="4" name="Shape 2"/>
          <p:cNvSpPr/>
          <p:nvPr/>
        </p:nvSpPr>
        <p:spPr>
          <a:xfrm>
            <a:off x="731520" y="1463040"/>
            <a:ext cx="457200" cy="457200"/>
          </a:xfrm>
          <a:prstGeom prst="ellipse">
            <a:avLst/>
          </a:prstGeom>
          <a:solidFill>
            <a:srgbClr val="E8590C"/>
          </a:solidFill>
          <a:ln w="12700">
            <a:solidFill>
              <a:srgbClr val="E8590C"/>
            </a:solidFill>
            <a:prstDash val="solid"/>
          </a:ln>
        </p:spPr>
      </p:sp>
      <p:sp>
        <p:nvSpPr>
          <p:cNvPr id="5" name="Text 3"/>
          <p:cNvSpPr txBox="1"/>
          <p:nvPr/>
        </p:nvSpPr>
        <p:spPr>
          <a:xfrm>
            <a:off x="731520" y="14630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6" name="Text 4"/>
          <p:cNvSpPr txBox="1"/>
          <p:nvPr/>
        </p:nvSpPr>
        <p:spPr>
          <a:xfrm>
            <a:off x="1371600" y="1280160"/>
            <a:ext cx="10058400" cy="822960"/>
          </a:xfrm>
          <a:prstGeom prst="rect">
            <a:avLst/>
          </a:prstGeom>
          <a:noFill/>
          <a:ln/>
        </p:spPr>
        <p:txBody>
          <a:bodyPr wrap="square" lIns="0" tIns="0" rIns="0" bIns="0" rtlCol="0" anchor="ctr"/>
          <a:lstStyle/>
          <a:p>
            <a:pPr indent="0" marL="0">
              <a:buNone/>
            </a:pPr>
            <a:r>
              <a:rPr lang="en-US" sz="1700" b="1" dirty="0">
                <a:solidFill>
                  <a:srgbClr val="0B1D3A"/>
                </a:solidFill>
                <a:latin typeface="Calibri" pitchFamily="34" charset="0"/>
                <a:ea typeface="Calibri" pitchFamily="34" charset="-122"/>
                <a:cs typeface="Calibri" pitchFamily="34" charset="-120"/>
              </a:rPr>
              <a:t>Collecte des données</a:t>
            </a:r>
            <a:pPr indent="0" marL="0">
              <a:buNone/>
            </a:pPr>
            <a:r>
              <a:rPr lang="en-US" sz="1500" dirty="0">
                <a:solidFill>
                  <a:srgbClr val="1F2937"/>
                </a:solidFill>
                <a:latin typeface="Calibri" pitchFamily="34" charset="0"/>
                <a:ea typeface="Calibri" pitchFamily="34" charset="-122"/>
                <a:cs typeface="Calibri" pitchFamily="34" charset="-120"/>
              </a:rPr>
              <a:t>   API REST SpaceX (lancements passés) et web scraping de la page Wikipedia des lancements Falcon 9</a:t>
            </a:r>
            <a:endParaRPr lang="en-US" sz="1700" dirty="0"/>
          </a:p>
        </p:txBody>
      </p:sp>
      <p:sp>
        <p:nvSpPr>
          <p:cNvPr id="7" name="Shape 5"/>
          <p:cNvSpPr/>
          <p:nvPr/>
        </p:nvSpPr>
        <p:spPr>
          <a:xfrm>
            <a:off x="548640" y="2231136"/>
            <a:ext cx="11064240" cy="822960"/>
          </a:xfrm>
          <a:prstGeom prst="roundRect">
            <a:avLst>
              <a:gd name="adj" fmla="val 8889"/>
            </a:avLst>
          </a:prstGeom>
          <a:solidFill>
            <a:srgbClr val="EEF2F7"/>
          </a:solidFill>
          <a:ln w="12700">
            <a:solidFill>
              <a:srgbClr val="EEF2F7"/>
            </a:solidFill>
            <a:prstDash val="solid"/>
          </a:ln>
        </p:spPr>
      </p:sp>
      <p:sp>
        <p:nvSpPr>
          <p:cNvPr id="8" name="Shape 6"/>
          <p:cNvSpPr/>
          <p:nvPr/>
        </p:nvSpPr>
        <p:spPr>
          <a:xfrm>
            <a:off x="731520" y="2414016"/>
            <a:ext cx="457200" cy="457200"/>
          </a:xfrm>
          <a:prstGeom prst="ellipse">
            <a:avLst/>
          </a:prstGeom>
          <a:solidFill>
            <a:srgbClr val="E8590C"/>
          </a:solidFill>
          <a:ln w="12700">
            <a:solidFill>
              <a:srgbClr val="E8590C"/>
            </a:solidFill>
            <a:prstDash val="solid"/>
          </a:ln>
        </p:spPr>
      </p:sp>
      <p:sp>
        <p:nvSpPr>
          <p:cNvPr id="9" name="Text 7"/>
          <p:cNvSpPr txBox="1"/>
          <p:nvPr/>
        </p:nvSpPr>
        <p:spPr>
          <a:xfrm>
            <a:off x="731520" y="241401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0" name="Text 8"/>
          <p:cNvSpPr txBox="1"/>
          <p:nvPr/>
        </p:nvSpPr>
        <p:spPr>
          <a:xfrm>
            <a:off x="1371600" y="2231136"/>
            <a:ext cx="10058400" cy="822960"/>
          </a:xfrm>
          <a:prstGeom prst="rect">
            <a:avLst/>
          </a:prstGeom>
          <a:noFill/>
          <a:ln/>
        </p:spPr>
        <p:txBody>
          <a:bodyPr wrap="square" lIns="0" tIns="0" rIns="0" bIns="0" rtlCol="0" anchor="ctr"/>
          <a:lstStyle/>
          <a:p>
            <a:pPr indent="0" marL="0">
              <a:buNone/>
            </a:pPr>
            <a:r>
              <a:rPr lang="en-US" sz="1700" b="1" dirty="0">
                <a:solidFill>
                  <a:srgbClr val="0B1D3A"/>
                </a:solidFill>
                <a:latin typeface="Calibri" pitchFamily="34" charset="0"/>
                <a:ea typeface="Calibri" pitchFamily="34" charset="-122"/>
                <a:cs typeface="Calibri" pitchFamily="34" charset="-120"/>
              </a:rPr>
              <a:t>Préparation des données</a:t>
            </a:r>
            <a:pPr indent="0" marL="0">
              <a:buNone/>
            </a:pPr>
            <a:r>
              <a:rPr lang="en-US" sz="1500" dirty="0">
                <a:solidFill>
                  <a:srgbClr val="1F2937"/>
                </a:solidFill>
                <a:latin typeface="Calibri" pitchFamily="34" charset="0"/>
                <a:ea typeface="Calibri" pitchFamily="34" charset="-122"/>
                <a:cs typeface="Calibri" pitchFamily="34" charset="-120"/>
              </a:rPr>
              <a:t>   Filtrage Falcon 9, remplacement des charges utiles manquantes par la moyenne, création de la cible Class (1 = atterrissage réussi)</a:t>
            </a:r>
            <a:endParaRPr lang="en-US" sz="1700" dirty="0"/>
          </a:p>
        </p:txBody>
      </p:sp>
      <p:sp>
        <p:nvSpPr>
          <p:cNvPr id="11" name="Shape 9"/>
          <p:cNvSpPr/>
          <p:nvPr/>
        </p:nvSpPr>
        <p:spPr>
          <a:xfrm>
            <a:off x="548640" y="3182112"/>
            <a:ext cx="11064240" cy="822960"/>
          </a:xfrm>
          <a:prstGeom prst="roundRect">
            <a:avLst>
              <a:gd name="adj" fmla="val 8889"/>
            </a:avLst>
          </a:prstGeom>
          <a:solidFill>
            <a:srgbClr val="EEF2F7"/>
          </a:solidFill>
          <a:ln w="12700">
            <a:solidFill>
              <a:srgbClr val="EEF2F7"/>
            </a:solidFill>
            <a:prstDash val="solid"/>
          </a:ln>
        </p:spPr>
      </p:sp>
      <p:sp>
        <p:nvSpPr>
          <p:cNvPr id="12" name="Shape 10"/>
          <p:cNvSpPr/>
          <p:nvPr/>
        </p:nvSpPr>
        <p:spPr>
          <a:xfrm>
            <a:off x="731520" y="3364992"/>
            <a:ext cx="457200" cy="457200"/>
          </a:xfrm>
          <a:prstGeom prst="ellipse">
            <a:avLst/>
          </a:prstGeom>
          <a:solidFill>
            <a:srgbClr val="E8590C"/>
          </a:solidFill>
          <a:ln w="12700">
            <a:solidFill>
              <a:srgbClr val="E8590C"/>
            </a:solidFill>
            <a:prstDash val="solid"/>
          </a:ln>
        </p:spPr>
      </p:sp>
      <p:sp>
        <p:nvSpPr>
          <p:cNvPr id="13" name="Text 11"/>
          <p:cNvSpPr txBox="1"/>
          <p:nvPr/>
        </p:nvSpPr>
        <p:spPr>
          <a:xfrm>
            <a:off x="731520" y="336499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4" name="Text 12"/>
          <p:cNvSpPr txBox="1"/>
          <p:nvPr/>
        </p:nvSpPr>
        <p:spPr>
          <a:xfrm>
            <a:off x="1371600" y="3182112"/>
            <a:ext cx="10058400" cy="822960"/>
          </a:xfrm>
          <a:prstGeom prst="rect">
            <a:avLst/>
          </a:prstGeom>
          <a:noFill/>
          <a:ln/>
        </p:spPr>
        <p:txBody>
          <a:bodyPr wrap="square" lIns="0" tIns="0" rIns="0" bIns="0" rtlCol="0" anchor="ctr"/>
          <a:lstStyle/>
          <a:p>
            <a:pPr indent="0" marL="0">
              <a:buNone/>
            </a:pPr>
            <a:r>
              <a:rPr lang="en-US" sz="1700" b="1" dirty="0">
                <a:solidFill>
                  <a:srgbClr val="0B1D3A"/>
                </a:solidFill>
                <a:latin typeface="Calibri" pitchFamily="34" charset="0"/>
                <a:ea typeface="Calibri" pitchFamily="34" charset="-122"/>
                <a:cs typeface="Calibri" pitchFamily="34" charset="-120"/>
              </a:rPr>
              <a:t>Analyse exploratoire (EDA)</a:t>
            </a:r>
            <a:pPr indent="0" marL="0">
              <a:buNone/>
            </a:pPr>
            <a:r>
              <a:rPr lang="en-US" sz="1500" dirty="0">
                <a:solidFill>
                  <a:srgbClr val="1F2937"/>
                </a:solidFill>
                <a:latin typeface="Calibri" pitchFamily="34" charset="0"/>
                <a:ea typeface="Calibri" pitchFamily="34" charset="-122"/>
                <a:cs typeface="Calibri" pitchFamily="34" charset="-120"/>
              </a:rPr>
              <a:t>   Visualisations (nuages de points, barres, courbe) et requêtes SQL</a:t>
            </a:r>
            <a:endParaRPr lang="en-US" sz="1700" dirty="0"/>
          </a:p>
        </p:txBody>
      </p:sp>
      <p:sp>
        <p:nvSpPr>
          <p:cNvPr id="15" name="Shape 13"/>
          <p:cNvSpPr/>
          <p:nvPr/>
        </p:nvSpPr>
        <p:spPr>
          <a:xfrm>
            <a:off x="548640" y="4133088"/>
            <a:ext cx="11064240" cy="822960"/>
          </a:xfrm>
          <a:prstGeom prst="roundRect">
            <a:avLst>
              <a:gd name="adj" fmla="val 8889"/>
            </a:avLst>
          </a:prstGeom>
          <a:solidFill>
            <a:srgbClr val="EEF2F7"/>
          </a:solidFill>
          <a:ln w="12700">
            <a:solidFill>
              <a:srgbClr val="EEF2F7"/>
            </a:solidFill>
            <a:prstDash val="solid"/>
          </a:ln>
        </p:spPr>
      </p:sp>
      <p:sp>
        <p:nvSpPr>
          <p:cNvPr id="16" name="Shape 14"/>
          <p:cNvSpPr/>
          <p:nvPr/>
        </p:nvSpPr>
        <p:spPr>
          <a:xfrm>
            <a:off x="731520" y="4315968"/>
            <a:ext cx="457200" cy="457200"/>
          </a:xfrm>
          <a:prstGeom prst="ellipse">
            <a:avLst/>
          </a:prstGeom>
          <a:solidFill>
            <a:srgbClr val="E8590C"/>
          </a:solidFill>
          <a:ln w="12700">
            <a:solidFill>
              <a:srgbClr val="E8590C"/>
            </a:solidFill>
            <a:prstDash val="solid"/>
          </a:ln>
        </p:spPr>
      </p:sp>
      <p:sp>
        <p:nvSpPr>
          <p:cNvPr id="17" name="Text 15"/>
          <p:cNvSpPr txBox="1"/>
          <p:nvPr/>
        </p:nvSpPr>
        <p:spPr>
          <a:xfrm>
            <a:off x="731520" y="43159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8" name="Text 16"/>
          <p:cNvSpPr txBox="1"/>
          <p:nvPr/>
        </p:nvSpPr>
        <p:spPr>
          <a:xfrm>
            <a:off x="1371600" y="4133088"/>
            <a:ext cx="10058400" cy="822960"/>
          </a:xfrm>
          <a:prstGeom prst="rect">
            <a:avLst/>
          </a:prstGeom>
          <a:noFill/>
          <a:ln/>
        </p:spPr>
        <p:txBody>
          <a:bodyPr wrap="square" lIns="0" tIns="0" rIns="0" bIns="0" rtlCol="0" anchor="ctr"/>
          <a:lstStyle/>
          <a:p>
            <a:pPr indent="0" marL="0">
              <a:buNone/>
            </a:pPr>
            <a:r>
              <a:rPr lang="en-US" sz="1700" b="1" dirty="0">
                <a:solidFill>
                  <a:srgbClr val="0B1D3A"/>
                </a:solidFill>
                <a:latin typeface="Calibri" pitchFamily="34" charset="0"/>
                <a:ea typeface="Calibri" pitchFamily="34" charset="-122"/>
                <a:cs typeface="Calibri" pitchFamily="34" charset="-120"/>
              </a:rPr>
              <a:t>Analytique visuelle interactive</a:t>
            </a:r>
            <a:pPr indent="0" marL="0">
              <a:buNone/>
            </a:pPr>
            <a:r>
              <a:rPr lang="en-US" sz="1500" dirty="0">
                <a:solidFill>
                  <a:srgbClr val="1F2937"/>
                </a:solidFill>
                <a:latin typeface="Calibri" pitchFamily="34" charset="0"/>
                <a:ea typeface="Calibri" pitchFamily="34" charset="-122"/>
                <a:cs typeface="Calibri" pitchFamily="34" charset="-120"/>
              </a:rPr>
              <a:t>   Carte Folium des sites et des résultats, dashboard Plotly Dash</a:t>
            </a:r>
            <a:endParaRPr lang="en-US" sz="1700" dirty="0"/>
          </a:p>
        </p:txBody>
      </p:sp>
      <p:sp>
        <p:nvSpPr>
          <p:cNvPr id="19" name="Shape 17"/>
          <p:cNvSpPr/>
          <p:nvPr/>
        </p:nvSpPr>
        <p:spPr>
          <a:xfrm>
            <a:off x="548640" y="5084064"/>
            <a:ext cx="11064240" cy="822960"/>
          </a:xfrm>
          <a:prstGeom prst="roundRect">
            <a:avLst>
              <a:gd name="adj" fmla="val 8889"/>
            </a:avLst>
          </a:prstGeom>
          <a:solidFill>
            <a:srgbClr val="EEF2F7"/>
          </a:solidFill>
          <a:ln w="12700">
            <a:solidFill>
              <a:srgbClr val="EEF2F7"/>
            </a:solidFill>
            <a:prstDash val="solid"/>
          </a:ln>
        </p:spPr>
      </p:sp>
      <p:sp>
        <p:nvSpPr>
          <p:cNvPr id="20" name="Shape 18"/>
          <p:cNvSpPr/>
          <p:nvPr/>
        </p:nvSpPr>
        <p:spPr>
          <a:xfrm>
            <a:off x="731520" y="5266944"/>
            <a:ext cx="457200" cy="457200"/>
          </a:xfrm>
          <a:prstGeom prst="ellipse">
            <a:avLst/>
          </a:prstGeom>
          <a:solidFill>
            <a:srgbClr val="E8590C"/>
          </a:solidFill>
          <a:ln w="12700">
            <a:solidFill>
              <a:srgbClr val="E8590C"/>
            </a:solidFill>
            <a:prstDash val="solid"/>
          </a:ln>
        </p:spPr>
      </p:sp>
      <p:sp>
        <p:nvSpPr>
          <p:cNvPr id="21" name="Text 19"/>
          <p:cNvSpPr txBox="1"/>
          <p:nvPr/>
        </p:nvSpPr>
        <p:spPr>
          <a:xfrm>
            <a:off x="731520" y="526694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2" name="Text 20"/>
          <p:cNvSpPr txBox="1"/>
          <p:nvPr/>
        </p:nvSpPr>
        <p:spPr>
          <a:xfrm>
            <a:off x="1371600" y="5084064"/>
            <a:ext cx="10058400" cy="822960"/>
          </a:xfrm>
          <a:prstGeom prst="rect">
            <a:avLst/>
          </a:prstGeom>
          <a:noFill/>
          <a:ln/>
        </p:spPr>
        <p:txBody>
          <a:bodyPr wrap="square" lIns="0" tIns="0" rIns="0" bIns="0" rtlCol="0" anchor="ctr"/>
          <a:lstStyle/>
          <a:p>
            <a:pPr indent="0" marL="0">
              <a:buNone/>
            </a:pPr>
            <a:r>
              <a:rPr lang="en-US" sz="1700" b="1" dirty="0">
                <a:solidFill>
                  <a:srgbClr val="0B1D3A"/>
                </a:solidFill>
                <a:latin typeface="Calibri" pitchFamily="34" charset="0"/>
                <a:ea typeface="Calibri" pitchFamily="34" charset="-122"/>
                <a:cs typeface="Calibri" pitchFamily="34" charset="-120"/>
              </a:rPr>
              <a:t>Analyse prédictive</a:t>
            </a:r>
            <a:pPr indent="0" marL="0">
              <a:buNone/>
            </a:pPr>
            <a:r>
              <a:rPr lang="en-US" sz="1500" dirty="0">
                <a:solidFill>
                  <a:srgbClr val="1F2937"/>
                </a:solidFill>
                <a:latin typeface="Calibri" pitchFamily="34" charset="0"/>
                <a:ea typeface="Calibri" pitchFamily="34" charset="-122"/>
                <a:cs typeface="Calibri" pitchFamily="34" charset="-120"/>
              </a:rPr>
              <a:t>   Standardisation, découpage 80/20, GridSearchCV sur 4 modèles, évaluation par précision et matrice de confusion</a:t>
            </a:r>
            <a:endParaRPr lang="en-US" sz="17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rgbClr val="0B1D3A"/>
                </a:solidFill>
                <a:latin typeface="Arial" pitchFamily="34" charset="0"/>
                <a:ea typeface="Arial" pitchFamily="34" charset="-122"/>
                <a:cs typeface="Arial" pitchFamily="34" charset="-120"/>
              </a:rPr>
              <a:t>Collecte des données — API SpaceX</a:t>
            </a:r>
            <a:endParaRPr lang="en-US" sz="3000" dirty="0"/>
          </a:p>
        </p:txBody>
      </p:sp>
      <p:sp>
        <p:nvSpPr>
          <p:cNvPr id="3" name="Shape 1"/>
          <p:cNvSpPr/>
          <p:nvPr/>
        </p:nvSpPr>
        <p:spPr>
          <a:xfrm>
            <a:off x="740664" y="1653540"/>
            <a:ext cx="0" cy="3733800"/>
          </a:xfrm>
          <a:prstGeom prst="line">
            <a:avLst/>
          </a:prstGeom>
          <a:noFill/>
          <a:ln w="25400">
            <a:solidFill>
              <a:srgbClr val="98C1D9"/>
            </a:solidFill>
            <a:prstDash val="solid"/>
          </a:ln>
        </p:spPr>
      </p:sp>
      <p:sp>
        <p:nvSpPr>
          <p:cNvPr id="4" name="Shape 2"/>
          <p:cNvSpPr/>
          <p:nvPr/>
        </p:nvSpPr>
        <p:spPr>
          <a:xfrm>
            <a:off x="548640" y="1461516"/>
            <a:ext cx="384048" cy="384048"/>
          </a:xfrm>
          <a:prstGeom prst="ellipse">
            <a:avLst/>
          </a:prstGeom>
          <a:solidFill>
            <a:srgbClr val="E8590C"/>
          </a:solidFill>
          <a:ln w="12700">
            <a:solidFill>
              <a:srgbClr val="E8590C"/>
            </a:solidFill>
            <a:prstDash val="solid"/>
          </a:ln>
        </p:spPr>
      </p:sp>
      <p:sp>
        <p:nvSpPr>
          <p:cNvPr id="5" name="Text 3"/>
          <p:cNvSpPr txBox="1"/>
          <p:nvPr/>
        </p:nvSpPr>
        <p:spPr>
          <a:xfrm>
            <a:off x="548640" y="146151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6" name="Text 4"/>
          <p:cNvSpPr txBox="1"/>
          <p:nvPr/>
        </p:nvSpPr>
        <p:spPr>
          <a:xfrm>
            <a:off x="1115568" y="1280160"/>
            <a:ext cx="6199632" cy="746760"/>
          </a:xfrm>
          <a:prstGeom prst="rect">
            <a:avLst/>
          </a:prstGeom>
          <a:noFill/>
          <a:ln/>
        </p:spPr>
        <p:txBody>
          <a:bodyPr wrap="square" lIns="25400" tIns="25400" rIns="25400" bIns="25400" rtlCol="0" anchor="ctr"/>
          <a:lstStyle/>
          <a:p>
            <a:pPr indent="0" marL="0">
              <a:buNone/>
            </a:pPr>
            <a:r>
              <a:rPr lang="en-US" sz="1400" b="1" dirty="0">
                <a:solidFill>
                  <a:srgbClr val="0B1D3A"/>
                </a:solidFill>
                <a:latin typeface="Calibri" pitchFamily="34" charset="0"/>
                <a:ea typeface="Calibri" pitchFamily="34" charset="-122"/>
                <a:cs typeface="Calibri" pitchFamily="34" charset="-120"/>
              </a:rPr>
              <a:t>Requête GET</a:t>
            </a:r>
            <a:endParaRPr lang="en-US" sz="1400" dirty="0"/>
          </a:p>
          <a:p>
            <a:pPr indent="0" marL="0">
              <a:buNone/>
            </a:pPr>
            <a:r>
              <a:rPr lang="en-US" sz="1300" dirty="0">
                <a:solidFill>
                  <a:srgbClr val="1F2937"/>
                </a:solidFill>
                <a:latin typeface="Calibri" pitchFamily="34" charset="0"/>
                <a:ea typeface="Calibri" pitchFamily="34" charset="-122"/>
                <a:cs typeface="Calibri" pitchFamily="34" charset="-120"/>
              </a:rPr>
              <a:t>api.spacexdata.com/v4/launches/past (copie JSON statique fournie par IBM)</a:t>
            </a:r>
            <a:endParaRPr lang="en-US" sz="1400" dirty="0"/>
          </a:p>
        </p:txBody>
      </p:sp>
      <p:sp>
        <p:nvSpPr>
          <p:cNvPr id="7" name="Shape 5"/>
          <p:cNvSpPr/>
          <p:nvPr/>
        </p:nvSpPr>
        <p:spPr>
          <a:xfrm>
            <a:off x="548640" y="2208276"/>
            <a:ext cx="384048" cy="384048"/>
          </a:xfrm>
          <a:prstGeom prst="ellipse">
            <a:avLst/>
          </a:prstGeom>
          <a:solidFill>
            <a:srgbClr val="E8590C"/>
          </a:solidFill>
          <a:ln w="12700">
            <a:solidFill>
              <a:srgbClr val="E8590C"/>
            </a:solidFill>
            <a:prstDash val="solid"/>
          </a:ln>
        </p:spPr>
      </p:sp>
      <p:sp>
        <p:nvSpPr>
          <p:cNvPr id="8" name="Text 6"/>
          <p:cNvSpPr txBox="1"/>
          <p:nvPr/>
        </p:nvSpPr>
        <p:spPr>
          <a:xfrm>
            <a:off x="548640" y="220827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9" name="Text 7"/>
          <p:cNvSpPr txBox="1"/>
          <p:nvPr/>
        </p:nvSpPr>
        <p:spPr>
          <a:xfrm>
            <a:off x="1115568" y="2026920"/>
            <a:ext cx="6199632" cy="746760"/>
          </a:xfrm>
          <a:prstGeom prst="rect">
            <a:avLst/>
          </a:prstGeom>
          <a:noFill/>
          <a:ln/>
        </p:spPr>
        <p:txBody>
          <a:bodyPr wrap="square" lIns="25400" tIns="25400" rIns="25400" bIns="25400" rtlCol="0" anchor="ctr"/>
          <a:lstStyle/>
          <a:p>
            <a:pPr indent="0" marL="0">
              <a:buNone/>
            </a:pPr>
            <a:r>
              <a:rPr lang="en-US" sz="1400" b="1" dirty="0">
                <a:solidFill>
                  <a:srgbClr val="0B1D3A"/>
                </a:solidFill>
                <a:latin typeface="Calibri" pitchFamily="34" charset="0"/>
                <a:ea typeface="Calibri" pitchFamily="34" charset="-122"/>
                <a:cs typeface="Calibri" pitchFamily="34" charset="-120"/>
              </a:rPr>
              <a:t>Conversion</a:t>
            </a:r>
            <a:endParaRPr lang="en-US" sz="1400" dirty="0"/>
          </a:p>
          <a:p>
            <a:pPr indent="0" marL="0">
              <a:buNone/>
            </a:pPr>
            <a:r>
              <a:rPr lang="en-US" sz="1300" dirty="0">
                <a:solidFill>
                  <a:srgbClr val="1F2937"/>
                </a:solidFill>
                <a:latin typeface="Calibri" pitchFamily="34" charset="0"/>
                <a:ea typeface="Calibri" pitchFamily="34" charset="-122"/>
                <a:cs typeface="Calibri" pitchFamily="34" charset="-120"/>
              </a:rPr>
              <a:t>response.json() puis pd.json_normalize() en DataFrame</a:t>
            </a:r>
            <a:endParaRPr lang="en-US" sz="1400" dirty="0"/>
          </a:p>
        </p:txBody>
      </p:sp>
      <p:sp>
        <p:nvSpPr>
          <p:cNvPr id="10" name="Shape 8"/>
          <p:cNvSpPr/>
          <p:nvPr/>
        </p:nvSpPr>
        <p:spPr>
          <a:xfrm>
            <a:off x="548640" y="2955036"/>
            <a:ext cx="384048" cy="384048"/>
          </a:xfrm>
          <a:prstGeom prst="ellipse">
            <a:avLst/>
          </a:prstGeom>
          <a:solidFill>
            <a:srgbClr val="E8590C"/>
          </a:solidFill>
          <a:ln w="12700">
            <a:solidFill>
              <a:srgbClr val="E8590C"/>
            </a:solidFill>
            <a:prstDash val="solid"/>
          </a:ln>
        </p:spPr>
      </p:sp>
      <p:sp>
        <p:nvSpPr>
          <p:cNvPr id="11" name="Text 9"/>
          <p:cNvSpPr txBox="1"/>
          <p:nvPr/>
        </p:nvSpPr>
        <p:spPr>
          <a:xfrm>
            <a:off x="548640" y="295503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2" name="Text 10"/>
          <p:cNvSpPr txBox="1"/>
          <p:nvPr/>
        </p:nvSpPr>
        <p:spPr>
          <a:xfrm>
            <a:off x="1115568" y="2773680"/>
            <a:ext cx="6199632" cy="746760"/>
          </a:xfrm>
          <a:prstGeom prst="rect">
            <a:avLst/>
          </a:prstGeom>
          <a:noFill/>
          <a:ln/>
        </p:spPr>
        <p:txBody>
          <a:bodyPr wrap="square" lIns="25400" tIns="25400" rIns="25400" bIns="25400" rtlCol="0" anchor="ctr"/>
          <a:lstStyle/>
          <a:p>
            <a:pPr indent="0" marL="0">
              <a:buNone/>
            </a:pPr>
            <a:r>
              <a:rPr lang="en-US" sz="1400" b="1" dirty="0">
                <a:solidFill>
                  <a:srgbClr val="0B1D3A"/>
                </a:solidFill>
                <a:latin typeface="Calibri" pitchFamily="34" charset="0"/>
                <a:ea typeface="Calibri" pitchFamily="34" charset="-122"/>
                <a:cs typeface="Calibri" pitchFamily="34" charset="-120"/>
              </a:rPr>
              <a:t>Nettoyage initial</a:t>
            </a:r>
            <a:endParaRPr lang="en-US" sz="1400" dirty="0"/>
          </a:p>
          <a:p>
            <a:pPr indent="0" marL="0">
              <a:buNone/>
            </a:pPr>
            <a:r>
              <a:rPr lang="en-US" sz="1300" dirty="0">
                <a:solidFill>
                  <a:srgbClr val="1F2937"/>
                </a:solidFill>
                <a:latin typeface="Calibri" pitchFamily="34" charset="0"/>
                <a:ea typeface="Calibri" pitchFamily="34" charset="-122"/>
                <a:cs typeface="Calibri" pitchFamily="34" charset="-120"/>
              </a:rPr>
              <a:t>un seul booster et une seule charge utile par lancement, dates jusqu'au 13/11/2020</a:t>
            </a:r>
            <a:endParaRPr lang="en-US" sz="1400" dirty="0"/>
          </a:p>
        </p:txBody>
      </p:sp>
      <p:sp>
        <p:nvSpPr>
          <p:cNvPr id="13" name="Shape 11"/>
          <p:cNvSpPr/>
          <p:nvPr/>
        </p:nvSpPr>
        <p:spPr>
          <a:xfrm>
            <a:off x="548640" y="3701796"/>
            <a:ext cx="384048" cy="384048"/>
          </a:xfrm>
          <a:prstGeom prst="ellipse">
            <a:avLst/>
          </a:prstGeom>
          <a:solidFill>
            <a:srgbClr val="E8590C"/>
          </a:solidFill>
          <a:ln w="12700">
            <a:solidFill>
              <a:srgbClr val="E8590C"/>
            </a:solidFill>
            <a:prstDash val="solid"/>
          </a:ln>
        </p:spPr>
      </p:sp>
      <p:sp>
        <p:nvSpPr>
          <p:cNvPr id="14" name="Text 12"/>
          <p:cNvSpPr txBox="1"/>
          <p:nvPr/>
        </p:nvSpPr>
        <p:spPr>
          <a:xfrm>
            <a:off x="548640" y="370179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5" name="Text 13"/>
          <p:cNvSpPr txBox="1"/>
          <p:nvPr/>
        </p:nvSpPr>
        <p:spPr>
          <a:xfrm>
            <a:off x="1115568" y="3520440"/>
            <a:ext cx="6199632" cy="746760"/>
          </a:xfrm>
          <a:prstGeom prst="rect">
            <a:avLst/>
          </a:prstGeom>
          <a:noFill/>
          <a:ln/>
        </p:spPr>
        <p:txBody>
          <a:bodyPr wrap="square" lIns="25400" tIns="25400" rIns="25400" bIns="25400" rtlCol="0" anchor="ctr"/>
          <a:lstStyle/>
          <a:p>
            <a:pPr indent="0" marL="0">
              <a:buNone/>
            </a:pPr>
            <a:r>
              <a:rPr lang="en-US" sz="1400" b="1" dirty="0">
                <a:solidFill>
                  <a:srgbClr val="0B1D3A"/>
                </a:solidFill>
                <a:latin typeface="Calibri" pitchFamily="34" charset="0"/>
                <a:ea typeface="Calibri" pitchFamily="34" charset="-122"/>
                <a:cs typeface="Calibri" pitchFamily="34" charset="-120"/>
              </a:rPr>
              <a:t>Enrichissement</a:t>
            </a:r>
            <a:endParaRPr lang="en-US" sz="1400" dirty="0"/>
          </a:p>
          <a:p>
            <a:pPr indent="0" marL="0">
              <a:buNone/>
            </a:pPr>
            <a:r>
              <a:rPr lang="en-US" sz="1300" dirty="0">
                <a:solidFill>
                  <a:srgbClr val="1F2937"/>
                </a:solidFill>
                <a:latin typeface="Calibri" pitchFamily="34" charset="0"/>
                <a:ea typeface="Calibri" pitchFamily="34" charset="-122"/>
                <a:cs typeface="Calibri" pitchFamily="34" charset="-120"/>
              </a:rPr>
              <a:t>appels aux endpoints rockets, launchpads, payloads et cores</a:t>
            </a:r>
            <a:endParaRPr lang="en-US" sz="1400" dirty="0"/>
          </a:p>
        </p:txBody>
      </p:sp>
      <p:sp>
        <p:nvSpPr>
          <p:cNvPr id="16" name="Shape 14"/>
          <p:cNvSpPr/>
          <p:nvPr/>
        </p:nvSpPr>
        <p:spPr>
          <a:xfrm>
            <a:off x="548640" y="4448556"/>
            <a:ext cx="384048" cy="384048"/>
          </a:xfrm>
          <a:prstGeom prst="ellipse">
            <a:avLst/>
          </a:prstGeom>
          <a:solidFill>
            <a:srgbClr val="E8590C"/>
          </a:solidFill>
          <a:ln w="12700">
            <a:solidFill>
              <a:srgbClr val="E8590C"/>
            </a:solidFill>
            <a:prstDash val="solid"/>
          </a:ln>
        </p:spPr>
      </p:sp>
      <p:sp>
        <p:nvSpPr>
          <p:cNvPr id="17" name="Text 15"/>
          <p:cNvSpPr txBox="1"/>
          <p:nvPr/>
        </p:nvSpPr>
        <p:spPr>
          <a:xfrm>
            <a:off x="548640" y="444855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18" name="Text 16"/>
          <p:cNvSpPr txBox="1"/>
          <p:nvPr/>
        </p:nvSpPr>
        <p:spPr>
          <a:xfrm>
            <a:off x="1115568" y="4267200"/>
            <a:ext cx="6199632" cy="746760"/>
          </a:xfrm>
          <a:prstGeom prst="rect">
            <a:avLst/>
          </a:prstGeom>
          <a:noFill/>
          <a:ln/>
        </p:spPr>
        <p:txBody>
          <a:bodyPr wrap="square" lIns="25400" tIns="25400" rIns="25400" bIns="25400" rtlCol="0" anchor="ctr"/>
          <a:lstStyle/>
          <a:p>
            <a:pPr indent="0" marL="0">
              <a:buNone/>
            </a:pPr>
            <a:r>
              <a:rPr lang="en-US" sz="1400" b="1" dirty="0">
                <a:solidFill>
                  <a:srgbClr val="0B1D3A"/>
                </a:solidFill>
                <a:latin typeface="Calibri" pitchFamily="34" charset="0"/>
                <a:ea typeface="Calibri" pitchFamily="34" charset="-122"/>
                <a:cs typeface="Calibri" pitchFamily="34" charset="-120"/>
              </a:rPr>
              <a:t>Construction</a:t>
            </a:r>
            <a:endParaRPr lang="en-US" sz="1400" dirty="0"/>
          </a:p>
          <a:p>
            <a:pPr indent="0" marL="0">
              <a:buNone/>
            </a:pPr>
            <a:r>
              <a:rPr lang="en-US" sz="1300" dirty="0">
                <a:solidFill>
                  <a:srgbClr val="1F2937"/>
                </a:solidFill>
                <a:latin typeface="Calibri" pitchFamily="34" charset="0"/>
                <a:ea typeface="Calibri" pitchFamily="34" charset="-122"/>
                <a:cs typeface="Calibri" pitchFamily="34" charset="-120"/>
              </a:rPr>
              <a:t>dictionnaire launch_dict puis DataFrame launch_df</a:t>
            </a:r>
            <a:endParaRPr lang="en-US" sz="1400" dirty="0"/>
          </a:p>
        </p:txBody>
      </p:sp>
      <p:sp>
        <p:nvSpPr>
          <p:cNvPr id="19" name="Shape 17"/>
          <p:cNvSpPr/>
          <p:nvPr/>
        </p:nvSpPr>
        <p:spPr>
          <a:xfrm>
            <a:off x="548640" y="5195316"/>
            <a:ext cx="384048" cy="384048"/>
          </a:xfrm>
          <a:prstGeom prst="ellipse">
            <a:avLst/>
          </a:prstGeom>
          <a:solidFill>
            <a:srgbClr val="E8590C"/>
          </a:solidFill>
          <a:ln w="12700">
            <a:solidFill>
              <a:srgbClr val="E8590C"/>
            </a:solidFill>
            <a:prstDash val="solid"/>
          </a:ln>
        </p:spPr>
      </p:sp>
      <p:sp>
        <p:nvSpPr>
          <p:cNvPr id="20" name="Text 18"/>
          <p:cNvSpPr txBox="1"/>
          <p:nvPr/>
        </p:nvSpPr>
        <p:spPr>
          <a:xfrm>
            <a:off x="548640" y="519531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1" name="Text 19"/>
          <p:cNvSpPr txBox="1"/>
          <p:nvPr/>
        </p:nvSpPr>
        <p:spPr>
          <a:xfrm>
            <a:off x="1115568" y="5013960"/>
            <a:ext cx="6199632" cy="746760"/>
          </a:xfrm>
          <a:prstGeom prst="rect">
            <a:avLst/>
          </a:prstGeom>
          <a:noFill/>
          <a:ln/>
        </p:spPr>
        <p:txBody>
          <a:bodyPr wrap="square" lIns="25400" tIns="25400" rIns="25400" bIns="25400" rtlCol="0" anchor="ctr"/>
          <a:lstStyle/>
          <a:p>
            <a:pPr indent="0" marL="0">
              <a:buNone/>
            </a:pPr>
            <a:r>
              <a:rPr lang="en-US" sz="1400" b="1" dirty="0">
                <a:solidFill>
                  <a:srgbClr val="0B1D3A"/>
                </a:solidFill>
                <a:latin typeface="Calibri" pitchFamily="34" charset="0"/>
                <a:ea typeface="Calibri" pitchFamily="34" charset="-122"/>
                <a:cs typeface="Calibri" pitchFamily="34" charset="-120"/>
              </a:rPr>
              <a:t>Filtrage</a:t>
            </a:r>
            <a:endParaRPr lang="en-US" sz="1400" dirty="0"/>
          </a:p>
          <a:p>
            <a:pPr indent="0" marL="0">
              <a:buNone/>
            </a:pPr>
            <a:r>
              <a:rPr lang="en-US" sz="1300" dirty="0">
                <a:solidFill>
                  <a:srgbClr val="1F2937"/>
                </a:solidFill>
                <a:latin typeface="Calibri" pitchFamily="34" charset="0"/>
                <a:ea typeface="Calibri" pitchFamily="34" charset="-122"/>
                <a:cs typeface="Calibri" pitchFamily="34" charset="-120"/>
              </a:rPr>
              <a:t>on garde uniquement les Falcon 9 et on remplace les PayloadMass manquantes par la moyenne</a:t>
            </a:r>
            <a:endParaRPr lang="en-US" sz="1400" dirty="0"/>
          </a:p>
        </p:txBody>
      </p:sp>
      <p:sp>
        <p:nvSpPr>
          <p:cNvPr id="22" name="Shape 20"/>
          <p:cNvSpPr/>
          <p:nvPr/>
        </p:nvSpPr>
        <p:spPr>
          <a:xfrm>
            <a:off x="7772400" y="1371600"/>
            <a:ext cx="3840480" cy="4297680"/>
          </a:xfrm>
          <a:prstGeom prst="roundRect">
            <a:avLst>
              <a:gd name="adj" fmla="val 1905"/>
            </a:avLst>
          </a:prstGeom>
          <a:solidFill>
            <a:srgbClr val="EEF2F7"/>
          </a:solidFill>
          <a:ln w="12700">
            <a:solidFill>
              <a:srgbClr val="EEF2F7"/>
            </a:solidFill>
            <a:prstDash val="solid"/>
          </a:ln>
        </p:spPr>
      </p:sp>
      <p:sp>
        <p:nvSpPr>
          <p:cNvPr id="23" name="Text 21"/>
          <p:cNvSpPr txBox="1"/>
          <p:nvPr/>
        </p:nvSpPr>
        <p:spPr>
          <a:xfrm>
            <a:off x="8001000" y="1508760"/>
            <a:ext cx="3383280" cy="365760"/>
          </a:xfrm>
          <a:prstGeom prst="rect">
            <a:avLst/>
          </a:prstGeom>
          <a:noFill/>
          <a:ln/>
        </p:spPr>
        <p:txBody>
          <a:bodyPr wrap="square" lIns="0" tIns="0" rIns="0" bIns="0" rtlCol="0" anchor="ctr"/>
          <a:lstStyle/>
          <a:p>
            <a:pPr indent="0" marL="0">
              <a:buNone/>
            </a:pPr>
            <a:r>
              <a:rPr lang="en-US" sz="1600" b="1" dirty="0">
                <a:solidFill>
                  <a:srgbClr val="0B1D3A"/>
                </a:solidFill>
                <a:latin typeface="Arial" pitchFamily="34" charset="0"/>
                <a:ea typeface="Arial" pitchFamily="34" charset="-122"/>
                <a:cs typeface="Arial" pitchFamily="34" charset="-120"/>
              </a:rPr>
              <a:t>Fonctions d'appel API</a:t>
            </a:r>
            <a:endParaRPr lang="en-US" sz="1600" dirty="0"/>
          </a:p>
        </p:txBody>
      </p:sp>
      <p:sp>
        <p:nvSpPr>
          <p:cNvPr id="24" name="Text 22"/>
          <p:cNvSpPr txBox="1"/>
          <p:nvPr/>
        </p:nvSpPr>
        <p:spPr>
          <a:xfrm>
            <a:off x="7955280" y="1965960"/>
            <a:ext cx="3474720" cy="3566160"/>
          </a:xfrm>
          <a:prstGeom prst="rect">
            <a:avLst/>
          </a:prstGeom>
          <a:noFill/>
          <a:ln/>
        </p:spPr>
        <p:txBody>
          <a:bodyPr wrap="square" lIns="50800" tIns="50800" rIns="50800" bIns="50800" rtlCol="0" anchor="t"/>
          <a:lstStyle/>
          <a:p>
            <a:pPr marL="228600" indent="-228600">
              <a:spcAft>
                <a:spcPts val="800"/>
              </a:spcAft>
              <a:buSzPct val="100000"/>
              <a:buChar char="•"/>
            </a:pPr>
            <a:r>
              <a:rPr lang="en-US" sz="1400" dirty="0">
                <a:solidFill>
                  <a:srgbClr val="1F2937"/>
                </a:solidFill>
                <a:latin typeface="Calibri" pitchFamily="34" charset="0"/>
                <a:ea typeface="Calibri" pitchFamily="34" charset="-122"/>
                <a:cs typeface="Calibri" pitchFamily="34" charset="-120"/>
              </a:rPr>
              <a:t>getBoosterVersion() → nom du booster</a:t>
            </a:r>
            <a:endParaRPr lang="en-US" sz="1400" dirty="0"/>
          </a:p>
          <a:p>
            <a:pPr marL="228600" indent="-228600">
              <a:spcAft>
                <a:spcPts val="800"/>
              </a:spcAft>
              <a:buSzPct val="100000"/>
              <a:buChar char="•"/>
            </a:pPr>
            <a:r>
              <a:rPr lang="en-US" sz="1400" dirty="0">
                <a:solidFill>
                  <a:srgbClr val="1F2937"/>
                </a:solidFill>
                <a:latin typeface="Calibri" pitchFamily="34" charset="0"/>
                <a:ea typeface="Calibri" pitchFamily="34" charset="-122"/>
                <a:cs typeface="Calibri" pitchFamily="34" charset="-120"/>
              </a:rPr>
              <a:t>getLaunchSite() → site, latitude, longitude</a:t>
            </a:r>
            <a:endParaRPr lang="en-US" sz="1400" dirty="0"/>
          </a:p>
          <a:p>
            <a:pPr marL="228600" indent="-228600">
              <a:spcAft>
                <a:spcPts val="800"/>
              </a:spcAft>
              <a:buSzPct val="100000"/>
              <a:buChar char="•"/>
            </a:pPr>
            <a:r>
              <a:rPr lang="en-US" sz="1400" dirty="0">
                <a:solidFill>
                  <a:srgbClr val="1F2937"/>
                </a:solidFill>
                <a:latin typeface="Calibri" pitchFamily="34" charset="0"/>
                <a:ea typeface="Calibri" pitchFamily="34" charset="-122"/>
                <a:cs typeface="Calibri" pitchFamily="34" charset="-120"/>
              </a:rPr>
              <a:t>getPayloadData() → masse, orbite</a:t>
            </a:r>
            <a:endParaRPr lang="en-US" sz="1400" dirty="0"/>
          </a:p>
          <a:p>
            <a:pPr marL="228600" indent="-228600">
              <a:spcAft>
                <a:spcPts val="800"/>
              </a:spcAft>
              <a:buSzPct val="100000"/>
              <a:buChar char="•"/>
            </a:pPr>
            <a:r>
              <a:rPr lang="en-US" sz="1400" dirty="0">
                <a:solidFill>
                  <a:srgbClr val="1F2937"/>
                </a:solidFill>
                <a:latin typeface="Calibri" pitchFamily="34" charset="0"/>
                <a:ea typeface="Calibri" pitchFamily="34" charset="-122"/>
                <a:cs typeface="Calibri" pitchFamily="34" charset="-120"/>
              </a:rPr>
              <a:t>getCoreData() → bloc, réutilisations, résultat d'atterrissage, pieds, ailerons</a:t>
            </a:r>
            <a:endParaRPr lang="en-US" sz="1400" dirty="0"/>
          </a:p>
        </p:txBody>
      </p:sp>
      <p:sp>
        <p:nvSpPr>
          <p:cNvPr id="25" name="Text 23"/>
          <p:cNvSpPr txBox="1"/>
          <p:nvPr/>
        </p:nvSpPr>
        <p:spPr>
          <a:xfrm>
            <a:off x="548640" y="5897880"/>
            <a:ext cx="11064240" cy="320040"/>
          </a:xfrm>
          <a:prstGeom prst="rect">
            <a:avLst/>
          </a:prstGeom>
          <a:noFill/>
          <a:ln/>
        </p:spPr>
        <p:txBody>
          <a:bodyPr wrap="square" lIns="0" tIns="0" rIns="0" bIns="0" rtlCol="0" anchor="ctr"/>
          <a:lstStyle/>
          <a:p>
            <a:pPr indent="0" marL="0">
              <a:buNone/>
            </a:pPr>
            <a:r>
              <a:rPr lang="en-US" sz="1200" b="1" dirty="0">
                <a:solidFill>
                  <a:srgbClr val="0B1D3A"/>
                </a:solidFill>
                <a:latin typeface="Calibri" pitchFamily="34" charset="0"/>
                <a:ea typeface="Calibri" pitchFamily="34" charset="-122"/>
                <a:cs typeface="Calibri" pitchFamily="34" charset="-120"/>
              </a:rPr>
              <a:t>GitHub : </a:t>
            </a:r>
            <a:pPr indent="0" marL="0">
              <a:buNone/>
            </a:pPr>
            <a:r>
              <a:rPr lang="en-US" sz="1200" u="sng" dirty="0">
                <a:solidFill>
                  <a:srgbClr val="1D4ED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https://github.com/vanessapenda/Spacex-Capstone/blob/main/jupyter-labs-spacex-data-collection-api.ipynb</a:t>
            </a:r>
            <a:endParaRPr lang="en-US" sz="12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rgbClr val="0B1D3A"/>
                </a:solidFill>
                <a:latin typeface="Arial" pitchFamily="34" charset="0"/>
                <a:ea typeface="Arial" pitchFamily="34" charset="-122"/>
                <a:cs typeface="Arial" pitchFamily="34" charset="-120"/>
              </a:rPr>
              <a:t>Collecte des données — Web scraping</a:t>
            </a:r>
            <a:endParaRPr lang="en-US" sz="3000" dirty="0"/>
          </a:p>
        </p:txBody>
      </p:sp>
      <p:sp>
        <p:nvSpPr>
          <p:cNvPr id="3" name="Shape 1"/>
          <p:cNvSpPr/>
          <p:nvPr/>
        </p:nvSpPr>
        <p:spPr>
          <a:xfrm>
            <a:off x="740664" y="1653540"/>
            <a:ext cx="0" cy="3733800"/>
          </a:xfrm>
          <a:prstGeom prst="line">
            <a:avLst/>
          </a:prstGeom>
          <a:noFill/>
          <a:ln w="25400">
            <a:solidFill>
              <a:srgbClr val="98C1D9"/>
            </a:solidFill>
            <a:prstDash val="solid"/>
          </a:ln>
        </p:spPr>
      </p:sp>
      <p:sp>
        <p:nvSpPr>
          <p:cNvPr id="4" name="Shape 2"/>
          <p:cNvSpPr/>
          <p:nvPr/>
        </p:nvSpPr>
        <p:spPr>
          <a:xfrm>
            <a:off x="548640" y="1461516"/>
            <a:ext cx="384048" cy="384048"/>
          </a:xfrm>
          <a:prstGeom prst="ellipse">
            <a:avLst/>
          </a:prstGeom>
          <a:solidFill>
            <a:srgbClr val="E8590C"/>
          </a:solidFill>
          <a:ln w="12700">
            <a:solidFill>
              <a:srgbClr val="E8590C"/>
            </a:solidFill>
            <a:prstDash val="solid"/>
          </a:ln>
        </p:spPr>
      </p:sp>
      <p:sp>
        <p:nvSpPr>
          <p:cNvPr id="5" name="Text 3"/>
          <p:cNvSpPr txBox="1"/>
          <p:nvPr/>
        </p:nvSpPr>
        <p:spPr>
          <a:xfrm>
            <a:off x="548640" y="146151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6" name="Text 4"/>
          <p:cNvSpPr txBox="1"/>
          <p:nvPr/>
        </p:nvSpPr>
        <p:spPr>
          <a:xfrm>
            <a:off x="1115568" y="1280160"/>
            <a:ext cx="6199632" cy="746760"/>
          </a:xfrm>
          <a:prstGeom prst="rect">
            <a:avLst/>
          </a:prstGeom>
          <a:noFill/>
          <a:ln/>
        </p:spPr>
        <p:txBody>
          <a:bodyPr wrap="square" lIns="25400" tIns="25400" rIns="25400" bIns="25400" rtlCol="0" anchor="ctr"/>
          <a:lstStyle/>
          <a:p>
            <a:pPr indent="0" marL="0">
              <a:buNone/>
            </a:pPr>
            <a:r>
              <a:rPr lang="en-US" sz="1400" b="1" dirty="0">
                <a:solidFill>
                  <a:srgbClr val="0B1D3A"/>
                </a:solidFill>
                <a:latin typeface="Calibri" pitchFamily="34" charset="0"/>
                <a:ea typeface="Calibri" pitchFamily="34" charset="-122"/>
                <a:cs typeface="Calibri" pitchFamily="34" charset="-120"/>
              </a:rPr>
              <a:t>Requête HTTP</a:t>
            </a:r>
            <a:endParaRPr lang="en-US" sz="1400" dirty="0"/>
          </a:p>
          <a:p>
            <a:pPr indent="0" marL="0">
              <a:buNone/>
            </a:pPr>
            <a:r>
              <a:rPr lang="en-US" sz="1300" dirty="0">
                <a:solidFill>
                  <a:srgbClr val="1F2937"/>
                </a:solidFill>
                <a:latin typeface="Calibri" pitchFamily="34" charset="0"/>
                <a:ea typeface="Calibri" pitchFamily="34" charset="-122"/>
                <a:cs typeface="Calibri" pitchFamily="34" charset="-120"/>
              </a:rPr>
              <a:t>requests.get() sur la page Wikipedia « List of Falcon 9 and Falcon Heavy launches » (statut 200)</a:t>
            </a:r>
            <a:endParaRPr lang="en-US" sz="1400" dirty="0"/>
          </a:p>
        </p:txBody>
      </p:sp>
      <p:sp>
        <p:nvSpPr>
          <p:cNvPr id="7" name="Shape 5"/>
          <p:cNvSpPr/>
          <p:nvPr/>
        </p:nvSpPr>
        <p:spPr>
          <a:xfrm>
            <a:off x="548640" y="2208276"/>
            <a:ext cx="384048" cy="384048"/>
          </a:xfrm>
          <a:prstGeom prst="ellipse">
            <a:avLst/>
          </a:prstGeom>
          <a:solidFill>
            <a:srgbClr val="E8590C"/>
          </a:solidFill>
          <a:ln w="12700">
            <a:solidFill>
              <a:srgbClr val="E8590C"/>
            </a:solidFill>
            <a:prstDash val="solid"/>
          </a:ln>
        </p:spPr>
      </p:sp>
      <p:sp>
        <p:nvSpPr>
          <p:cNvPr id="8" name="Text 6"/>
          <p:cNvSpPr txBox="1"/>
          <p:nvPr/>
        </p:nvSpPr>
        <p:spPr>
          <a:xfrm>
            <a:off x="548640" y="220827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9" name="Text 7"/>
          <p:cNvSpPr txBox="1"/>
          <p:nvPr/>
        </p:nvSpPr>
        <p:spPr>
          <a:xfrm>
            <a:off x="1115568" y="2026920"/>
            <a:ext cx="6199632" cy="746760"/>
          </a:xfrm>
          <a:prstGeom prst="rect">
            <a:avLst/>
          </a:prstGeom>
          <a:noFill/>
          <a:ln/>
        </p:spPr>
        <p:txBody>
          <a:bodyPr wrap="square" lIns="25400" tIns="25400" rIns="25400" bIns="25400" rtlCol="0" anchor="ctr"/>
          <a:lstStyle/>
          <a:p>
            <a:pPr indent="0" marL="0">
              <a:buNone/>
            </a:pPr>
            <a:r>
              <a:rPr lang="en-US" sz="1400" b="1" dirty="0">
                <a:solidFill>
                  <a:srgbClr val="0B1D3A"/>
                </a:solidFill>
                <a:latin typeface="Calibri" pitchFamily="34" charset="0"/>
                <a:ea typeface="Calibri" pitchFamily="34" charset="-122"/>
                <a:cs typeface="Calibri" pitchFamily="34" charset="-120"/>
              </a:rPr>
              <a:t>Analyse HTML</a:t>
            </a:r>
            <a:endParaRPr lang="en-US" sz="1400" dirty="0"/>
          </a:p>
          <a:p>
            <a:pPr indent="0" marL="0">
              <a:buNone/>
            </a:pPr>
            <a:r>
              <a:rPr lang="en-US" sz="1300" dirty="0">
                <a:solidFill>
                  <a:srgbClr val="1F2937"/>
                </a:solidFill>
                <a:latin typeface="Calibri" pitchFamily="34" charset="0"/>
                <a:ea typeface="Calibri" pitchFamily="34" charset="-122"/>
                <a:cs typeface="Calibri" pitchFamily="34" charset="-120"/>
              </a:rPr>
              <a:t>création d'un objet BeautifulSoup</a:t>
            </a:r>
            <a:endParaRPr lang="en-US" sz="1400" dirty="0"/>
          </a:p>
        </p:txBody>
      </p:sp>
      <p:sp>
        <p:nvSpPr>
          <p:cNvPr id="10" name="Shape 8"/>
          <p:cNvSpPr/>
          <p:nvPr/>
        </p:nvSpPr>
        <p:spPr>
          <a:xfrm>
            <a:off x="548640" y="2955036"/>
            <a:ext cx="384048" cy="384048"/>
          </a:xfrm>
          <a:prstGeom prst="ellipse">
            <a:avLst/>
          </a:prstGeom>
          <a:solidFill>
            <a:srgbClr val="E8590C"/>
          </a:solidFill>
          <a:ln w="12700">
            <a:solidFill>
              <a:srgbClr val="E8590C"/>
            </a:solidFill>
            <a:prstDash val="solid"/>
          </a:ln>
        </p:spPr>
      </p:sp>
      <p:sp>
        <p:nvSpPr>
          <p:cNvPr id="11" name="Text 9"/>
          <p:cNvSpPr txBox="1"/>
          <p:nvPr/>
        </p:nvSpPr>
        <p:spPr>
          <a:xfrm>
            <a:off x="548640" y="295503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2" name="Text 10"/>
          <p:cNvSpPr txBox="1"/>
          <p:nvPr/>
        </p:nvSpPr>
        <p:spPr>
          <a:xfrm>
            <a:off x="1115568" y="2773680"/>
            <a:ext cx="6199632" cy="746760"/>
          </a:xfrm>
          <a:prstGeom prst="rect">
            <a:avLst/>
          </a:prstGeom>
          <a:noFill/>
          <a:ln/>
        </p:spPr>
        <p:txBody>
          <a:bodyPr wrap="square" lIns="25400" tIns="25400" rIns="25400" bIns="25400" rtlCol="0" anchor="ctr"/>
          <a:lstStyle/>
          <a:p>
            <a:pPr indent="0" marL="0">
              <a:buNone/>
            </a:pPr>
            <a:r>
              <a:rPr lang="en-US" sz="1400" b="1" dirty="0">
                <a:solidFill>
                  <a:srgbClr val="0B1D3A"/>
                </a:solidFill>
                <a:latin typeface="Calibri" pitchFamily="34" charset="0"/>
                <a:ea typeface="Calibri" pitchFamily="34" charset="-122"/>
                <a:cs typeface="Calibri" pitchFamily="34" charset="-120"/>
              </a:rPr>
              <a:t>Sélection des tableaux</a:t>
            </a:r>
            <a:endParaRPr lang="en-US" sz="1400" dirty="0"/>
          </a:p>
          <a:p>
            <a:pPr indent="0" marL="0">
              <a:buNone/>
            </a:pPr>
            <a:r>
              <a:rPr lang="en-US" sz="1300" dirty="0">
                <a:solidFill>
                  <a:srgbClr val="1F2937"/>
                </a:solidFill>
                <a:latin typeface="Calibri" pitchFamily="34" charset="0"/>
                <a:ea typeface="Calibri" pitchFamily="34" charset="-122"/>
                <a:cs typeface="Calibri" pitchFamily="34" charset="-120"/>
              </a:rPr>
              <a:t>soup.find_all('table') et choix du tableau des lancements</a:t>
            </a:r>
            <a:endParaRPr lang="en-US" sz="1400" dirty="0"/>
          </a:p>
        </p:txBody>
      </p:sp>
      <p:sp>
        <p:nvSpPr>
          <p:cNvPr id="13" name="Shape 11"/>
          <p:cNvSpPr/>
          <p:nvPr/>
        </p:nvSpPr>
        <p:spPr>
          <a:xfrm>
            <a:off x="548640" y="3701796"/>
            <a:ext cx="384048" cy="384048"/>
          </a:xfrm>
          <a:prstGeom prst="ellipse">
            <a:avLst/>
          </a:prstGeom>
          <a:solidFill>
            <a:srgbClr val="E8590C"/>
          </a:solidFill>
          <a:ln w="12700">
            <a:solidFill>
              <a:srgbClr val="E8590C"/>
            </a:solidFill>
            <a:prstDash val="solid"/>
          </a:ln>
        </p:spPr>
      </p:sp>
      <p:sp>
        <p:nvSpPr>
          <p:cNvPr id="14" name="Text 12"/>
          <p:cNvSpPr txBox="1"/>
          <p:nvPr/>
        </p:nvSpPr>
        <p:spPr>
          <a:xfrm>
            <a:off x="548640" y="370179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5" name="Text 13"/>
          <p:cNvSpPr txBox="1"/>
          <p:nvPr/>
        </p:nvSpPr>
        <p:spPr>
          <a:xfrm>
            <a:off x="1115568" y="3520440"/>
            <a:ext cx="6199632" cy="746760"/>
          </a:xfrm>
          <a:prstGeom prst="rect">
            <a:avLst/>
          </a:prstGeom>
          <a:noFill/>
          <a:ln/>
        </p:spPr>
        <p:txBody>
          <a:bodyPr wrap="square" lIns="25400" tIns="25400" rIns="25400" bIns="25400" rtlCol="0" anchor="ctr"/>
          <a:lstStyle/>
          <a:p>
            <a:pPr indent="0" marL="0">
              <a:buNone/>
            </a:pPr>
            <a:r>
              <a:rPr lang="en-US" sz="1400" b="1" dirty="0">
                <a:solidFill>
                  <a:srgbClr val="0B1D3A"/>
                </a:solidFill>
                <a:latin typeface="Calibri" pitchFamily="34" charset="0"/>
                <a:ea typeface="Calibri" pitchFamily="34" charset="-122"/>
                <a:cs typeface="Calibri" pitchFamily="34" charset="-120"/>
              </a:rPr>
              <a:t>Noms de colonnes</a:t>
            </a:r>
            <a:endParaRPr lang="en-US" sz="1400" dirty="0"/>
          </a:p>
          <a:p>
            <a:pPr indent="0" marL="0">
              <a:buNone/>
            </a:pPr>
            <a:r>
              <a:rPr lang="en-US" sz="1300" dirty="0">
                <a:solidFill>
                  <a:srgbClr val="1F2937"/>
                </a:solidFill>
                <a:latin typeface="Calibri" pitchFamily="34" charset="0"/>
                <a:ea typeface="Calibri" pitchFamily="34" charset="-122"/>
                <a:cs typeface="Calibri" pitchFamily="34" charset="-120"/>
              </a:rPr>
              <a:t>extraction des en-têtes &lt;th&gt;</a:t>
            </a:r>
            <a:endParaRPr lang="en-US" sz="1400" dirty="0"/>
          </a:p>
        </p:txBody>
      </p:sp>
      <p:sp>
        <p:nvSpPr>
          <p:cNvPr id="16" name="Shape 14"/>
          <p:cNvSpPr/>
          <p:nvPr/>
        </p:nvSpPr>
        <p:spPr>
          <a:xfrm>
            <a:off x="548640" y="4448556"/>
            <a:ext cx="384048" cy="384048"/>
          </a:xfrm>
          <a:prstGeom prst="ellipse">
            <a:avLst/>
          </a:prstGeom>
          <a:solidFill>
            <a:srgbClr val="E8590C"/>
          </a:solidFill>
          <a:ln w="12700">
            <a:solidFill>
              <a:srgbClr val="E8590C"/>
            </a:solidFill>
            <a:prstDash val="solid"/>
          </a:ln>
        </p:spPr>
      </p:sp>
      <p:sp>
        <p:nvSpPr>
          <p:cNvPr id="17" name="Text 15"/>
          <p:cNvSpPr txBox="1"/>
          <p:nvPr/>
        </p:nvSpPr>
        <p:spPr>
          <a:xfrm>
            <a:off x="548640" y="444855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18" name="Text 16"/>
          <p:cNvSpPr txBox="1"/>
          <p:nvPr/>
        </p:nvSpPr>
        <p:spPr>
          <a:xfrm>
            <a:off x="1115568" y="4267200"/>
            <a:ext cx="6199632" cy="746760"/>
          </a:xfrm>
          <a:prstGeom prst="rect">
            <a:avLst/>
          </a:prstGeom>
          <a:noFill/>
          <a:ln/>
        </p:spPr>
        <p:txBody>
          <a:bodyPr wrap="square" lIns="25400" tIns="25400" rIns="25400" bIns="25400" rtlCol="0" anchor="ctr"/>
          <a:lstStyle/>
          <a:p>
            <a:pPr indent="0" marL="0">
              <a:buNone/>
            </a:pPr>
            <a:r>
              <a:rPr lang="en-US" sz="1400" b="1" dirty="0">
                <a:solidFill>
                  <a:srgbClr val="0B1D3A"/>
                </a:solidFill>
                <a:latin typeface="Calibri" pitchFamily="34" charset="0"/>
                <a:ea typeface="Calibri" pitchFamily="34" charset="-122"/>
                <a:cs typeface="Calibri" pitchFamily="34" charset="-120"/>
              </a:rPr>
              <a:t>Remplissage</a:t>
            </a:r>
            <a:endParaRPr lang="en-US" sz="1400" dirty="0"/>
          </a:p>
          <a:p>
            <a:pPr indent="0" marL="0">
              <a:buNone/>
            </a:pPr>
            <a:r>
              <a:rPr lang="en-US" sz="1300" dirty="0">
                <a:solidFill>
                  <a:srgbClr val="1F2937"/>
                </a:solidFill>
                <a:latin typeface="Calibri" pitchFamily="34" charset="0"/>
                <a:ea typeface="Calibri" pitchFamily="34" charset="-122"/>
                <a:cs typeface="Calibri" pitchFamily="34" charset="-120"/>
              </a:rPr>
              <a:t>parcours de chaque ligne &lt;tr&gt; et ajout dans un dictionnaire</a:t>
            </a:r>
            <a:endParaRPr lang="en-US" sz="1400" dirty="0"/>
          </a:p>
        </p:txBody>
      </p:sp>
      <p:sp>
        <p:nvSpPr>
          <p:cNvPr id="19" name="Shape 17"/>
          <p:cNvSpPr/>
          <p:nvPr/>
        </p:nvSpPr>
        <p:spPr>
          <a:xfrm>
            <a:off x="548640" y="5195316"/>
            <a:ext cx="384048" cy="384048"/>
          </a:xfrm>
          <a:prstGeom prst="ellipse">
            <a:avLst/>
          </a:prstGeom>
          <a:solidFill>
            <a:srgbClr val="E8590C"/>
          </a:solidFill>
          <a:ln w="12700">
            <a:solidFill>
              <a:srgbClr val="E8590C"/>
            </a:solidFill>
            <a:prstDash val="solid"/>
          </a:ln>
        </p:spPr>
      </p:sp>
      <p:sp>
        <p:nvSpPr>
          <p:cNvPr id="20" name="Text 18"/>
          <p:cNvSpPr txBox="1"/>
          <p:nvPr/>
        </p:nvSpPr>
        <p:spPr>
          <a:xfrm>
            <a:off x="548640" y="519531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1" name="Text 19"/>
          <p:cNvSpPr txBox="1"/>
          <p:nvPr/>
        </p:nvSpPr>
        <p:spPr>
          <a:xfrm>
            <a:off x="1115568" y="5013960"/>
            <a:ext cx="6199632" cy="746760"/>
          </a:xfrm>
          <a:prstGeom prst="rect">
            <a:avLst/>
          </a:prstGeom>
          <a:noFill/>
          <a:ln/>
        </p:spPr>
        <p:txBody>
          <a:bodyPr wrap="square" lIns="25400" tIns="25400" rIns="25400" bIns="25400" rtlCol="0" anchor="ctr"/>
          <a:lstStyle/>
          <a:p>
            <a:pPr indent="0" marL="0">
              <a:buNone/>
            </a:pPr>
            <a:r>
              <a:rPr lang="en-US" sz="1400" b="1" dirty="0">
                <a:solidFill>
                  <a:srgbClr val="0B1D3A"/>
                </a:solidFill>
                <a:latin typeface="Calibri" pitchFamily="34" charset="0"/>
                <a:ea typeface="Calibri" pitchFamily="34" charset="-122"/>
                <a:cs typeface="Calibri" pitchFamily="34" charset="-120"/>
              </a:rPr>
              <a:t>Export</a:t>
            </a:r>
            <a:endParaRPr lang="en-US" sz="1400" dirty="0"/>
          </a:p>
          <a:p>
            <a:pPr indent="0" marL="0">
              <a:buNone/>
            </a:pPr>
            <a:r>
              <a:rPr lang="en-US" sz="1300" dirty="0">
                <a:solidFill>
                  <a:srgbClr val="1F2937"/>
                </a:solidFill>
                <a:latin typeface="Calibri" pitchFamily="34" charset="0"/>
                <a:ea typeface="Calibri" pitchFamily="34" charset="-122"/>
                <a:cs typeface="Calibri" pitchFamily="34" charset="-120"/>
              </a:rPr>
              <a:t>conversion en DataFrame puis enregistrement en CSV</a:t>
            </a:r>
            <a:endParaRPr lang="en-US" sz="1400" dirty="0"/>
          </a:p>
        </p:txBody>
      </p:sp>
      <p:sp>
        <p:nvSpPr>
          <p:cNvPr id="22" name="Shape 20"/>
          <p:cNvSpPr/>
          <p:nvPr/>
        </p:nvSpPr>
        <p:spPr>
          <a:xfrm>
            <a:off x="7772400" y="1371600"/>
            <a:ext cx="3840480" cy="4297680"/>
          </a:xfrm>
          <a:prstGeom prst="roundRect">
            <a:avLst>
              <a:gd name="adj" fmla="val 1905"/>
            </a:avLst>
          </a:prstGeom>
          <a:solidFill>
            <a:srgbClr val="EEF2F7"/>
          </a:solidFill>
          <a:ln w="12700">
            <a:solidFill>
              <a:srgbClr val="EEF2F7"/>
            </a:solidFill>
            <a:prstDash val="solid"/>
          </a:ln>
        </p:spPr>
      </p:sp>
      <p:sp>
        <p:nvSpPr>
          <p:cNvPr id="23" name="Text 21"/>
          <p:cNvSpPr txBox="1"/>
          <p:nvPr/>
        </p:nvSpPr>
        <p:spPr>
          <a:xfrm>
            <a:off x="8046720" y="1554480"/>
            <a:ext cx="3291840" cy="731520"/>
          </a:xfrm>
          <a:prstGeom prst="rect">
            <a:avLst/>
          </a:prstGeom>
          <a:noFill/>
          <a:ln/>
        </p:spPr>
        <p:txBody>
          <a:bodyPr wrap="square" lIns="0" tIns="0" rIns="0" bIns="0" rtlCol="0" anchor="b"/>
          <a:lstStyle/>
          <a:p>
            <a:pPr indent="0" marL="0">
              <a:buNone/>
            </a:pPr>
            <a:r>
              <a:rPr lang="en-US" sz="3600" b="1" dirty="0">
                <a:solidFill>
                  <a:srgbClr val="E8590C"/>
                </a:solidFill>
                <a:latin typeface="Arial" pitchFamily="34" charset="0"/>
                <a:ea typeface="Arial" pitchFamily="34" charset="-122"/>
                <a:cs typeface="Arial" pitchFamily="34" charset="-120"/>
              </a:rPr>
              <a:t>121</a:t>
            </a:r>
            <a:endParaRPr lang="en-US" sz="3600" dirty="0"/>
          </a:p>
        </p:txBody>
      </p:sp>
      <p:sp>
        <p:nvSpPr>
          <p:cNvPr id="24" name="Text 22"/>
          <p:cNvSpPr txBox="1"/>
          <p:nvPr/>
        </p:nvSpPr>
        <p:spPr>
          <a:xfrm>
            <a:off x="8046720" y="2304288"/>
            <a:ext cx="3291840" cy="54864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lancements extraits</a:t>
            </a:r>
            <a:endParaRPr lang="en-US" sz="1300" dirty="0"/>
          </a:p>
        </p:txBody>
      </p:sp>
      <p:sp>
        <p:nvSpPr>
          <p:cNvPr id="25" name="Text 23"/>
          <p:cNvSpPr txBox="1"/>
          <p:nvPr/>
        </p:nvSpPr>
        <p:spPr>
          <a:xfrm>
            <a:off x="8046720" y="3017520"/>
            <a:ext cx="3291840" cy="731520"/>
          </a:xfrm>
          <a:prstGeom prst="rect">
            <a:avLst/>
          </a:prstGeom>
          <a:noFill/>
          <a:ln/>
        </p:spPr>
        <p:txBody>
          <a:bodyPr wrap="square" lIns="0" tIns="0" rIns="0" bIns="0" rtlCol="0" anchor="b"/>
          <a:lstStyle/>
          <a:p>
            <a:pPr indent="0" marL="0">
              <a:buNone/>
            </a:pPr>
            <a:r>
              <a:rPr lang="en-US" sz="3600" b="1" dirty="0">
                <a:solidFill>
                  <a:srgbClr val="E8590C"/>
                </a:solidFill>
                <a:latin typeface="Arial" pitchFamily="34" charset="0"/>
                <a:ea typeface="Arial" pitchFamily="34" charset="-122"/>
                <a:cs typeface="Arial" pitchFamily="34" charset="-120"/>
              </a:rPr>
              <a:t>8</a:t>
            </a:r>
            <a:endParaRPr lang="en-US" sz="3600" dirty="0"/>
          </a:p>
        </p:txBody>
      </p:sp>
      <p:sp>
        <p:nvSpPr>
          <p:cNvPr id="26" name="Text 24"/>
          <p:cNvSpPr txBox="1"/>
          <p:nvPr/>
        </p:nvSpPr>
        <p:spPr>
          <a:xfrm>
            <a:off x="8046720" y="3767328"/>
            <a:ext cx="3291840" cy="54864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colonnes : Flight No., Date, Launch site, Payload, Payload mass, Orbit, Customer, Launch outcome</a:t>
            </a:r>
            <a:endParaRPr lang="en-US" sz="1300" dirty="0"/>
          </a:p>
        </p:txBody>
      </p:sp>
      <p:sp>
        <p:nvSpPr>
          <p:cNvPr id="27" name="Text 25"/>
          <p:cNvSpPr txBox="1"/>
          <p:nvPr/>
        </p:nvSpPr>
        <p:spPr>
          <a:xfrm>
            <a:off x="548640" y="5897880"/>
            <a:ext cx="11064240" cy="320040"/>
          </a:xfrm>
          <a:prstGeom prst="rect">
            <a:avLst/>
          </a:prstGeom>
          <a:noFill/>
          <a:ln/>
        </p:spPr>
        <p:txBody>
          <a:bodyPr wrap="square" lIns="0" tIns="0" rIns="0" bIns="0" rtlCol="0" anchor="ctr"/>
          <a:lstStyle/>
          <a:p>
            <a:pPr indent="0" marL="0">
              <a:buNone/>
            </a:pPr>
            <a:r>
              <a:rPr lang="en-US" sz="1200" b="1" dirty="0">
                <a:solidFill>
                  <a:srgbClr val="0B1D3A"/>
                </a:solidFill>
                <a:latin typeface="Calibri" pitchFamily="34" charset="0"/>
                <a:ea typeface="Calibri" pitchFamily="34" charset="-122"/>
                <a:cs typeface="Calibri" pitchFamily="34" charset="-120"/>
              </a:rPr>
              <a:t>GitHub : </a:t>
            </a:r>
            <a:pPr indent="0" marL="0">
              <a:buNone/>
            </a:pPr>
            <a:r>
              <a:rPr lang="en-US" sz="1200" u="sng" dirty="0">
                <a:solidFill>
                  <a:srgbClr val="1D4ED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https://github.com/vanessapenda/Spacex-Capstone/blob/main/jupyter-labs-webscraping.ipynb</a:t>
            </a:r>
            <a:endParaRPr lang="en-US" sz="12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rgbClr val="0B1D3A"/>
                </a:solidFill>
                <a:latin typeface="Arial" pitchFamily="34" charset="0"/>
                <a:ea typeface="Arial" pitchFamily="34" charset="-122"/>
                <a:cs typeface="Arial" pitchFamily="34" charset="-120"/>
              </a:rPr>
              <a:t>Préparation des données (data wrangling)</a:t>
            </a:r>
            <a:endParaRPr lang="en-US" sz="3000" dirty="0"/>
          </a:p>
        </p:txBody>
      </p:sp>
      <p:sp>
        <p:nvSpPr>
          <p:cNvPr id="3" name="Shape 1"/>
          <p:cNvSpPr/>
          <p:nvPr/>
        </p:nvSpPr>
        <p:spPr>
          <a:xfrm>
            <a:off x="740664" y="1728216"/>
            <a:ext cx="0" cy="3584448"/>
          </a:xfrm>
          <a:prstGeom prst="line">
            <a:avLst/>
          </a:prstGeom>
          <a:noFill/>
          <a:ln w="25400">
            <a:solidFill>
              <a:srgbClr val="98C1D9"/>
            </a:solidFill>
            <a:prstDash val="solid"/>
          </a:ln>
        </p:spPr>
      </p:sp>
      <p:sp>
        <p:nvSpPr>
          <p:cNvPr id="4" name="Shape 2"/>
          <p:cNvSpPr/>
          <p:nvPr/>
        </p:nvSpPr>
        <p:spPr>
          <a:xfrm>
            <a:off x="548640" y="1536192"/>
            <a:ext cx="384048" cy="384048"/>
          </a:xfrm>
          <a:prstGeom prst="ellipse">
            <a:avLst/>
          </a:prstGeom>
          <a:solidFill>
            <a:srgbClr val="E8590C"/>
          </a:solidFill>
          <a:ln w="12700">
            <a:solidFill>
              <a:srgbClr val="E8590C"/>
            </a:solidFill>
            <a:prstDash val="solid"/>
          </a:ln>
        </p:spPr>
      </p:sp>
      <p:sp>
        <p:nvSpPr>
          <p:cNvPr id="5" name="Text 3"/>
          <p:cNvSpPr txBox="1"/>
          <p:nvPr/>
        </p:nvSpPr>
        <p:spPr>
          <a:xfrm>
            <a:off x="548640" y="153619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6" name="Text 4"/>
          <p:cNvSpPr txBox="1"/>
          <p:nvPr/>
        </p:nvSpPr>
        <p:spPr>
          <a:xfrm>
            <a:off x="1115568" y="1280160"/>
            <a:ext cx="5468112" cy="896112"/>
          </a:xfrm>
          <a:prstGeom prst="rect">
            <a:avLst/>
          </a:prstGeom>
          <a:noFill/>
          <a:ln/>
        </p:spPr>
        <p:txBody>
          <a:bodyPr wrap="square" lIns="25400" tIns="25400" rIns="25400" bIns="25400" rtlCol="0" anchor="ctr"/>
          <a:lstStyle/>
          <a:p>
            <a:pPr indent="0" marL="0">
              <a:buNone/>
            </a:pPr>
            <a:r>
              <a:rPr lang="en-US" sz="1400" b="1" dirty="0">
                <a:solidFill>
                  <a:srgbClr val="0B1D3A"/>
                </a:solidFill>
                <a:latin typeface="Calibri" pitchFamily="34" charset="0"/>
                <a:ea typeface="Calibri" pitchFamily="34" charset="-122"/>
                <a:cs typeface="Calibri" pitchFamily="34" charset="-120"/>
              </a:rPr>
              <a:t>Valeurs manquantes</a:t>
            </a:r>
            <a:endParaRPr lang="en-US" sz="1400" dirty="0"/>
          </a:p>
          <a:p>
            <a:pPr indent="0" marL="0">
              <a:buNone/>
            </a:pPr>
            <a:r>
              <a:rPr lang="en-US" sz="1300" dirty="0">
                <a:solidFill>
                  <a:srgbClr val="1F2937"/>
                </a:solidFill>
                <a:latin typeface="Calibri" pitchFamily="34" charset="0"/>
                <a:ea typeface="Calibri" pitchFamily="34" charset="-122"/>
                <a:cs typeface="Calibri" pitchFamily="34" charset="-120"/>
              </a:rPr>
              <a:t>calcul du pourcentage de valeurs nulles par colonne</a:t>
            </a:r>
            <a:endParaRPr lang="en-US" sz="1400" dirty="0"/>
          </a:p>
        </p:txBody>
      </p:sp>
      <p:sp>
        <p:nvSpPr>
          <p:cNvPr id="7" name="Shape 5"/>
          <p:cNvSpPr/>
          <p:nvPr/>
        </p:nvSpPr>
        <p:spPr>
          <a:xfrm>
            <a:off x="548640" y="2432304"/>
            <a:ext cx="384048" cy="384048"/>
          </a:xfrm>
          <a:prstGeom prst="ellipse">
            <a:avLst/>
          </a:prstGeom>
          <a:solidFill>
            <a:srgbClr val="E8590C"/>
          </a:solidFill>
          <a:ln w="12700">
            <a:solidFill>
              <a:srgbClr val="E8590C"/>
            </a:solidFill>
            <a:prstDash val="solid"/>
          </a:ln>
        </p:spPr>
      </p:sp>
      <p:sp>
        <p:nvSpPr>
          <p:cNvPr id="8" name="Text 6"/>
          <p:cNvSpPr txBox="1"/>
          <p:nvPr/>
        </p:nvSpPr>
        <p:spPr>
          <a:xfrm>
            <a:off x="548640" y="243230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9" name="Text 7"/>
          <p:cNvSpPr txBox="1"/>
          <p:nvPr/>
        </p:nvSpPr>
        <p:spPr>
          <a:xfrm>
            <a:off x="1115568" y="2176272"/>
            <a:ext cx="5468112" cy="896112"/>
          </a:xfrm>
          <a:prstGeom prst="rect">
            <a:avLst/>
          </a:prstGeom>
          <a:noFill/>
          <a:ln/>
        </p:spPr>
        <p:txBody>
          <a:bodyPr wrap="square" lIns="25400" tIns="25400" rIns="25400" bIns="25400" rtlCol="0" anchor="ctr"/>
          <a:lstStyle/>
          <a:p>
            <a:pPr indent="0" marL="0">
              <a:buNone/>
            </a:pPr>
            <a:r>
              <a:rPr lang="en-US" sz="1400" b="1" dirty="0">
                <a:solidFill>
                  <a:srgbClr val="0B1D3A"/>
                </a:solidFill>
                <a:latin typeface="Calibri" pitchFamily="34" charset="0"/>
                <a:ea typeface="Calibri" pitchFamily="34" charset="-122"/>
                <a:cs typeface="Calibri" pitchFamily="34" charset="-120"/>
              </a:rPr>
              <a:t>Exploration</a:t>
            </a:r>
            <a:endParaRPr lang="en-US" sz="1400" dirty="0"/>
          </a:p>
          <a:p>
            <a:pPr indent="0" marL="0">
              <a:buNone/>
            </a:pPr>
            <a:r>
              <a:rPr lang="en-US" sz="1300" dirty="0">
                <a:solidFill>
                  <a:srgbClr val="1F2937"/>
                </a:solidFill>
                <a:latin typeface="Calibri" pitchFamily="34" charset="0"/>
                <a:ea typeface="Calibri" pitchFamily="34" charset="-122"/>
                <a:cs typeface="Calibri" pitchFamily="34" charset="-120"/>
              </a:rPr>
              <a:t>lancements par site, par orbite, et types de résultats d'atterrissage</a:t>
            </a:r>
            <a:endParaRPr lang="en-US" sz="1400" dirty="0"/>
          </a:p>
        </p:txBody>
      </p:sp>
      <p:sp>
        <p:nvSpPr>
          <p:cNvPr id="10" name="Shape 8"/>
          <p:cNvSpPr/>
          <p:nvPr/>
        </p:nvSpPr>
        <p:spPr>
          <a:xfrm>
            <a:off x="548640" y="3328416"/>
            <a:ext cx="384048" cy="384048"/>
          </a:xfrm>
          <a:prstGeom prst="ellipse">
            <a:avLst/>
          </a:prstGeom>
          <a:solidFill>
            <a:srgbClr val="E8590C"/>
          </a:solidFill>
          <a:ln w="12700">
            <a:solidFill>
              <a:srgbClr val="E8590C"/>
            </a:solidFill>
            <a:prstDash val="solid"/>
          </a:ln>
        </p:spPr>
      </p:sp>
      <p:sp>
        <p:nvSpPr>
          <p:cNvPr id="11" name="Text 9"/>
          <p:cNvSpPr txBox="1"/>
          <p:nvPr/>
        </p:nvSpPr>
        <p:spPr>
          <a:xfrm>
            <a:off x="548640" y="332841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2" name="Text 10"/>
          <p:cNvSpPr txBox="1"/>
          <p:nvPr/>
        </p:nvSpPr>
        <p:spPr>
          <a:xfrm>
            <a:off x="1115568" y="3072384"/>
            <a:ext cx="5468112" cy="896112"/>
          </a:xfrm>
          <a:prstGeom prst="rect">
            <a:avLst/>
          </a:prstGeom>
          <a:noFill/>
          <a:ln/>
        </p:spPr>
        <p:txBody>
          <a:bodyPr wrap="square" lIns="25400" tIns="25400" rIns="25400" bIns="25400" rtlCol="0" anchor="ctr"/>
          <a:lstStyle/>
          <a:p>
            <a:pPr indent="0" marL="0">
              <a:buNone/>
            </a:pPr>
            <a:r>
              <a:rPr lang="en-US" sz="1400" b="1" dirty="0">
                <a:solidFill>
                  <a:srgbClr val="0B1D3A"/>
                </a:solidFill>
                <a:latin typeface="Calibri" pitchFamily="34" charset="0"/>
                <a:ea typeface="Calibri" pitchFamily="34" charset="-122"/>
                <a:cs typeface="Calibri" pitchFamily="34" charset="-120"/>
              </a:rPr>
              <a:t>Mauvais résultats</a:t>
            </a:r>
            <a:endParaRPr lang="en-US" sz="1400" dirty="0"/>
          </a:p>
          <a:p>
            <a:pPr indent="0" marL="0">
              <a:buNone/>
            </a:pPr>
            <a:r>
              <a:rPr lang="en-US" sz="1300" dirty="0">
                <a:solidFill>
                  <a:srgbClr val="1F2937"/>
                </a:solidFill>
                <a:latin typeface="Calibri" pitchFamily="34" charset="0"/>
                <a:ea typeface="Calibri" pitchFamily="34" charset="-122"/>
                <a:cs typeface="Calibri" pitchFamily="34" charset="-120"/>
              </a:rPr>
              <a:t>False ASDS, False Ocean, False RTLS, None ASDS, None None</a:t>
            </a:r>
            <a:endParaRPr lang="en-US" sz="1400" dirty="0"/>
          </a:p>
        </p:txBody>
      </p:sp>
      <p:sp>
        <p:nvSpPr>
          <p:cNvPr id="13" name="Shape 11"/>
          <p:cNvSpPr/>
          <p:nvPr/>
        </p:nvSpPr>
        <p:spPr>
          <a:xfrm>
            <a:off x="548640" y="4224528"/>
            <a:ext cx="384048" cy="384048"/>
          </a:xfrm>
          <a:prstGeom prst="ellipse">
            <a:avLst/>
          </a:prstGeom>
          <a:solidFill>
            <a:srgbClr val="E8590C"/>
          </a:solidFill>
          <a:ln w="12700">
            <a:solidFill>
              <a:srgbClr val="E8590C"/>
            </a:solidFill>
            <a:prstDash val="solid"/>
          </a:ln>
        </p:spPr>
      </p:sp>
      <p:sp>
        <p:nvSpPr>
          <p:cNvPr id="14" name="Text 12"/>
          <p:cNvSpPr txBox="1"/>
          <p:nvPr/>
        </p:nvSpPr>
        <p:spPr>
          <a:xfrm>
            <a:off x="548640" y="4224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5" name="Text 13"/>
          <p:cNvSpPr txBox="1"/>
          <p:nvPr/>
        </p:nvSpPr>
        <p:spPr>
          <a:xfrm>
            <a:off x="1115568" y="3968496"/>
            <a:ext cx="5468112" cy="896112"/>
          </a:xfrm>
          <a:prstGeom prst="rect">
            <a:avLst/>
          </a:prstGeom>
          <a:noFill/>
          <a:ln/>
        </p:spPr>
        <p:txBody>
          <a:bodyPr wrap="square" lIns="25400" tIns="25400" rIns="25400" bIns="25400" rtlCol="0" anchor="ctr"/>
          <a:lstStyle/>
          <a:p>
            <a:pPr indent="0" marL="0">
              <a:buNone/>
            </a:pPr>
            <a:r>
              <a:rPr lang="en-US" sz="1400" b="1" dirty="0">
                <a:solidFill>
                  <a:srgbClr val="0B1D3A"/>
                </a:solidFill>
                <a:latin typeface="Calibri" pitchFamily="34" charset="0"/>
                <a:ea typeface="Calibri" pitchFamily="34" charset="-122"/>
                <a:cs typeface="Calibri" pitchFamily="34" charset="-120"/>
              </a:rPr>
              <a:t>Variable cible</a:t>
            </a:r>
            <a:endParaRPr lang="en-US" sz="1400" dirty="0"/>
          </a:p>
          <a:p>
            <a:pPr indent="0" marL="0">
              <a:buNone/>
            </a:pPr>
            <a:r>
              <a:rPr lang="en-US" sz="1300" dirty="0">
                <a:solidFill>
                  <a:srgbClr val="1F2937"/>
                </a:solidFill>
                <a:latin typeface="Calibri" pitchFamily="34" charset="0"/>
                <a:ea typeface="Calibri" pitchFamily="34" charset="-122"/>
                <a:cs typeface="Calibri" pitchFamily="34" charset="-120"/>
              </a:rPr>
              <a:t>Class = 0 si mauvais résultat, sinon 1</a:t>
            </a:r>
            <a:endParaRPr lang="en-US" sz="1400" dirty="0"/>
          </a:p>
        </p:txBody>
      </p:sp>
      <p:sp>
        <p:nvSpPr>
          <p:cNvPr id="16" name="Shape 14"/>
          <p:cNvSpPr/>
          <p:nvPr/>
        </p:nvSpPr>
        <p:spPr>
          <a:xfrm>
            <a:off x="548640" y="5120640"/>
            <a:ext cx="384048" cy="384048"/>
          </a:xfrm>
          <a:prstGeom prst="ellipse">
            <a:avLst/>
          </a:prstGeom>
          <a:solidFill>
            <a:srgbClr val="E8590C"/>
          </a:solidFill>
          <a:ln w="12700">
            <a:solidFill>
              <a:srgbClr val="E8590C"/>
            </a:solidFill>
            <a:prstDash val="solid"/>
          </a:ln>
        </p:spPr>
      </p:sp>
      <p:sp>
        <p:nvSpPr>
          <p:cNvPr id="17" name="Text 15"/>
          <p:cNvSpPr txBox="1"/>
          <p:nvPr/>
        </p:nvSpPr>
        <p:spPr>
          <a:xfrm>
            <a:off x="548640" y="51206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18" name="Text 16"/>
          <p:cNvSpPr txBox="1"/>
          <p:nvPr/>
        </p:nvSpPr>
        <p:spPr>
          <a:xfrm>
            <a:off x="1115568" y="4864608"/>
            <a:ext cx="5468112" cy="896112"/>
          </a:xfrm>
          <a:prstGeom prst="rect">
            <a:avLst/>
          </a:prstGeom>
          <a:noFill/>
          <a:ln/>
        </p:spPr>
        <p:txBody>
          <a:bodyPr wrap="square" lIns="25400" tIns="25400" rIns="25400" bIns="25400" rtlCol="0" anchor="ctr"/>
          <a:lstStyle/>
          <a:p>
            <a:pPr indent="0" marL="0">
              <a:buNone/>
            </a:pPr>
            <a:r>
              <a:rPr lang="en-US" sz="1400" b="1" dirty="0">
                <a:solidFill>
                  <a:srgbClr val="0B1D3A"/>
                </a:solidFill>
                <a:latin typeface="Calibri" pitchFamily="34" charset="0"/>
                <a:ea typeface="Calibri" pitchFamily="34" charset="-122"/>
                <a:cs typeface="Calibri" pitchFamily="34" charset="-120"/>
              </a:rPr>
              <a:t>Taux de succès</a:t>
            </a:r>
            <a:endParaRPr lang="en-US" sz="1400" dirty="0"/>
          </a:p>
          <a:p>
            <a:pPr indent="0" marL="0">
              <a:buNone/>
            </a:pPr>
            <a:r>
              <a:rPr lang="en-US" sz="1300" dirty="0">
                <a:solidFill>
                  <a:srgbClr val="1F2937"/>
                </a:solidFill>
                <a:latin typeface="Calibri" pitchFamily="34" charset="0"/>
                <a:ea typeface="Calibri" pitchFamily="34" charset="-122"/>
                <a:cs typeface="Calibri" pitchFamily="34" charset="-120"/>
              </a:rPr>
              <a:t>moyenne de Class</a:t>
            </a:r>
            <a:endParaRPr lang="en-US" sz="1400" dirty="0"/>
          </a:p>
        </p:txBody>
      </p:sp>
      <p:sp>
        <p:nvSpPr>
          <p:cNvPr id="19" name="Text 17"/>
          <p:cNvSpPr txBox="1"/>
          <p:nvPr/>
        </p:nvSpPr>
        <p:spPr>
          <a:xfrm>
            <a:off x="6949440" y="1280160"/>
            <a:ext cx="4663440" cy="365760"/>
          </a:xfrm>
          <a:prstGeom prst="rect">
            <a:avLst/>
          </a:prstGeom>
          <a:noFill/>
          <a:ln/>
        </p:spPr>
        <p:txBody>
          <a:bodyPr wrap="square" lIns="0" tIns="0" rIns="0" bIns="0" rtlCol="0" anchor="ctr"/>
          <a:lstStyle/>
          <a:p>
            <a:pPr indent="0" marL="0">
              <a:buNone/>
            </a:pPr>
            <a:r>
              <a:rPr lang="en-US" sz="1500" b="1" dirty="0">
                <a:solidFill>
                  <a:srgbClr val="0B1D3A"/>
                </a:solidFill>
              </a:rPr>
              <a:t>Résultats d'atterrissage (Outcome)</a:t>
            </a:r>
            <a:endParaRPr lang="en-US" sz="15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949440" y="1691640"/>
          <a:ext cx="4663440" cy="914400"/>
        </p:xfrm>
        <a:graphic>
          <a:graphicData uri="http://schemas.openxmlformats.org/drawingml/2006/table">
            <a:tbl>
              <a:tblPr/>
              <a:tblGrid>
                <a:gridCol w="2286000"/>
                <a:gridCol w="1188720"/>
                <a:gridCol w="1188720"/>
              </a:tblGrid>
              <a:tr h="30175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Outcome</a:t>
                      </a:r>
                      <a:endParaRPr lang="en-US" sz="12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3D5A8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Nombre</a:t>
                      </a:r>
                      <a:endParaRPr lang="en-US" sz="12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3D5A8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Class</a:t>
                      </a:r>
                      <a:endParaRPr lang="en-US" sz="12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3D5A80"/>
                    </a:solidFill>
                  </a:tcPr>
                </a:tc>
              </a:tr>
              <a:tr h="301752">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True ASDS</a:t>
                      </a:r>
                      <a:endParaRPr lang="en-US" sz="12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41</a:t>
                      </a:r>
                      <a:endParaRPr lang="en-US" sz="12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r>
              <a:tr h="301752">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None None</a:t>
                      </a:r>
                      <a:endParaRPr lang="en-US" sz="12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19</a:t>
                      </a:r>
                      <a:endParaRPr lang="en-US" sz="12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r>
              <a:tr h="301752">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True RTLS</a:t>
                      </a:r>
                      <a:endParaRPr lang="en-US" sz="12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14</a:t>
                      </a:r>
                      <a:endParaRPr lang="en-US" sz="12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r>
              <a:tr h="301752">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False ASDS</a:t>
                      </a:r>
                      <a:endParaRPr lang="en-US" sz="12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r>
              <a:tr h="301752">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True Ocean</a:t>
                      </a:r>
                      <a:endParaRPr lang="en-US" sz="12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r>
              <a:tr h="301752">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False Ocean</a:t>
                      </a:r>
                      <a:endParaRPr lang="en-US" sz="12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r>
              <a:tr h="301752">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None ASDS</a:t>
                      </a:r>
                      <a:endParaRPr lang="en-US" sz="12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r>
              <a:tr h="301752">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False RTLS</a:t>
                      </a:r>
                      <a:endParaRPr lang="en-US" sz="12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r>
            </a:tbl>
          </a:graphicData>
        </a:graphic>
      </p:graphicFrame>
      <p:sp>
        <p:nvSpPr>
          <p:cNvPr id="21" name="Text 18"/>
          <p:cNvSpPr txBox="1"/>
          <p:nvPr/>
        </p:nvSpPr>
        <p:spPr>
          <a:xfrm>
            <a:off x="6949440" y="4572000"/>
            <a:ext cx="4663440" cy="457200"/>
          </a:xfrm>
          <a:prstGeom prst="rect">
            <a:avLst/>
          </a:prstGeom>
          <a:noFill/>
          <a:ln/>
        </p:spPr>
        <p:txBody>
          <a:bodyPr wrap="square" lIns="0" tIns="0" rIns="0" bIns="0" rtlCol="0" anchor="ctr"/>
          <a:lstStyle/>
          <a:p>
            <a:pPr indent="0" marL="0">
              <a:buNone/>
            </a:pPr>
            <a:r>
              <a:rPr lang="en-US" sz="1800" b="1" dirty="0">
                <a:solidFill>
                  <a:srgbClr val="0B1D3A"/>
                </a:solidFill>
              </a:rPr>
              <a:t>Taux de succès global : </a:t>
            </a:r>
            <a:pPr indent="0" marL="0">
              <a:buNone/>
            </a:pPr>
            <a:r>
              <a:rPr lang="en-US" sz="1800" b="1" dirty="0">
                <a:solidFill>
                  <a:srgbClr val="E8590C"/>
                </a:solidFill>
              </a:rPr>
              <a:t>66,7 %</a:t>
            </a:r>
            <a:endParaRPr lang="en-US" sz="1800" dirty="0"/>
          </a:p>
        </p:txBody>
      </p:sp>
      <p:sp>
        <p:nvSpPr>
          <p:cNvPr id="22" name="Text 19"/>
          <p:cNvSpPr txBox="1"/>
          <p:nvPr/>
        </p:nvSpPr>
        <p:spPr>
          <a:xfrm>
            <a:off x="548640" y="5897880"/>
            <a:ext cx="11064240" cy="320040"/>
          </a:xfrm>
          <a:prstGeom prst="rect">
            <a:avLst/>
          </a:prstGeom>
          <a:noFill/>
          <a:ln/>
        </p:spPr>
        <p:txBody>
          <a:bodyPr wrap="square" lIns="0" tIns="0" rIns="0" bIns="0" rtlCol="0" anchor="ctr"/>
          <a:lstStyle/>
          <a:p>
            <a:pPr indent="0" marL="0">
              <a:buNone/>
            </a:pPr>
            <a:r>
              <a:rPr lang="en-US" sz="1200" b="1" dirty="0">
                <a:solidFill>
                  <a:srgbClr val="0B1D3A"/>
                </a:solidFill>
                <a:latin typeface="Calibri" pitchFamily="34" charset="0"/>
                <a:ea typeface="Calibri" pitchFamily="34" charset="-122"/>
                <a:cs typeface="Calibri" pitchFamily="34" charset="-120"/>
              </a:rPr>
              <a:t>GitHub : </a:t>
            </a:r>
            <a:pPr indent="0" marL="0">
              <a:buNone/>
            </a:pPr>
            <a:r>
              <a:rPr lang="en-US" sz="1200" u="sng" dirty="0">
                <a:solidFill>
                  <a:srgbClr val="1D4ED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https://github.com/vanessapenda/Spacex-Capstone/blob/main/labs-jupyter-spacex-data-wrangling.ipynb</a:t>
            </a:r>
            <a:endParaRPr lang="en-US" sz="12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rgbClr val="0B1D3A"/>
                </a:solidFill>
                <a:latin typeface="Arial" pitchFamily="34" charset="0"/>
                <a:ea typeface="Arial" pitchFamily="34" charset="-122"/>
                <a:cs typeface="Arial" pitchFamily="34" charset="-120"/>
              </a:rPr>
              <a:t>EDA avec visualisation des données</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103120"/>
                <a:gridCol w="4114800"/>
                <a:gridCol w="484632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Graphique</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3D5A8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Variables</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3D5A8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Objectif</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3D5A80"/>
                    </a:solidFill>
                  </a:tcPr>
                </a:tc>
              </a:tr>
              <a:tr h="384048">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Nuage de points</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Numéro de vol × masse de la charge utile</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Voir si l'expérience et la masse influencent l'atterrissage</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r>
              <a:tr h="384048">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Nuage de points</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Numéro de vol × site de lancement</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Suivre le succès de chaque site dans le temps</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Nuage de points</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Masse de la charge utile × site</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Repérer les limites de charge par site</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r>
              <a:tr h="384048">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Diagramme à barres</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Taux de succès par orbite</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Comparer la difficulté des orbites</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Nuage de points</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Numéro de vol × orbite</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Lien entre expérience et orbite</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r>
              <a:tr h="384048">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Nuage de points</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Masse de la charge utile × orbite</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Lien entre masse et orbite</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Courbe</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Taux de succès moyen par année</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Mesurer la tendance dans le temps</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r>
            </a:tbl>
          </a:graphicData>
        </a:graphic>
      </p:graphicFrame>
      <p:sp>
        <p:nvSpPr>
          <p:cNvPr id="4" name="Text 1"/>
          <p:cNvSpPr txBox="1"/>
          <p:nvPr/>
        </p:nvSpPr>
        <p:spPr>
          <a:xfrm>
            <a:off x="548640" y="4572000"/>
            <a:ext cx="11064240" cy="822960"/>
          </a:xfrm>
          <a:prstGeom prst="rect">
            <a:avLst/>
          </a:prstGeom>
          <a:noFill/>
          <a:ln/>
        </p:spPr>
        <p:txBody>
          <a:bodyPr wrap="square" rtlCol="0" anchor="t"/>
          <a:lstStyle/>
          <a:p>
            <a:pPr indent="0" marL="0">
              <a:buNone/>
            </a:pPr>
            <a:r>
              <a:rPr lang="en-US" sz="1500" b="1" dirty="0">
                <a:solidFill>
                  <a:srgbClr val="0B1D3A"/>
                </a:solidFill>
                <a:latin typeface="Calibri" pitchFamily="34" charset="0"/>
                <a:ea typeface="Calibri" pitchFamily="34" charset="-122"/>
                <a:cs typeface="Calibri" pitchFamily="34" charset="-120"/>
              </a:rPr>
              <a:t>Ingénierie des variables : </a:t>
            </a:r>
            <a:pPr indent="0" marL="0">
              <a:buNone/>
            </a:pPr>
            <a:r>
              <a:rPr lang="en-US" sz="1500" dirty="0">
                <a:solidFill>
                  <a:srgbClr val="1F2937"/>
                </a:solidFill>
                <a:latin typeface="Calibri" pitchFamily="34" charset="0"/>
                <a:ea typeface="Calibri" pitchFamily="34" charset="-122"/>
                <a:cs typeface="Calibri" pitchFamily="34" charset="-120"/>
              </a:rPr>
              <a:t>encodage one-hot de Orbit, LaunchSite, LandingPad et Serial, puis conversion en float64. On obtient 83 variables pour le Machine Learning.</a:t>
            </a:r>
            <a:endParaRPr lang="en-US" sz="1500" dirty="0"/>
          </a:p>
        </p:txBody>
      </p:sp>
      <p:sp>
        <p:nvSpPr>
          <p:cNvPr id="5" name="Text 2"/>
          <p:cNvSpPr txBox="1"/>
          <p:nvPr/>
        </p:nvSpPr>
        <p:spPr>
          <a:xfrm>
            <a:off x="548640" y="5897880"/>
            <a:ext cx="11064240" cy="320040"/>
          </a:xfrm>
          <a:prstGeom prst="rect">
            <a:avLst/>
          </a:prstGeom>
          <a:noFill/>
          <a:ln/>
        </p:spPr>
        <p:txBody>
          <a:bodyPr wrap="square" lIns="0" tIns="0" rIns="0" bIns="0" rtlCol="0" anchor="ctr"/>
          <a:lstStyle/>
          <a:p>
            <a:pPr indent="0" marL="0">
              <a:buNone/>
            </a:pPr>
            <a:r>
              <a:rPr lang="en-US" sz="1200" b="1" dirty="0">
                <a:solidFill>
                  <a:srgbClr val="0B1D3A"/>
                </a:solidFill>
                <a:latin typeface="Calibri" pitchFamily="34" charset="0"/>
                <a:ea typeface="Calibri" pitchFamily="34" charset="-122"/>
                <a:cs typeface="Calibri" pitchFamily="34" charset="-120"/>
              </a:rPr>
              <a:t>GitHub : </a:t>
            </a:r>
            <a:pPr indent="0" marL="0">
              <a:buNone/>
            </a:pPr>
            <a:r>
              <a:rPr lang="en-US" sz="1200" u="sng" dirty="0">
                <a:solidFill>
                  <a:srgbClr val="1D4ED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https://github.com/vanessapenda/Spacex-Capstone/blob/main/edadataviz.ipynb</a:t>
            </a:r>
            <a:endParaRPr lang="en-US" sz="12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rgbClr val="0B1D3A"/>
                </a:solidFill>
                <a:latin typeface="Arial" pitchFamily="34" charset="0"/>
                <a:ea typeface="Arial" pitchFamily="34" charset="-122"/>
                <a:cs typeface="Arial" pitchFamily="34" charset="-120"/>
              </a:rPr>
              <a:t>EDA avec SQL</a:t>
            </a:r>
            <a:endParaRPr lang="en-US" sz="3000" dirty="0"/>
          </a:p>
        </p:txBody>
      </p:sp>
      <p:sp>
        <p:nvSpPr>
          <p:cNvPr id="3" name="Shape 1"/>
          <p:cNvSpPr/>
          <p:nvPr/>
        </p:nvSpPr>
        <p:spPr>
          <a:xfrm>
            <a:off x="548640" y="1280160"/>
            <a:ext cx="5440680" cy="731520"/>
          </a:xfrm>
          <a:prstGeom prst="roundRect">
            <a:avLst>
              <a:gd name="adj" fmla="val 10000"/>
            </a:avLst>
          </a:prstGeom>
          <a:solidFill>
            <a:srgbClr val="EEF2F7"/>
          </a:solidFill>
          <a:ln w="12700">
            <a:solidFill>
              <a:srgbClr val="EEF2F7"/>
            </a:solidFill>
            <a:prstDash val="solid"/>
          </a:ln>
        </p:spPr>
      </p:sp>
      <p:sp>
        <p:nvSpPr>
          <p:cNvPr id="4" name="Shape 2"/>
          <p:cNvSpPr/>
          <p:nvPr/>
        </p:nvSpPr>
        <p:spPr>
          <a:xfrm>
            <a:off x="713232" y="1435608"/>
            <a:ext cx="420624" cy="420624"/>
          </a:xfrm>
          <a:prstGeom prst="ellipse">
            <a:avLst/>
          </a:prstGeom>
          <a:solidFill>
            <a:srgbClr val="3D5A80"/>
          </a:solidFill>
          <a:ln w="12700">
            <a:solidFill>
              <a:srgbClr val="3D5A80"/>
            </a:solidFill>
            <a:prstDash val="solid"/>
          </a:ln>
        </p:spPr>
      </p:sp>
      <p:sp>
        <p:nvSpPr>
          <p:cNvPr id="5" name="Text 3"/>
          <p:cNvSpPr txBox="1"/>
          <p:nvPr/>
        </p:nvSpPr>
        <p:spPr>
          <a:xfrm>
            <a:off x="713232" y="143560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6" name="Text 4"/>
          <p:cNvSpPr txBox="1"/>
          <p:nvPr/>
        </p:nvSpPr>
        <p:spPr>
          <a:xfrm>
            <a:off x="1280160" y="1280160"/>
            <a:ext cx="4572000" cy="73152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Noms uniques des sites de lancement</a:t>
            </a:r>
            <a:endParaRPr lang="en-US" sz="1400" dirty="0"/>
          </a:p>
        </p:txBody>
      </p:sp>
      <p:sp>
        <p:nvSpPr>
          <p:cNvPr id="7" name="Shape 5"/>
          <p:cNvSpPr/>
          <p:nvPr/>
        </p:nvSpPr>
        <p:spPr>
          <a:xfrm>
            <a:off x="548640" y="2148840"/>
            <a:ext cx="5440680" cy="731520"/>
          </a:xfrm>
          <a:prstGeom prst="roundRect">
            <a:avLst>
              <a:gd name="adj" fmla="val 10000"/>
            </a:avLst>
          </a:prstGeom>
          <a:solidFill>
            <a:srgbClr val="EEF2F7"/>
          </a:solidFill>
          <a:ln w="12700">
            <a:solidFill>
              <a:srgbClr val="EEF2F7"/>
            </a:solidFill>
            <a:prstDash val="solid"/>
          </a:ln>
        </p:spPr>
      </p:sp>
      <p:sp>
        <p:nvSpPr>
          <p:cNvPr id="8" name="Shape 6"/>
          <p:cNvSpPr/>
          <p:nvPr/>
        </p:nvSpPr>
        <p:spPr>
          <a:xfrm>
            <a:off x="713232" y="2304288"/>
            <a:ext cx="420624" cy="420624"/>
          </a:xfrm>
          <a:prstGeom prst="ellipse">
            <a:avLst/>
          </a:prstGeom>
          <a:solidFill>
            <a:srgbClr val="3D5A80"/>
          </a:solidFill>
          <a:ln w="12700">
            <a:solidFill>
              <a:srgbClr val="3D5A80"/>
            </a:solidFill>
            <a:prstDash val="solid"/>
          </a:ln>
        </p:spPr>
      </p:sp>
      <p:sp>
        <p:nvSpPr>
          <p:cNvPr id="9" name="Text 7"/>
          <p:cNvSpPr txBox="1"/>
          <p:nvPr/>
        </p:nvSpPr>
        <p:spPr>
          <a:xfrm>
            <a:off x="713232" y="230428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0" name="Text 8"/>
          <p:cNvSpPr txBox="1"/>
          <p:nvPr/>
        </p:nvSpPr>
        <p:spPr>
          <a:xfrm>
            <a:off x="1280160" y="2148840"/>
            <a:ext cx="4572000" cy="73152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5 lancements dont le site commence par « CCA »</a:t>
            </a:r>
            <a:endParaRPr lang="en-US" sz="1400" dirty="0"/>
          </a:p>
        </p:txBody>
      </p:sp>
      <p:sp>
        <p:nvSpPr>
          <p:cNvPr id="11" name="Shape 9"/>
          <p:cNvSpPr/>
          <p:nvPr/>
        </p:nvSpPr>
        <p:spPr>
          <a:xfrm>
            <a:off x="548640" y="3017520"/>
            <a:ext cx="5440680" cy="731520"/>
          </a:xfrm>
          <a:prstGeom prst="roundRect">
            <a:avLst>
              <a:gd name="adj" fmla="val 10000"/>
            </a:avLst>
          </a:prstGeom>
          <a:solidFill>
            <a:srgbClr val="EEF2F7"/>
          </a:solidFill>
          <a:ln w="12700">
            <a:solidFill>
              <a:srgbClr val="EEF2F7"/>
            </a:solidFill>
            <a:prstDash val="solid"/>
          </a:ln>
        </p:spPr>
      </p:sp>
      <p:sp>
        <p:nvSpPr>
          <p:cNvPr id="12" name="Shape 10"/>
          <p:cNvSpPr/>
          <p:nvPr/>
        </p:nvSpPr>
        <p:spPr>
          <a:xfrm>
            <a:off x="713232" y="3172968"/>
            <a:ext cx="420624" cy="420624"/>
          </a:xfrm>
          <a:prstGeom prst="ellipse">
            <a:avLst/>
          </a:prstGeom>
          <a:solidFill>
            <a:srgbClr val="3D5A80"/>
          </a:solidFill>
          <a:ln w="12700">
            <a:solidFill>
              <a:srgbClr val="3D5A80"/>
            </a:solidFill>
            <a:prstDash val="solid"/>
          </a:ln>
        </p:spPr>
      </p:sp>
      <p:sp>
        <p:nvSpPr>
          <p:cNvPr id="13" name="Text 11"/>
          <p:cNvSpPr txBox="1"/>
          <p:nvPr/>
        </p:nvSpPr>
        <p:spPr>
          <a:xfrm>
            <a:off x="713232" y="317296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4" name="Text 12"/>
          <p:cNvSpPr txBox="1"/>
          <p:nvPr/>
        </p:nvSpPr>
        <p:spPr>
          <a:xfrm>
            <a:off x="1280160" y="3017520"/>
            <a:ext cx="4572000" cy="73152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Masse totale transportée pour la NASA (CRS)</a:t>
            </a:r>
            <a:endParaRPr lang="en-US" sz="1400" dirty="0"/>
          </a:p>
        </p:txBody>
      </p:sp>
      <p:sp>
        <p:nvSpPr>
          <p:cNvPr id="15" name="Shape 13"/>
          <p:cNvSpPr/>
          <p:nvPr/>
        </p:nvSpPr>
        <p:spPr>
          <a:xfrm>
            <a:off x="548640" y="3886200"/>
            <a:ext cx="5440680" cy="731520"/>
          </a:xfrm>
          <a:prstGeom prst="roundRect">
            <a:avLst>
              <a:gd name="adj" fmla="val 10000"/>
            </a:avLst>
          </a:prstGeom>
          <a:solidFill>
            <a:srgbClr val="EEF2F7"/>
          </a:solidFill>
          <a:ln w="12700">
            <a:solidFill>
              <a:srgbClr val="EEF2F7"/>
            </a:solidFill>
            <a:prstDash val="solid"/>
          </a:ln>
        </p:spPr>
      </p:sp>
      <p:sp>
        <p:nvSpPr>
          <p:cNvPr id="16" name="Shape 14"/>
          <p:cNvSpPr/>
          <p:nvPr/>
        </p:nvSpPr>
        <p:spPr>
          <a:xfrm>
            <a:off x="713232" y="4041648"/>
            <a:ext cx="420624" cy="420624"/>
          </a:xfrm>
          <a:prstGeom prst="ellipse">
            <a:avLst/>
          </a:prstGeom>
          <a:solidFill>
            <a:srgbClr val="3D5A80"/>
          </a:solidFill>
          <a:ln w="12700">
            <a:solidFill>
              <a:srgbClr val="3D5A80"/>
            </a:solidFill>
            <a:prstDash val="solid"/>
          </a:ln>
        </p:spPr>
      </p:sp>
      <p:sp>
        <p:nvSpPr>
          <p:cNvPr id="17" name="Text 15"/>
          <p:cNvSpPr txBox="1"/>
          <p:nvPr/>
        </p:nvSpPr>
        <p:spPr>
          <a:xfrm>
            <a:off x="713232" y="404164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8" name="Text 16"/>
          <p:cNvSpPr txBox="1"/>
          <p:nvPr/>
        </p:nvSpPr>
        <p:spPr>
          <a:xfrm>
            <a:off x="1280160" y="3886200"/>
            <a:ext cx="4572000" cy="73152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Masse moyenne pour le booster F9 v1.1</a:t>
            </a:r>
            <a:endParaRPr lang="en-US" sz="1400" dirty="0"/>
          </a:p>
        </p:txBody>
      </p:sp>
      <p:sp>
        <p:nvSpPr>
          <p:cNvPr id="19" name="Shape 17"/>
          <p:cNvSpPr/>
          <p:nvPr/>
        </p:nvSpPr>
        <p:spPr>
          <a:xfrm>
            <a:off x="548640" y="4754880"/>
            <a:ext cx="5440680" cy="731520"/>
          </a:xfrm>
          <a:prstGeom prst="roundRect">
            <a:avLst>
              <a:gd name="adj" fmla="val 10000"/>
            </a:avLst>
          </a:prstGeom>
          <a:solidFill>
            <a:srgbClr val="EEF2F7"/>
          </a:solidFill>
          <a:ln w="12700">
            <a:solidFill>
              <a:srgbClr val="EEF2F7"/>
            </a:solidFill>
            <a:prstDash val="solid"/>
          </a:ln>
        </p:spPr>
      </p:sp>
      <p:sp>
        <p:nvSpPr>
          <p:cNvPr id="20" name="Shape 18"/>
          <p:cNvSpPr/>
          <p:nvPr/>
        </p:nvSpPr>
        <p:spPr>
          <a:xfrm>
            <a:off x="713232" y="4910328"/>
            <a:ext cx="420624" cy="420624"/>
          </a:xfrm>
          <a:prstGeom prst="ellipse">
            <a:avLst/>
          </a:prstGeom>
          <a:solidFill>
            <a:srgbClr val="3D5A80"/>
          </a:solidFill>
          <a:ln w="12700">
            <a:solidFill>
              <a:srgbClr val="3D5A80"/>
            </a:solidFill>
            <a:prstDash val="solid"/>
          </a:ln>
        </p:spPr>
      </p:sp>
      <p:sp>
        <p:nvSpPr>
          <p:cNvPr id="21" name="Text 19"/>
          <p:cNvSpPr txBox="1"/>
          <p:nvPr/>
        </p:nvSpPr>
        <p:spPr>
          <a:xfrm>
            <a:off x="713232" y="491032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2" name="Text 20"/>
          <p:cNvSpPr txBox="1"/>
          <p:nvPr/>
        </p:nvSpPr>
        <p:spPr>
          <a:xfrm>
            <a:off x="1280160" y="4754880"/>
            <a:ext cx="4572000" cy="73152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Date du premier atterrissage réussi sur plateforme au sol</a:t>
            </a:r>
            <a:endParaRPr lang="en-US" sz="1400" dirty="0"/>
          </a:p>
        </p:txBody>
      </p:sp>
      <p:sp>
        <p:nvSpPr>
          <p:cNvPr id="23" name="Shape 21"/>
          <p:cNvSpPr/>
          <p:nvPr/>
        </p:nvSpPr>
        <p:spPr>
          <a:xfrm>
            <a:off x="6172200" y="1280160"/>
            <a:ext cx="5440680" cy="731520"/>
          </a:xfrm>
          <a:prstGeom prst="roundRect">
            <a:avLst>
              <a:gd name="adj" fmla="val 10000"/>
            </a:avLst>
          </a:prstGeom>
          <a:solidFill>
            <a:srgbClr val="EEF2F7"/>
          </a:solidFill>
          <a:ln w="12700">
            <a:solidFill>
              <a:srgbClr val="EEF2F7"/>
            </a:solidFill>
            <a:prstDash val="solid"/>
          </a:ln>
        </p:spPr>
      </p:sp>
      <p:sp>
        <p:nvSpPr>
          <p:cNvPr id="24" name="Shape 22"/>
          <p:cNvSpPr/>
          <p:nvPr/>
        </p:nvSpPr>
        <p:spPr>
          <a:xfrm>
            <a:off x="6336792" y="1435608"/>
            <a:ext cx="420624" cy="420624"/>
          </a:xfrm>
          <a:prstGeom prst="ellipse">
            <a:avLst/>
          </a:prstGeom>
          <a:solidFill>
            <a:srgbClr val="3D5A80"/>
          </a:solidFill>
          <a:ln w="12700">
            <a:solidFill>
              <a:srgbClr val="3D5A80"/>
            </a:solidFill>
            <a:prstDash val="solid"/>
          </a:ln>
        </p:spPr>
      </p:sp>
      <p:sp>
        <p:nvSpPr>
          <p:cNvPr id="25" name="Text 23"/>
          <p:cNvSpPr txBox="1"/>
          <p:nvPr/>
        </p:nvSpPr>
        <p:spPr>
          <a:xfrm>
            <a:off x="6336792" y="143560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6" name="Text 24"/>
          <p:cNvSpPr txBox="1"/>
          <p:nvPr/>
        </p:nvSpPr>
        <p:spPr>
          <a:xfrm>
            <a:off x="6903720" y="1280160"/>
            <a:ext cx="4572000" cy="73152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Boosters réussis sur barge avec une charge de 4 000 à 6 000 kg</a:t>
            </a:r>
            <a:endParaRPr lang="en-US" sz="1400" dirty="0"/>
          </a:p>
        </p:txBody>
      </p:sp>
      <p:sp>
        <p:nvSpPr>
          <p:cNvPr id="27" name="Shape 25"/>
          <p:cNvSpPr/>
          <p:nvPr/>
        </p:nvSpPr>
        <p:spPr>
          <a:xfrm>
            <a:off x="6172200" y="2148840"/>
            <a:ext cx="5440680" cy="731520"/>
          </a:xfrm>
          <a:prstGeom prst="roundRect">
            <a:avLst>
              <a:gd name="adj" fmla="val 10000"/>
            </a:avLst>
          </a:prstGeom>
          <a:solidFill>
            <a:srgbClr val="EEF2F7"/>
          </a:solidFill>
          <a:ln w="12700">
            <a:solidFill>
              <a:srgbClr val="EEF2F7"/>
            </a:solidFill>
            <a:prstDash val="solid"/>
          </a:ln>
        </p:spPr>
      </p:sp>
      <p:sp>
        <p:nvSpPr>
          <p:cNvPr id="28" name="Shape 26"/>
          <p:cNvSpPr/>
          <p:nvPr/>
        </p:nvSpPr>
        <p:spPr>
          <a:xfrm>
            <a:off x="6336792" y="2304288"/>
            <a:ext cx="420624" cy="420624"/>
          </a:xfrm>
          <a:prstGeom prst="ellipse">
            <a:avLst/>
          </a:prstGeom>
          <a:solidFill>
            <a:srgbClr val="3D5A80"/>
          </a:solidFill>
          <a:ln w="12700">
            <a:solidFill>
              <a:srgbClr val="3D5A80"/>
            </a:solidFill>
            <a:prstDash val="solid"/>
          </a:ln>
        </p:spPr>
      </p:sp>
      <p:sp>
        <p:nvSpPr>
          <p:cNvPr id="29" name="Text 27"/>
          <p:cNvSpPr txBox="1"/>
          <p:nvPr/>
        </p:nvSpPr>
        <p:spPr>
          <a:xfrm>
            <a:off x="6336792" y="230428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7</a:t>
            </a:r>
            <a:endParaRPr lang="en-US" sz="1400" dirty="0"/>
          </a:p>
        </p:txBody>
      </p:sp>
      <p:sp>
        <p:nvSpPr>
          <p:cNvPr id="30" name="Text 28"/>
          <p:cNvSpPr txBox="1"/>
          <p:nvPr/>
        </p:nvSpPr>
        <p:spPr>
          <a:xfrm>
            <a:off x="6903720" y="2148840"/>
            <a:ext cx="4572000" cy="73152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Nombre total de missions réussies et échouées</a:t>
            </a:r>
            <a:endParaRPr lang="en-US" sz="1400" dirty="0"/>
          </a:p>
        </p:txBody>
      </p:sp>
      <p:sp>
        <p:nvSpPr>
          <p:cNvPr id="31" name="Shape 29"/>
          <p:cNvSpPr/>
          <p:nvPr/>
        </p:nvSpPr>
        <p:spPr>
          <a:xfrm>
            <a:off x="6172200" y="3017520"/>
            <a:ext cx="5440680" cy="731520"/>
          </a:xfrm>
          <a:prstGeom prst="roundRect">
            <a:avLst>
              <a:gd name="adj" fmla="val 10000"/>
            </a:avLst>
          </a:prstGeom>
          <a:solidFill>
            <a:srgbClr val="EEF2F7"/>
          </a:solidFill>
          <a:ln w="12700">
            <a:solidFill>
              <a:srgbClr val="EEF2F7"/>
            </a:solidFill>
            <a:prstDash val="solid"/>
          </a:ln>
        </p:spPr>
      </p:sp>
      <p:sp>
        <p:nvSpPr>
          <p:cNvPr id="32" name="Shape 30"/>
          <p:cNvSpPr/>
          <p:nvPr/>
        </p:nvSpPr>
        <p:spPr>
          <a:xfrm>
            <a:off x="6336792" y="3172968"/>
            <a:ext cx="420624" cy="420624"/>
          </a:xfrm>
          <a:prstGeom prst="ellipse">
            <a:avLst/>
          </a:prstGeom>
          <a:solidFill>
            <a:srgbClr val="3D5A80"/>
          </a:solidFill>
          <a:ln w="12700">
            <a:solidFill>
              <a:srgbClr val="3D5A80"/>
            </a:solidFill>
            <a:prstDash val="solid"/>
          </a:ln>
        </p:spPr>
      </p:sp>
      <p:sp>
        <p:nvSpPr>
          <p:cNvPr id="33" name="Text 31"/>
          <p:cNvSpPr txBox="1"/>
          <p:nvPr/>
        </p:nvSpPr>
        <p:spPr>
          <a:xfrm>
            <a:off x="6336792" y="317296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8</a:t>
            </a:r>
            <a:endParaRPr lang="en-US" sz="1400" dirty="0"/>
          </a:p>
        </p:txBody>
      </p:sp>
      <p:sp>
        <p:nvSpPr>
          <p:cNvPr id="34" name="Text 32"/>
          <p:cNvSpPr txBox="1"/>
          <p:nvPr/>
        </p:nvSpPr>
        <p:spPr>
          <a:xfrm>
            <a:off x="6903720" y="3017520"/>
            <a:ext cx="4572000" cy="73152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Boosters ayant porté la charge maximale (sous-requête)</a:t>
            </a:r>
            <a:endParaRPr lang="en-US" sz="1400" dirty="0"/>
          </a:p>
        </p:txBody>
      </p:sp>
      <p:sp>
        <p:nvSpPr>
          <p:cNvPr id="35" name="Shape 33"/>
          <p:cNvSpPr/>
          <p:nvPr/>
        </p:nvSpPr>
        <p:spPr>
          <a:xfrm>
            <a:off x="6172200" y="3886200"/>
            <a:ext cx="5440680" cy="731520"/>
          </a:xfrm>
          <a:prstGeom prst="roundRect">
            <a:avLst>
              <a:gd name="adj" fmla="val 10000"/>
            </a:avLst>
          </a:prstGeom>
          <a:solidFill>
            <a:srgbClr val="EEF2F7"/>
          </a:solidFill>
          <a:ln w="12700">
            <a:solidFill>
              <a:srgbClr val="EEF2F7"/>
            </a:solidFill>
            <a:prstDash val="solid"/>
          </a:ln>
        </p:spPr>
      </p:sp>
      <p:sp>
        <p:nvSpPr>
          <p:cNvPr id="36" name="Shape 34"/>
          <p:cNvSpPr/>
          <p:nvPr/>
        </p:nvSpPr>
        <p:spPr>
          <a:xfrm>
            <a:off x="6336792" y="4041648"/>
            <a:ext cx="420624" cy="420624"/>
          </a:xfrm>
          <a:prstGeom prst="ellipse">
            <a:avLst/>
          </a:prstGeom>
          <a:solidFill>
            <a:srgbClr val="3D5A80"/>
          </a:solidFill>
          <a:ln w="12700">
            <a:solidFill>
              <a:srgbClr val="3D5A80"/>
            </a:solidFill>
            <a:prstDash val="solid"/>
          </a:ln>
        </p:spPr>
      </p:sp>
      <p:sp>
        <p:nvSpPr>
          <p:cNvPr id="37" name="Text 35"/>
          <p:cNvSpPr txBox="1"/>
          <p:nvPr/>
        </p:nvSpPr>
        <p:spPr>
          <a:xfrm>
            <a:off x="6336792" y="404164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9</a:t>
            </a:r>
            <a:endParaRPr lang="en-US" sz="1400" dirty="0"/>
          </a:p>
        </p:txBody>
      </p:sp>
      <p:sp>
        <p:nvSpPr>
          <p:cNvPr id="38" name="Text 36"/>
          <p:cNvSpPr txBox="1"/>
          <p:nvPr/>
        </p:nvSpPr>
        <p:spPr>
          <a:xfrm>
            <a:off x="6903720" y="3886200"/>
            <a:ext cx="4572000" cy="73152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Échecs sur barge en 2015 : mois, booster, site</a:t>
            </a:r>
            <a:endParaRPr lang="en-US" sz="1400" dirty="0"/>
          </a:p>
        </p:txBody>
      </p:sp>
      <p:sp>
        <p:nvSpPr>
          <p:cNvPr id="39" name="Shape 37"/>
          <p:cNvSpPr/>
          <p:nvPr/>
        </p:nvSpPr>
        <p:spPr>
          <a:xfrm>
            <a:off x="6172200" y="4754880"/>
            <a:ext cx="5440680" cy="731520"/>
          </a:xfrm>
          <a:prstGeom prst="roundRect">
            <a:avLst>
              <a:gd name="adj" fmla="val 10000"/>
            </a:avLst>
          </a:prstGeom>
          <a:solidFill>
            <a:srgbClr val="EEF2F7"/>
          </a:solidFill>
          <a:ln w="12700">
            <a:solidFill>
              <a:srgbClr val="EEF2F7"/>
            </a:solidFill>
            <a:prstDash val="solid"/>
          </a:ln>
        </p:spPr>
      </p:sp>
      <p:sp>
        <p:nvSpPr>
          <p:cNvPr id="40" name="Shape 38"/>
          <p:cNvSpPr/>
          <p:nvPr/>
        </p:nvSpPr>
        <p:spPr>
          <a:xfrm>
            <a:off x="6336792" y="4910328"/>
            <a:ext cx="420624" cy="420624"/>
          </a:xfrm>
          <a:prstGeom prst="ellipse">
            <a:avLst/>
          </a:prstGeom>
          <a:solidFill>
            <a:srgbClr val="3D5A80"/>
          </a:solidFill>
          <a:ln w="12700">
            <a:solidFill>
              <a:srgbClr val="3D5A80"/>
            </a:solidFill>
            <a:prstDash val="solid"/>
          </a:ln>
        </p:spPr>
      </p:sp>
      <p:sp>
        <p:nvSpPr>
          <p:cNvPr id="41" name="Text 39"/>
          <p:cNvSpPr txBox="1"/>
          <p:nvPr/>
        </p:nvSpPr>
        <p:spPr>
          <a:xfrm>
            <a:off x="6336792" y="491032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10</a:t>
            </a:r>
            <a:endParaRPr lang="en-US" sz="1400" dirty="0"/>
          </a:p>
        </p:txBody>
      </p:sp>
      <p:sp>
        <p:nvSpPr>
          <p:cNvPr id="42" name="Text 40"/>
          <p:cNvSpPr txBox="1"/>
          <p:nvPr/>
        </p:nvSpPr>
        <p:spPr>
          <a:xfrm>
            <a:off x="6903720" y="4754880"/>
            <a:ext cx="4572000" cy="73152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Classement des résultats d'atterrissage entre 2010-06-04 et 2017-03-20</a:t>
            </a:r>
            <a:endParaRPr lang="en-US" sz="1400" dirty="0"/>
          </a:p>
        </p:txBody>
      </p:sp>
      <p:sp>
        <p:nvSpPr>
          <p:cNvPr id="43" name="Text 41"/>
          <p:cNvSpPr txBox="1"/>
          <p:nvPr/>
        </p:nvSpPr>
        <p:spPr>
          <a:xfrm>
            <a:off x="548640" y="5669280"/>
            <a:ext cx="11064240" cy="32004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Les données sont chargées dans SQLite (table SPACEXTBL) et interrogées avec %%sql dans Jupyter.</a:t>
            </a:r>
            <a:endParaRPr lang="en-US" sz="1300" dirty="0"/>
          </a:p>
        </p:txBody>
      </p:sp>
      <p:sp>
        <p:nvSpPr>
          <p:cNvPr id="44" name="Text 42"/>
          <p:cNvSpPr txBox="1"/>
          <p:nvPr/>
        </p:nvSpPr>
        <p:spPr>
          <a:xfrm>
            <a:off x="548640" y="5989320"/>
            <a:ext cx="11064240" cy="320040"/>
          </a:xfrm>
          <a:prstGeom prst="rect">
            <a:avLst/>
          </a:prstGeom>
          <a:noFill/>
          <a:ln/>
        </p:spPr>
        <p:txBody>
          <a:bodyPr wrap="square" lIns="0" tIns="0" rIns="0" bIns="0" rtlCol="0" anchor="ctr"/>
          <a:lstStyle/>
          <a:p>
            <a:pPr indent="0" marL="0">
              <a:buNone/>
            </a:pPr>
            <a:r>
              <a:rPr lang="en-US" sz="1200" b="1" dirty="0">
                <a:solidFill>
                  <a:srgbClr val="0B1D3A"/>
                </a:solidFill>
                <a:latin typeface="Calibri" pitchFamily="34" charset="0"/>
                <a:ea typeface="Calibri" pitchFamily="34" charset="-122"/>
                <a:cs typeface="Calibri" pitchFamily="34" charset="-120"/>
              </a:rPr>
              <a:t>GitHub : </a:t>
            </a:r>
            <a:pPr indent="0" marL="0">
              <a:buNone/>
            </a:pPr>
            <a:r>
              <a:rPr lang="en-US" sz="1200" u="sng" dirty="0">
                <a:solidFill>
                  <a:srgbClr val="1D4ED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https://github.com/vanessapenda/Spacex-Capstone/blob/main/jupyter-labs-eda-sql-coursera_sqllite.ipynb</a:t>
            </a:r>
            <a:endParaRPr lang="en-US" sz="12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rgbClr val="0B1D3A"/>
                </a:solidFill>
                <a:latin typeface="Arial" pitchFamily="34" charset="0"/>
                <a:ea typeface="Arial" pitchFamily="34" charset="-122"/>
                <a:cs typeface="Arial" pitchFamily="34" charset="-120"/>
              </a:rPr>
              <a:t>Carte interactive avec Folium</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914400"/>
        </p:xfrm>
        <a:graphic>
          <a:graphicData uri="http://schemas.openxmlformats.org/drawingml/2006/table">
            <a:tbl>
              <a:tblPr/>
              <a:tblGrid>
                <a:gridCol w="2926080"/>
                <a:gridCol w="4206240"/>
                <a:gridCol w="3931920"/>
              </a:tblGrid>
              <a:tr h="56692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Objet ajouté</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3D5A8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Ce qu'il montre</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3D5A8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Pourquoi</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3D5A80"/>
                    </a:solidFill>
                  </a:tcPr>
                </a:tc>
              </a:tr>
              <a:tr h="566928">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folium.Circle + Marker</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Les 4 sites de lancement (et le Johnson Space Center de la NASA)</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Localiser les sites et voir leur position géographique</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r>
              <a:tr h="566928">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MarkerCluster + marqueurs vert/rouge</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Le résultat de chaque lancement (vert = succès, rouge = échec)</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Comparer visuellement le taux de succès des sites</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MousePosition</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Les coordonnées sous le curseur</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Trouver les points d'intérêt proches d'un site</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r>
              <a:tr h="566928">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PolyLine + marqueur de distance</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Distance d'un site à la côte et à une route</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Étudier l'environnement immédiat des sites</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r>
            </a:tbl>
          </a:graphicData>
        </a:graphic>
      </p:graphicFrame>
      <p:pic>
        <p:nvPicPr>
          <p:cNvPr id="4" name="Image 0" descr="C:/Users/enangue/Desktop/SpaceX-Capstone/images/folium_sites.png">    </p:cNvPr>
          <p:cNvPicPr>
            <a:picLocks noChangeAspect="1"/>
          </p:cNvPicPr>
          <p:nvPr/>
        </p:nvPicPr>
        <p:blipFill>
          <a:blip r:embed="rId1"/>
          <a:stretch>
            <a:fillRect/>
          </a:stretch>
        </p:blipFill>
        <p:spPr>
          <a:xfrm>
            <a:off x="1125855" y="4343400"/>
            <a:ext cx="2320290" cy="1325880"/>
          </a:xfrm>
          <a:prstGeom prst="rect">
            <a:avLst/>
          </a:prstGeom>
        </p:spPr>
      </p:pic>
      <p:sp>
        <p:nvSpPr>
          <p:cNvPr id="5" name="Text 1"/>
          <p:cNvSpPr txBox="1"/>
          <p:nvPr/>
        </p:nvSpPr>
        <p:spPr>
          <a:xfrm>
            <a:off x="1125855" y="5669280"/>
            <a:ext cx="2320290" cy="228600"/>
          </a:xfrm>
          <a:prstGeom prst="rect">
            <a:avLst/>
          </a:prstGeom>
          <a:noFill/>
          <a:ln/>
        </p:spPr>
        <p:txBody>
          <a:bodyPr wrap="square" lIns="0" tIns="0" rIns="0" bIns="0" rtlCol="0" anchor="t"/>
          <a:lstStyle/>
          <a:p>
            <a:pPr indent="0" marL="0">
              <a:buNone/>
            </a:pPr>
            <a:r>
              <a:rPr lang="en-US" sz="1100" dirty="0">
                <a:solidFill>
                  <a:srgbClr val="5B6472"/>
                </a:solidFill>
                <a:latin typeface="Calibri" pitchFamily="34" charset="0"/>
                <a:ea typeface="Calibri" pitchFamily="34" charset="-122"/>
                <a:cs typeface="Calibri" pitchFamily="34" charset="-120"/>
              </a:rPr>
              <a:t>Sites de lancement</a:t>
            </a:r>
            <a:endParaRPr lang="en-US" sz="1100" dirty="0"/>
          </a:p>
        </p:txBody>
      </p:sp>
      <p:pic>
        <p:nvPicPr>
          <p:cNvPr id="6" name="Image 1" descr="C:/Users/enangue/Desktop/SpaceX-Capstone/images/folium_outcomes_ksc.png">    </p:cNvPr>
          <p:cNvPicPr>
            <a:picLocks noChangeAspect="1"/>
          </p:cNvPicPr>
          <p:nvPr/>
        </p:nvPicPr>
        <p:blipFill>
          <a:blip r:embed="rId2"/>
          <a:stretch>
            <a:fillRect/>
          </a:stretch>
        </p:blipFill>
        <p:spPr>
          <a:xfrm>
            <a:off x="4874895" y="4343400"/>
            <a:ext cx="2320290" cy="1325880"/>
          </a:xfrm>
          <a:prstGeom prst="rect">
            <a:avLst/>
          </a:prstGeom>
        </p:spPr>
      </p:pic>
      <p:sp>
        <p:nvSpPr>
          <p:cNvPr id="7" name="Text 2"/>
          <p:cNvSpPr txBox="1"/>
          <p:nvPr/>
        </p:nvSpPr>
        <p:spPr>
          <a:xfrm>
            <a:off x="4874895" y="5669280"/>
            <a:ext cx="2320290" cy="228600"/>
          </a:xfrm>
          <a:prstGeom prst="rect">
            <a:avLst/>
          </a:prstGeom>
          <a:noFill/>
          <a:ln/>
        </p:spPr>
        <p:txBody>
          <a:bodyPr wrap="square" lIns="0" tIns="0" rIns="0" bIns="0" rtlCol="0" anchor="t"/>
          <a:lstStyle/>
          <a:p>
            <a:pPr indent="0" marL="0">
              <a:buNone/>
            </a:pPr>
            <a:r>
              <a:rPr lang="en-US" sz="1100" dirty="0">
                <a:solidFill>
                  <a:srgbClr val="5B6472"/>
                </a:solidFill>
                <a:latin typeface="Calibri" pitchFamily="34" charset="0"/>
                <a:ea typeface="Calibri" pitchFamily="34" charset="-122"/>
                <a:cs typeface="Calibri" pitchFamily="34" charset="-120"/>
              </a:rPr>
              <a:t>Succès / échecs</a:t>
            </a:r>
            <a:endParaRPr lang="en-US" sz="1100" dirty="0"/>
          </a:p>
        </p:txBody>
      </p:sp>
      <p:pic>
        <p:nvPicPr>
          <p:cNvPr id="8" name="Image 2" descr="C:/Users/enangue/Desktop/SpaceX-Capstone/images/folium_proximity.png">    </p:cNvPr>
          <p:cNvPicPr>
            <a:picLocks noChangeAspect="1"/>
          </p:cNvPicPr>
          <p:nvPr/>
        </p:nvPicPr>
        <p:blipFill>
          <a:blip r:embed="rId3"/>
          <a:stretch>
            <a:fillRect/>
          </a:stretch>
        </p:blipFill>
        <p:spPr>
          <a:xfrm>
            <a:off x="8623935" y="4343400"/>
            <a:ext cx="2320290" cy="1325880"/>
          </a:xfrm>
          <a:prstGeom prst="rect">
            <a:avLst/>
          </a:prstGeom>
        </p:spPr>
      </p:pic>
      <p:sp>
        <p:nvSpPr>
          <p:cNvPr id="9" name="Text 3"/>
          <p:cNvSpPr txBox="1"/>
          <p:nvPr/>
        </p:nvSpPr>
        <p:spPr>
          <a:xfrm>
            <a:off x="8623935" y="5669280"/>
            <a:ext cx="2320290" cy="228600"/>
          </a:xfrm>
          <a:prstGeom prst="rect">
            <a:avLst/>
          </a:prstGeom>
          <a:noFill/>
          <a:ln/>
        </p:spPr>
        <p:txBody>
          <a:bodyPr wrap="square" lIns="0" tIns="0" rIns="0" bIns="0" rtlCol="0" anchor="t"/>
          <a:lstStyle/>
          <a:p>
            <a:pPr indent="0" marL="0">
              <a:buNone/>
            </a:pPr>
            <a:r>
              <a:rPr lang="en-US" sz="1100" dirty="0">
                <a:solidFill>
                  <a:srgbClr val="5B6472"/>
                </a:solidFill>
                <a:latin typeface="Calibri" pitchFamily="34" charset="0"/>
                <a:ea typeface="Calibri" pitchFamily="34" charset="-122"/>
                <a:cs typeface="Calibri" pitchFamily="34" charset="-120"/>
              </a:rPr>
              <a:t>Distances</a:t>
            </a:r>
            <a:endParaRPr lang="en-US" sz="1100" dirty="0"/>
          </a:p>
        </p:txBody>
      </p:sp>
      <p:sp>
        <p:nvSpPr>
          <p:cNvPr id="10" name="Text 4"/>
          <p:cNvSpPr txBox="1"/>
          <p:nvPr/>
        </p:nvSpPr>
        <p:spPr>
          <a:xfrm>
            <a:off x="548640" y="5943600"/>
            <a:ext cx="11064240" cy="320040"/>
          </a:xfrm>
          <a:prstGeom prst="rect">
            <a:avLst/>
          </a:prstGeom>
          <a:noFill/>
          <a:ln/>
        </p:spPr>
        <p:txBody>
          <a:bodyPr wrap="square" lIns="0" tIns="0" rIns="0" bIns="0" rtlCol="0" anchor="ctr"/>
          <a:lstStyle/>
          <a:p>
            <a:pPr indent="0" marL="0">
              <a:buNone/>
            </a:pPr>
            <a:r>
              <a:rPr lang="en-US" sz="1200" b="1" dirty="0">
                <a:solidFill>
                  <a:srgbClr val="0B1D3A"/>
                </a:solidFill>
                <a:latin typeface="Calibri" pitchFamily="34" charset="0"/>
                <a:ea typeface="Calibri" pitchFamily="34" charset="-122"/>
                <a:cs typeface="Calibri" pitchFamily="34" charset="-120"/>
              </a:rPr>
              <a:t>GitHub : </a:t>
            </a:r>
            <a:pPr indent="0" marL="0">
              <a:buNone/>
            </a:pPr>
            <a:r>
              <a:rPr lang="en-US" sz="1200" u="sng" dirty="0">
                <a:solidFill>
                  <a:srgbClr val="1D4ED8"/>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https://github.com/vanessapenda/Spacex-Capstone/blob/main/lab_jupyter_launch_site_location.ipynb</a:t>
            </a:r>
            <a:endParaRPr lang="en-US" sz="12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rgbClr val="0B1D3A"/>
                </a:solidFill>
                <a:latin typeface="Arial" pitchFamily="34" charset="0"/>
                <a:ea typeface="Arial" pitchFamily="34" charset="-122"/>
                <a:cs typeface="Arial" pitchFamily="34" charset="-120"/>
              </a:rPr>
              <a:t>Dashboard avec Plotly Dash</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5852160" cy="914400"/>
        </p:xfrm>
        <a:graphic>
          <a:graphicData uri="http://schemas.openxmlformats.org/drawingml/2006/table">
            <a:tbl>
              <a:tblPr/>
              <a:tblGrid>
                <a:gridCol w="2377440"/>
                <a:gridCol w="3474720"/>
              </a:tblGrid>
              <a:tr h="56692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Composant</a:t>
                      </a:r>
                      <a:endParaRPr lang="en-US" sz="14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3D5A80"/>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Rôle</a:t>
                      </a:r>
                      <a:endParaRPr lang="en-US" sz="14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3D5A80"/>
                    </a:solidFill>
                  </a:tcPr>
                </a:tc>
              </a:tr>
              <a:tr h="566928">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Liste déroulante (Dropdown)</a:t>
                      </a:r>
                      <a:endParaRPr lang="en-US" sz="14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Choisir tous les sites ou un site précis</a:t>
                      </a:r>
                      <a:endParaRPr lang="en-US" sz="14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r>
              <a:tr h="566928">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Camembert (Pie chart)</a:t>
                      </a:r>
                      <a:endParaRPr lang="en-US" sz="14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Part des succès par site, ou succès / échecs d'un site</a:t>
                      </a:r>
                      <a:endParaRPr lang="en-US" sz="14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Curseur de plage (RangeSlider)</a:t>
                      </a:r>
                      <a:endParaRPr lang="en-US" sz="14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Filtrer la charge utile entre 0 et 10 000 kg</a:t>
                      </a:r>
                      <a:endParaRPr lang="en-US" sz="14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r>
              <a:tr h="566928">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Nuage de points (Scatter)</a:t>
                      </a:r>
                      <a:endParaRPr lang="en-US" sz="14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Charge utile × résultat, couleur selon la version du booster</a:t>
                      </a:r>
                      <a:endParaRPr lang="en-US" sz="14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4343400"/>
            <a:ext cx="5852160" cy="1188720"/>
          </a:xfrm>
          <a:prstGeom prst="rect">
            <a:avLst/>
          </a:prstGeom>
          <a:noFill/>
          <a:ln/>
        </p:spPr>
        <p:txBody>
          <a:bodyPr wrap="square" rtlCol="0" anchor="t"/>
          <a:lstStyle/>
          <a:p>
            <a:pPr indent="0" marL="0">
              <a:buNone/>
            </a:pPr>
            <a:r>
              <a:rPr lang="en-US" sz="1500" b="1" dirty="0">
                <a:solidFill>
                  <a:srgbClr val="0B1D3A"/>
                </a:solidFill>
                <a:latin typeface="Calibri" pitchFamily="34" charset="0"/>
                <a:ea typeface="Calibri" pitchFamily="34" charset="-122"/>
                <a:cs typeface="Calibri" pitchFamily="34" charset="-120"/>
              </a:rPr>
              <a:t>Pourquoi : </a:t>
            </a:r>
            <a:pPr indent="0" marL="0">
              <a:buNone/>
            </a:pPr>
            <a:r>
              <a:rPr lang="en-US" sz="1500" dirty="0">
                <a:solidFill>
                  <a:srgbClr val="1F2937"/>
                </a:solidFill>
                <a:latin typeface="Calibri" pitchFamily="34" charset="0"/>
                <a:ea typeface="Calibri" pitchFamily="34" charset="-122"/>
                <a:cs typeface="Calibri" pitchFamily="34" charset="-120"/>
              </a:rPr>
              <a:t>les deux callbacks mettent à jour les graphiques en direct. On peut ainsi comparer les sites et repérer les plages de charge utile qui réussissent le mieux.</a:t>
            </a:r>
            <a:endParaRPr lang="en-US" sz="1500" dirty="0"/>
          </a:p>
        </p:txBody>
      </p:sp>
      <p:pic>
        <p:nvPicPr>
          <p:cNvPr id="5" name="Image 0" descr="C:/Users/enangue/Desktop/SpaceX-Capstone/images/dash_original.png">    </p:cNvPr>
          <p:cNvPicPr>
            <a:picLocks noChangeAspect="1"/>
          </p:cNvPicPr>
          <p:nvPr/>
        </p:nvPicPr>
        <p:blipFill>
          <a:blip r:embed="rId1"/>
          <a:stretch>
            <a:fillRect/>
          </a:stretch>
        </p:blipFill>
        <p:spPr>
          <a:xfrm>
            <a:off x="6766560" y="2188193"/>
            <a:ext cx="4846320" cy="2390175"/>
          </a:xfrm>
          <a:prstGeom prst="rect">
            <a:avLst/>
          </a:prstGeom>
        </p:spPr>
      </p:pic>
      <p:sp>
        <p:nvSpPr>
          <p:cNvPr id="6" name="Text 2"/>
          <p:cNvSpPr txBox="1"/>
          <p:nvPr/>
        </p:nvSpPr>
        <p:spPr>
          <a:xfrm>
            <a:off x="548640" y="5897880"/>
            <a:ext cx="11064240" cy="320040"/>
          </a:xfrm>
          <a:prstGeom prst="rect">
            <a:avLst/>
          </a:prstGeom>
          <a:noFill/>
          <a:ln/>
        </p:spPr>
        <p:txBody>
          <a:bodyPr wrap="square" lIns="0" tIns="0" rIns="0" bIns="0" rtlCol="0" anchor="ctr"/>
          <a:lstStyle/>
          <a:p>
            <a:pPr indent="0" marL="0">
              <a:buNone/>
            </a:pPr>
            <a:r>
              <a:rPr lang="en-US" sz="1200" b="1" dirty="0">
                <a:solidFill>
                  <a:srgbClr val="0B1D3A"/>
                </a:solidFill>
                <a:latin typeface="Calibri" pitchFamily="34" charset="0"/>
                <a:ea typeface="Calibri" pitchFamily="34" charset="-122"/>
                <a:cs typeface="Calibri" pitchFamily="34" charset="-120"/>
              </a:rPr>
              <a:t>GitHub : </a:t>
            </a:r>
            <a:pPr indent="0" marL="0">
              <a:buNone/>
            </a:pPr>
            <a:r>
              <a:rPr lang="en-US" sz="1200" u="sng" dirty="0">
                <a:solidFill>
                  <a:srgbClr val="1D4ED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https://github.com/vanessapenda/Spacex-Capstone/blob/main/spacex-dash-app.py</a:t>
            </a:r>
            <a:endParaRPr lang="en-US" sz="12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rgbClr val="0B1D3A"/>
                </a:solidFill>
                <a:latin typeface="Arial" pitchFamily="34" charset="0"/>
                <a:ea typeface="Arial" pitchFamily="34" charset="-122"/>
                <a:cs typeface="Arial" pitchFamily="34" charset="-120"/>
              </a:rPr>
              <a:t>Analyse prédictive (classification)</a:t>
            </a:r>
            <a:endParaRPr lang="en-US" sz="3000" dirty="0"/>
          </a:p>
        </p:txBody>
      </p:sp>
      <p:sp>
        <p:nvSpPr>
          <p:cNvPr id="3" name="Shape 1"/>
          <p:cNvSpPr/>
          <p:nvPr/>
        </p:nvSpPr>
        <p:spPr>
          <a:xfrm>
            <a:off x="740664" y="1653540"/>
            <a:ext cx="0" cy="3733800"/>
          </a:xfrm>
          <a:prstGeom prst="line">
            <a:avLst/>
          </a:prstGeom>
          <a:noFill/>
          <a:ln w="25400">
            <a:solidFill>
              <a:srgbClr val="98C1D9"/>
            </a:solidFill>
            <a:prstDash val="solid"/>
          </a:ln>
        </p:spPr>
      </p:sp>
      <p:sp>
        <p:nvSpPr>
          <p:cNvPr id="4" name="Shape 2"/>
          <p:cNvSpPr/>
          <p:nvPr/>
        </p:nvSpPr>
        <p:spPr>
          <a:xfrm>
            <a:off x="548640" y="1461516"/>
            <a:ext cx="384048" cy="384048"/>
          </a:xfrm>
          <a:prstGeom prst="ellipse">
            <a:avLst/>
          </a:prstGeom>
          <a:solidFill>
            <a:srgbClr val="E8590C"/>
          </a:solidFill>
          <a:ln w="12700">
            <a:solidFill>
              <a:srgbClr val="E8590C"/>
            </a:solidFill>
            <a:prstDash val="solid"/>
          </a:ln>
        </p:spPr>
      </p:sp>
      <p:sp>
        <p:nvSpPr>
          <p:cNvPr id="5" name="Text 3"/>
          <p:cNvSpPr txBox="1"/>
          <p:nvPr/>
        </p:nvSpPr>
        <p:spPr>
          <a:xfrm>
            <a:off x="548640" y="146151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6" name="Text 4"/>
          <p:cNvSpPr txBox="1"/>
          <p:nvPr/>
        </p:nvSpPr>
        <p:spPr>
          <a:xfrm>
            <a:off x="1115568" y="1280160"/>
            <a:ext cx="6199632" cy="746760"/>
          </a:xfrm>
          <a:prstGeom prst="rect">
            <a:avLst/>
          </a:prstGeom>
          <a:noFill/>
          <a:ln/>
        </p:spPr>
        <p:txBody>
          <a:bodyPr wrap="square" lIns="25400" tIns="25400" rIns="25400" bIns="25400" rtlCol="0" anchor="ctr"/>
          <a:lstStyle/>
          <a:p>
            <a:pPr indent="0" marL="0">
              <a:buNone/>
            </a:pPr>
            <a:r>
              <a:rPr lang="en-US" sz="1400" b="1" dirty="0">
                <a:solidFill>
                  <a:srgbClr val="0B1D3A"/>
                </a:solidFill>
                <a:latin typeface="Calibri" pitchFamily="34" charset="0"/>
                <a:ea typeface="Calibri" pitchFamily="34" charset="-122"/>
                <a:cs typeface="Calibri" pitchFamily="34" charset="-120"/>
              </a:rPr>
              <a:t>Préparation</a:t>
            </a:r>
            <a:endParaRPr lang="en-US" sz="1400" dirty="0"/>
          </a:p>
          <a:p>
            <a:pPr indent="0" marL="0">
              <a:buNone/>
            </a:pPr>
            <a:r>
              <a:rPr lang="en-US" sz="1300" dirty="0">
                <a:solidFill>
                  <a:srgbClr val="1F2937"/>
                </a:solidFill>
                <a:latin typeface="Calibri" pitchFamily="34" charset="0"/>
                <a:ea typeface="Calibri" pitchFamily="34" charset="-122"/>
                <a:cs typeface="Calibri" pitchFamily="34" charset="-120"/>
              </a:rPr>
              <a:t>Y = Class ; X = 83 variables standardisées (StandardScaler)</a:t>
            </a:r>
            <a:endParaRPr lang="en-US" sz="1400" dirty="0"/>
          </a:p>
        </p:txBody>
      </p:sp>
      <p:sp>
        <p:nvSpPr>
          <p:cNvPr id="7" name="Shape 5"/>
          <p:cNvSpPr/>
          <p:nvPr/>
        </p:nvSpPr>
        <p:spPr>
          <a:xfrm>
            <a:off x="548640" y="2208276"/>
            <a:ext cx="384048" cy="384048"/>
          </a:xfrm>
          <a:prstGeom prst="ellipse">
            <a:avLst/>
          </a:prstGeom>
          <a:solidFill>
            <a:srgbClr val="E8590C"/>
          </a:solidFill>
          <a:ln w="12700">
            <a:solidFill>
              <a:srgbClr val="E8590C"/>
            </a:solidFill>
            <a:prstDash val="solid"/>
          </a:ln>
        </p:spPr>
      </p:sp>
      <p:sp>
        <p:nvSpPr>
          <p:cNvPr id="8" name="Text 6"/>
          <p:cNvSpPr txBox="1"/>
          <p:nvPr/>
        </p:nvSpPr>
        <p:spPr>
          <a:xfrm>
            <a:off x="548640" y="220827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9" name="Text 7"/>
          <p:cNvSpPr txBox="1"/>
          <p:nvPr/>
        </p:nvSpPr>
        <p:spPr>
          <a:xfrm>
            <a:off x="1115568" y="2026920"/>
            <a:ext cx="6199632" cy="746760"/>
          </a:xfrm>
          <a:prstGeom prst="rect">
            <a:avLst/>
          </a:prstGeom>
          <a:noFill/>
          <a:ln/>
        </p:spPr>
        <p:txBody>
          <a:bodyPr wrap="square" lIns="25400" tIns="25400" rIns="25400" bIns="25400" rtlCol="0" anchor="ctr"/>
          <a:lstStyle/>
          <a:p>
            <a:pPr indent="0" marL="0">
              <a:buNone/>
            </a:pPr>
            <a:r>
              <a:rPr lang="en-US" sz="1400" b="1" dirty="0">
                <a:solidFill>
                  <a:srgbClr val="0B1D3A"/>
                </a:solidFill>
                <a:latin typeface="Calibri" pitchFamily="34" charset="0"/>
                <a:ea typeface="Calibri" pitchFamily="34" charset="-122"/>
                <a:cs typeface="Calibri" pitchFamily="34" charset="-120"/>
              </a:rPr>
              <a:t>Découpage</a:t>
            </a:r>
            <a:endParaRPr lang="en-US" sz="1400" dirty="0"/>
          </a:p>
          <a:p>
            <a:pPr indent="0" marL="0">
              <a:buNone/>
            </a:pPr>
            <a:r>
              <a:rPr lang="en-US" sz="1300" dirty="0">
                <a:solidFill>
                  <a:srgbClr val="1F2937"/>
                </a:solidFill>
                <a:latin typeface="Calibri" pitchFamily="34" charset="0"/>
                <a:ea typeface="Calibri" pitchFamily="34" charset="-122"/>
                <a:cs typeface="Calibri" pitchFamily="34" charset="-120"/>
              </a:rPr>
              <a:t>train_test_split, 80 % entraînement / 20 % test (18 vols), random_state = 2</a:t>
            </a:r>
            <a:endParaRPr lang="en-US" sz="1400" dirty="0"/>
          </a:p>
        </p:txBody>
      </p:sp>
      <p:sp>
        <p:nvSpPr>
          <p:cNvPr id="10" name="Shape 8"/>
          <p:cNvSpPr/>
          <p:nvPr/>
        </p:nvSpPr>
        <p:spPr>
          <a:xfrm>
            <a:off x="548640" y="2955036"/>
            <a:ext cx="384048" cy="384048"/>
          </a:xfrm>
          <a:prstGeom prst="ellipse">
            <a:avLst/>
          </a:prstGeom>
          <a:solidFill>
            <a:srgbClr val="E8590C"/>
          </a:solidFill>
          <a:ln w="12700">
            <a:solidFill>
              <a:srgbClr val="E8590C"/>
            </a:solidFill>
            <a:prstDash val="solid"/>
          </a:ln>
        </p:spPr>
      </p:sp>
      <p:sp>
        <p:nvSpPr>
          <p:cNvPr id="11" name="Text 9"/>
          <p:cNvSpPr txBox="1"/>
          <p:nvPr/>
        </p:nvSpPr>
        <p:spPr>
          <a:xfrm>
            <a:off x="548640" y="295503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2" name="Text 10"/>
          <p:cNvSpPr txBox="1"/>
          <p:nvPr/>
        </p:nvSpPr>
        <p:spPr>
          <a:xfrm>
            <a:off x="1115568" y="2773680"/>
            <a:ext cx="6199632" cy="746760"/>
          </a:xfrm>
          <a:prstGeom prst="rect">
            <a:avLst/>
          </a:prstGeom>
          <a:noFill/>
          <a:ln/>
        </p:spPr>
        <p:txBody>
          <a:bodyPr wrap="square" lIns="25400" tIns="25400" rIns="25400" bIns="25400" rtlCol="0" anchor="ctr"/>
          <a:lstStyle/>
          <a:p>
            <a:pPr indent="0" marL="0">
              <a:buNone/>
            </a:pPr>
            <a:r>
              <a:rPr lang="en-US" sz="1400" b="1" dirty="0">
                <a:solidFill>
                  <a:srgbClr val="0B1D3A"/>
                </a:solidFill>
                <a:latin typeface="Calibri" pitchFamily="34" charset="0"/>
                <a:ea typeface="Calibri" pitchFamily="34" charset="-122"/>
                <a:cs typeface="Calibri" pitchFamily="34" charset="-120"/>
              </a:rPr>
              <a:t>Optimisation</a:t>
            </a:r>
            <a:endParaRPr lang="en-US" sz="1400" dirty="0"/>
          </a:p>
          <a:p>
            <a:pPr indent="0" marL="0">
              <a:buNone/>
            </a:pPr>
            <a:r>
              <a:rPr lang="en-US" sz="1300" dirty="0">
                <a:solidFill>
                  <a:srgbClr val="1F2937"/>
                </a:solidFill>
                <a:latin typeface="Calibri" pitchFamily="34" charset="0"/>
                <a:ea typeface="Calibri" pitchFamily="34" charset="-122"/>
                <a:cs typeface="Calibri" pitchFamily="34" charset="-120"/>
              </a:rPr>
              <a:t>GridSearchCV avec validation croisée à 10 plis pour chaque modèle</a:t>
            </a:r>
            <a:endParaRPr lang="en-US" sz="1400" dirty="0"/>
          </a:p>
        </p:txBody>
      </p:sp>
      <p:sp>
        <p:nvSpPr>
          <p:cNvPr id="13" name="Shape 11"/>
          <p:cNvSpPr/>
          <p:nvPr/>
        </p:nvSpPr>
        <p:spPr>
          <a:xfrm>
            <a:off x="548640" y="3701796"/>
            <a:ext cx="384048" cy="384048"/>
          </a:xfrm>
          <a:prstGeom prst="ellipse">
            <a:avLst/>
          </a:prstGeom>
          <a:solidFill>
            <a:srgbClr val="E8590C"/>
          </a:solidFill>
          <a:ln w="12700">
            <a:solidFill>
              <a:srgbClr val="E8590C"/>
            </a:solidFill>
            <a:prstDash val="solid"/>
          </a:ln>
        </p:spPr>
      </p:sp>
      <p:sp>
        <p:nvSpPr>
          <p:cNvPr id="14" name="Text 12"/>
          <p:cNvSpPr txBox="1"/>
          <p:nvPr/>
        </p:nvSpPr>
        <p:spPr>
          <a:xfrm>
            <a:off x="548640" y="370179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5" name="Text 13"/>
          <p:cNvSpPr txBox="1"/>
          <p:nvPr/>
        </p:nvSpPr>
        <p:spPr>
          <a:xfrm>
            <a:off x="1115568" y="3520440"/>
            <a:ext cx="6199632" cy="746760"/>
          </a:xfrm>
          <a:prstGeom prst="rect">
            <a:avLst/>
          </a:prstGeom>
          <a:noFill/>
          <a:ln/>
        </p:spPr>
        <p:txBody>
          <a:bodyPr wrap="square" lIns="25400" tIns="25400" rIns="25400" bIns="25400" rtlCol="0" anchor="ctr"/>
          <a:lstStyle/>
          <a:p>
            <a:pPr indent="0" marL="0">
              <a:buNone/>
            </a:pPr>
            <a:r>
              <a:rPr lang="en-US" sz="1400" b="1" dirty="0">
                <a:solidFill>
                  <a:srgbClr val="0B1D3A"/>
                </a:solidFill>
                <a:latin typeface="Calibri" pitchFamily="34" charset="0"/>
                <a:ea typeface="Calibri" pitchFamily="34" charset="-122"/>
                <a:cs typeface="Calibri" pitchFamily="34" charset="-120"/>
              </a:rPr>
              <a:t>Modèles</a:t>
            </a:r>
            <a:endParaRPr lang="en-US" sz="1400" dirty="0"/>
          </a:p>
          <a:p>
            <a:pPr indent="0" marL="0">
              <a:buNone/>
            </a:pPr>
            <a:r>
              <a:rPr lang="en-US" sz="1300" dirty="0">
                <a:solidFill>
                  <a:srgbClr val="1F2937"/>
                </a:solidFill>
                <a:latin typeface="Calibri" pitchFamily="34" charset="0"/>
                <a:ea typeface="Calibri" pitchFamily="34" charset="-122"/>
                <a:cs typeface="Calibri" pitchFamily="34" charset="-120"/>
              </a:rPr>
              <a:t>régression logistique, SVM, arbre de décision, KNN</a:t>
            </a:r>
            <a:endParaRPr lang="en-US" sz="1400" dirty="0"/>
          </a:p>
        </p:txBody>
      </p:sp>
      <p:sp>
        <p:nvSpPr>
          <p:cNvPr id="16" name="Shape 14"/>
          <p:cNvSpPr/>
          <p:nvPr/>
        </p:nvSpPr>
        <p:spPr>
          <a:xfrm>
            <a:off x="548640" y="4448556"/>
            <a:ext cx="384048" cy="384048"/>
          </a:xfrm>
          <a:prstGeom prst="ellipse">
            <a:avLst/>
          </a:prstGeom>
          <a:solidFill>
            <a:srgbClr val="E8590C"/>
          </a:solidFill>
          <a:ln w="12700">
            <a:solidFill>
              <a:srgbClr val="E8590C"/>
            </a:solidFill>
            <a:prstDash val="solid"/>
          </a:ln>
        </p:spPr>
      </p:sp>
      <p:sp>
        <p:nvSpPr>
          <p:cNvPr id="17" name="Text 15"/>
          <p:cNvSpPr txBox="1"/>
          <p:nvPr/>
        </p:nvSpPr>
        <p:spPr>
          <a:xfrm>
            <a:off x="548640" y="444855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18" name="Text 16"/>
          <p:cNvSpPr txBox="1"/>
          <p:nvPr/>
        </p:nvSpPr>
        <p:spPr>
          <a:xfrm>
            <a:off x="1115568" y="4267200"/>
            <a:ext cx="6199632" cy="746760"/>
          </a:xfrm>
          <a:prstGeom prst="rect">
            <a:avLst/>
          </a:prstGeom>
          <a:noFill/>
          <a:ln/>
        </p:spPr>
        <p:txBody>
          <a:bodyPr wrap="square" lIns="25400" tIns="25400" rIns="25400" bIns="25400" rtlCol="0" anchor="ctr"/>
          <a:lstStyle/>
          <a:p>
            <a:pPr indent="0" marL="0">
              <a:buNone/>
            </a:pPr>
            <a:r>
              <a:rPr lang="en-US" sz="1400" b="1" dirty="0">
                <a:solidFill>
                  <a:srgbClr val="0B1D3A"/>
                </a:solidFill>
                <a:latin typeface="Calibri" pitchFamily="34" charset="0"/>
                <a:ea typeface="Calibri" pitchFamily="34" charset="-122"/>
                <a:cs typeface="Calibri" pitchFamily="34" charset="-120"/>
              </a:rPr>
              <a:t>Évaluation</a:t>
            </a:r>
            <a:endParaRPr lang="en-US" sz="1400" dirty="0"/>
          </a:p>
          <a:p>
            <a:pPr indent="0" marL="0">
              <a:buNone/>
            </a:pPr>
            <a:r>
              <a:rPr lang="en-US" sz="1300" dirty="0">
                <a:solidFill>
                  <a:srgbClr val="1F2937"/>
                </a:solidFill>
                <a:latin typeface="Calibri" pitchFamily="34" charset="0"/>
                <a:ea typeface="Calibri" pitchFamily="34" charset="-122"/>
                <a:cs typeface="Calibri" pitchFamily="34" charset="-120"/>
              </a:rPr>
              <a:t>précision sur le test et matrice de confusion</a:t>
            </a:r>
            <a:endParaRPr lang="en-US" sz="1400" dirty="0"/>
          </a:p>
        </p:txBody>
      </p:sp>
      <p:sp>
        <p:nvSpPr>
          <p:cNvPr id="19" name="Shape 17"/>
          <p:cNvSpPr/>
          <p:nvPr/>
        </p:nvSpPr>
        <p:spPr>
          <a:xfrm>
            <a:off x="548640" y="5195316"/>
            <a:ext cx="384048" cy="384048"/>
          </a:xfrm>
          <a:prstGeom prst="ellipse">
            <a:avLst/>
          </a:prstGeom>
          <a:solidFill>
            <a:srgbClr val="E8590C"/>
          </a:solidFill>
          <a:ln w="12700">
            <a:solidFill>
              <a:srgbClr val="E8590C"/>
            </a:solidFill>
            <a:prstDash val="solid"/>
          </a:ln>
        </p:spPr>
      </p:sp>
      <p:sp>
        <p:nvSpPr>
          <p:cNvPr id="20" name="Text 18"/>
          <p:cNvSpPr txBox="1"/>
          <p:nvPr/>
        </p:nvSpPr>
        <p:spPr>
          <a:xfrm>
            <a:off x="548640" y="519531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1" name="Text 19"/>
          <p:cNvSpPr txBox="1"/>
          <p:nvPr/>
        </p:nvSpPr>
        <p:spPr>
          <a:xfrm>
            <a:off x="1115568" y="5013960"/>
            <a:ext cx="6199632" cy="746760"/>
          </a:xfrm>
          <a:prstGeom prst="rect">
            <a:avLst/>
          </a:prstGeom>
          <a:noFill/>
          <a:ln/>
        </p:spPr>
        <p:txBody>
          <a:bodyPr wrap="square" lIns="25400" tIns="25400" rIns="25400" bIns="25400" rtlCol="0" anchor="ctr"/>
          <a:lstStyle/>
          <a:p>
            <a:pPr indent="0" marL="0">
              <a:buNone/>
            </a:pPr>
            <a:r>
              <a:rPr lang="en-US" sz="1400" b="1" dirty="0">
                <a:solidFill>
                  <a:srgbClr val="0B1D3A"/>
                </a:solidFill>
                <a:latin typeface="Calibri" pitchFamily="34" charset="0"/>
                <a:ea typeface="Calibri" pitchFamily="34" charset="-122"/>
                <a:cs typeface="Calibri" pitchFamily="34" charset="-120"/>
              </a:rPr>
              <a:t>Choix</a:t>
            </a:r>
            <a:endParaRPr lang="en-US" sz="1400" dirty="0"/>
          </a:p>
          <a:p>
            <a:pPr indent="0" marL="0">
              <a:buNone/>
            </a:pPr>
            <a:r>
              <a:rPr lang="en-US" sz="1300" dirty="0">
                <a:solidFill>
                  <a:srgbClr val="1F2937"/>
                </a:solidFill>
                <a:latin typeface="Calibri" pitchFamily="34" charset="0"/>
                <a:ea typeface="Calibri" pitchFamily="34" charset="-122"/>
                <a:cs typeface="Calibri" pitchFamily="34" charset="-120"/>
              </a:rPr>
              <a:t>le modèle avec la meilleure précision de validation croisée</a:t>
            </a:r>
            <a:endParaRPr lang="en-US" sz="1400" dirty="0"/>
          </a:p>
        </p:txBody>
      </p:sp>
      <p:sp>
        <p:nvSpPr>
          <p:cNvPr id="22" name="Shape 20"/>
          <p:cNvSpPr/>
          <p:nvPr/>
        </p:nvSpPr>
        <p:spPr>
          <a:xfrm>
            <a:off x="7772400" y="1371600"/>
            <a:ext cx="3840480" cy="4297680"/>
          </a:xfrm>
          <a:prstGeom prst="roundRect">
            <a:avLst>
              <a:gd name="adj" fmla="val 1905"/>
            </a:avLst>
          </a:prstGeom>
          <a:solidFill>
            <a:srgbClr val="EEF2F7"/>
          </a:solidFill>
          <a:ln w="12700">
            <a:solidFill>
              <a:srgbClr val="EEF2F7"/>
            </a:solidFill>
            <a:prstDash val="solid"/>
          </a:ln>
        </p:spPr>
      </p:sp>
      <p:sp>
        <p:nvSpPr>
          <p:cNvPr id="23" name="Text 21"/>
          <p:cNvSpPr txBox="1"/>
          <p:nvPr/>
        </p:nvSpPr>
        <p:spPr>
          <a:xfrm>
            <a:off x="8001000" y="1508760"/>
            <a:ext cx="3383280" cy="365760"/>
          </a:xfrm>
          <a:prstGeom prst="rect">
            <a:avLst/>
          </a:prstGeom>
          <a:noFill/>
          <a:ln/>
        </p:spPr>
        <p:txBody>
          <a:bodyPr wrap="square" lIns="0" tIns="0" rIns="0" bIns="0" rtlCol="0" anchor="ctr"/>
          <a:lstStyle/>
          <a:p>
            <a:pPr indent="0" marL="0">
              <a:buNone/>
            </a:pPr>
            <a:r>
              <a:rPr lang="en-US" sz="1600" b="1" dirty="0">
                <a:solidFill>
                  <a:srgbClr val="0B1D3A"/>
                </a:solidFill>
                <a:latin typeface="Arial" pitchFamily="34" charset="0"/>
                <a:ea typeface="Arial" pitchFamily="34" charset="-122"/>
                <a:cs typeface="Arial" pitchFamily="34" charset="-120"/>
              </a:rPr>
              <a:t>Hyperparamètres testés</a:t>
            </a:r>
            <a:endParaRPr lang="en-US" sz="1600" dirty="0"/>
          </a:p>
        </p:txBody>
      </p:sp>
      <p:sp>
        <p:nvSpPr>
          <p:cNvPr id="24" name="Text 22"/>
          <p:cNvSpPr txBox="1"/>
          <p:nvPr/>
        </p:nvSpPr>
        <p:spPr>
          <a:xfrm>
            <a:off x="7955280" y="1965960"/>
            <a:ext cx="3474720" cy="3566160"/>
          </a:xfrm>
          <a:prstGeom prst="rect">
            <a:avLst/>
          </a:prstGeom>
          <a:noFill/>
          <a:ln/>
        </p:spPr>
        <p:txBody>
          <a:bodyPr wrap="square" lIns="50800" tIns="50800" rIns="50800" bIns="50800" rtlCol="0" anchor="t"/>
          <a:lstStyle/>
          <a:p>
            <a:pPr marL="228600" indent="-228600">
              <a:spcAft>
                <a:spcPts val="800"/>
              </a:spcAft>
              <a:buSzPct val="100000"/>
              <a:buChar char="•"/>
            </a:pPr>
            <a:r>
              <a:rPr lang="en-US" sz="1400" b="1" dirty="0">
                <a:solidFill>
                  <a:srgbClr val="1F2937"/>
                </a:solidFill>
                <a:latin typeface="Calibri" pitchFamily="34" charset="0"/>
                <a:ea typeface="Calibri" pitchFamily="34" charset="-122"/>
                <a:cs typeface="Calibri" pitchFamily="34" charset="-120"/>
              </a:rPr>
              <a:t>Régression logistique : </a:t>
            </a:r>
            <a:pPr indent="0" marL="0">
              <a:buNone/>
            </a:pPr>
            <a:r>
              <a:rPr lang="en-US" sz="1400" dirty="0">
                <a:solidFill>
                  <a:srgbClr val="1F2937"/>
                </a:solidFill>
                <a:latin typeface="Calibri" pitchFamily="34" charset="0"/>
                <a:ea typeface="Calibri" pitchFamily="34" charset="-122"/>
                <a:cs typeface="Calibri" pitchFamily="34" charset="-120"/>
              </a:rPr>
              <a:t>C, penalty, solver</a:t>
            </a:r>
            <a:endParaRPr lang="en-US" sz="1400" dirty="0"/>
          </a:p>
          <a:p>
            <a:pPr marL="228600" indent="-228600">
              <a:spcAft>
                <a:spcPts val="800"/>
              </a:spcAft>
              <a:buSzPct val="100000"/>
              <a:buChar char="•"/>
            </a:pPr>
            <a:r>
              <a:rPr lang="en-US" sz="1400" b="1" dirty="0">
                <a:solidFill>
                  <a:srgbClr val="1F2937"/>
                </a:solidFill>
                <a:latin typeface="Calibri" pitchFamily="34" charset="0"/>
                <a:ea typeface="Calibri" pitchFamily="34" charset="-122"/>
                <a:cs typeface="Calibri" pitchFamily="34" charset="-120"/>
              </a:rPr>
              <a:t>SVM : </a:t>
            </a:r>
            <a:pPr indent="0" marL="0">
              <a:buNone/>
            </a:pPr>
            <a:r>
              <a:rPr lang="en-US" sz="1400" dirty="0">
                <a:solidFill>
                  <a:srgbClr val="1F2937"/>
                </a:solidFill>
                <a:latin typeface="Calibri" pitchFamily="34" charset="0"/>
                <a:ea typeface="Calibri" pitchFamily="34" charset="-122"/>
                <a:cs typeface="Calibri" pitchFamily="34" charset="-120"/>
              </a:rPr>
              <a:t>kernel, C, gamma</a:t>
            </a:r>
            <a:endParaRPr lang="en-US" sz="1400" dirty="0"/>
          </a:p>
          <a:p>
            <a:pPr marL="228600" indent="-228600">
              <a:spcAft>
                <a:spcPts val="800"/>
              </a:spcAft>
              <a:buSzPct val="100000"/>
              <a:buChar char="•"/>
            </a:pPr>
            <a:r>
              <a:rPr lang="en-US" sz="1400" b="1" dirty="0">
                <a:solidFill>
                  <a:srgbClr val="1F2937"/>
                </a:solidFill>
                <a:latin typeface="Calibri" pitchFamily="34" charset="0"/>
                <a:ea typeface="Calibri" pitchFamily="34" charset="-122"/>
                <a:cs typeface="Calibri" pitchFamily="34" charset="-120"/>
              </a:rPr>
              <a:t>Arbre : </a:t>
            </a:r>
            <a:pPr indent="0" marL="0">
              <a:buNone/>
            </a:pPr>
            <a:r>
              <a:rPr lang="en-US" sz="1400" dirty="0">
                <a:solidFill>
                  <a:srgbClr val="1F2937"/>
                </a:solidFill>
                <a:latin typeface="Calibri" pitchFamily="34" charset="0"/>
                <a:ea typeface="Calibri" pitchFamily="34" charset="-122"/>
                <a:cs typeface="Calibri" pitchFamily="34" charset="-120"/>
              </a:rPr>
              <a:t>criterion, splitter, max_depth, min_samples…</a:t>
            </a:r>
            <a:endParaRPr lang="en-US" sz="1400" dirty="0"/>
          </a:p>
          <a:p>
            <a:pPr marL="228600" indent="-228600">
              <a:spcAft>
                <a:spcPts val="800"/>
              </a:spcAft>
              <a:buSzPct val="100000"/>
              <a:buChar char="•"/>
            </a:pPr>
            <a:r>
              <a:rPr lang="en-US" sz="1400" b="1" dirty="0">
                <a:solidFill>
                  <a:srgbClr val="1F2937"/>
                </a:solidFill>
                <a:latin typeface="Calibri" pitchFamily="34" charset="0"/>
                <a:ea typeface="Calibri" pitchFamily="34" charset="-122"/>
                <a:cs typeface="Calibri" pitchFamily="34" charset="-120"/>
              </a:rPr>
              <a:t>KNN : </a:t>
            </a:r>
            <a:pPr indent="0" marL="0">
              <a:buNone/>
            </a:pPr>
            <a:r>
              <a:rPr lang="en-US" sz="1400" dirty="0">
                <a:solidFill>
                  <a:srgbClr val="1F2937"/>
                </a:solidFill>
                <a:latin typeface="Calibri" pitchFamily="34" charset="0"/>
                <a:ea typeface="Calibri" pitchFamily="34" charset="-122"/>
                <a:cs typeface="Calibri" pitchFamily="34" charset="-120"/>
              </a:rPr>
              <a:t>n_neighbors, algorithm, p</a:t>
            </a:r>
            <a:endParaRPr lang="en-US" sz="1400" dirty="0"/>
          </a:p>
        </p:txBody>
      </p:sp>
      <p:sp>
        <p:nvSpPr>
          <p:cNvPr id="25" name="Text 23"/>
          <p:cNvSpPr txBox="1"/>
          <p:nvPr/>
        </p:nvSpPr>
        <p:spPr>
          <a:xfrm>
            <a:off x="548640" y="5897880"/>
            <a:ext cx="11064240" cy="320040"/>
          </a:xfrm>
          <a:prstGeom prst="rect">
            <a:avLst/>
          </a:prstGeom>
          <a:noFill/>
          <a:ln/>
        </p:spPr>
        <p:txBody>
          <a:bodyPr wrap="square" lIns="0" tIns="0" rIns="0" bIns="0" rtlCol="0" anchor="ctr"/>
          <a:lstStyle/>
          <a:p>
            <a:pPr indent="0" marL="0">
              <a:buNone/>
            </a:pPr>
            <a:r>
              <a:rPr lang="en-US" sz="1200" b="1" dirty="0">
                <a:solidFill>
                  <a:srgbClr val="0B1D3A"/>
                </a:solidFill>
                <a:latin typeface="Calibri" pitchFamily="34" charset="0"/>
                <a:ea typeface="Calibri" pitchFamily="34" charset="-122"/>
                <a:cs typeface="Calibri" pitchFamily="34" charset="-120"/>
              </a:rPr>
              <a:t>GitHub : </a:t>
            </a:r>
            <a:pPr indent="0" marL="0">
              <a:buNone/>
            </a:pPr>
            <a:r>
              <a:rPr lang="en-US" sz="1200" u="sng" dirty="0">
                <a:solidFill>
                  <a:srgbClr val="1D4ED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https://github.com/vanessapenda/Spacex-Capstone/blob/main/SpaceX_Machine_Learning_Prediction_Part_5.ipynb</a:t>
            </a:r>
            <a:endParaRPr lang="en-US" sz="12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rgbClr val="0B1D3A"/>
                </a:solidFill>
                <a:latin typeface="Arial" pitchFamily="34" charset="0"/>
                <a:ea typeface="Arial" pitchFamily="34" charset="-122"/>
                <a:cs typeface="Arial" pitchFamily="34" charset="-120"/>
              </a:rPr>
              <a:t>Résultats</a:t>
            </a:r>
            <a:endParaRPr lang="en-US" sz="3000" dirty="0"/>
          </a:p>
        </p:txBody>
      </p:sp>
      <p:sp>
        <p:nvSpPr>
          <p:cNvPr id="3" name="Shape 1"/>
          <p:cNvSpPr/>
          <p:nvPr/>
        </p:nvSpPr>
        <p:spPr>
          <a:xfrm>
            <a:off x="548640" y="1325880"/>
            <a:ext cx="3474720" cy="4480560"/>
          </a:xfrm>
          <a:prstGeom prst="roundRect">
            <a:avLst>
              <a:gd name="adj" fmla="val 2105"/>
            </a:avLst>
          </a:prstGeom>
          <a:solidFill>
            <a:srgbClr val="EEF2F7"/>
          </a:solidFill>
          <a:ln w="12700">
            <a:solidFill>
              <a:srgbClr val="EEF2F7"/>
            </a:solidFill>
            <a:prstDash val="solid"/>
          </a:ln>
        </p:spPr>
      </p:sp>
      <p:sp>
        <p:nvSpPr>
          <p:cNvPr id="4" name="Shape 2"/>
          <p:cNvSpPr/>
          <p:nvPr/>
        </p:nvSpPr>
        <p:spPr>
          <a:xfrm>
            <a:off x="822960" y="1554480"/>
            <a:ext cx="502920" cy="502920"/>
          </a:xfrm>
          <a:prstGeom prst="ellipse">
            <a:avLst/>
          </a:prstGeom>
          <a:solidFill>
            <a:srgbClr val="E8590C"/>
          </a:solidFill>
          <a:ln w="12700">
            <a:solidFill>
              <a:srgbClr val="E8590C"/>
            </a:solidFill>
            <a:prstDash val="solid"/>
          </a:ln>
        </p:spPr>
      </p:sp>
      <p:sp>
        <p:nvSpPr>
          <p:cNvPr id="5" name="Text 3"/>
          <p:cNvSpPr txBox="1"/>
          <p:nvPr/>
        </p:nvSpPr>
        <p:spPr>
          <a:xfrm>
            <a:off x="822960" y="155448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6" name="Text 4"/>
          <p:cNvSpPr txBox="1"/>
          <p:nvPr/>
        </p:nvSpPr>
        <p:spPr>
          <a:xfrm>
            <a:off x="822960" y="2194560"/>
            <a:ext cx="3017520" cy="457200"/>
          </a:xfrm>
          <a:prstGeom prst="rect">
            <a:avLst/>
          </a:prstGeom>
          <a:noFill/>
          <a:ln/>
        </p:spPr>
        <p:txBody>
          <a:bodyPr wrap="square" lIns="0" tIns="0" rIns="0" bIns="0" rtlCol="0" anchor="ctr"/>
          <a:lstStyle/>
          <a:p>
            <a:pPr indent="0" marL="0">
              <a:buNone/>
            </a:pPr>
            <a:r>
              <a:rPr lang="en-US" sz="1800" b="1" dirty="0">
                <a:solidFill>
                  <a:srgbClr val="0B1D3A"/>
                </a:solidFill>
                <a:latin typeface="Arial" pitchFamily="34" charset="0"/>
                <a:ea typeface="Arial" pitchFamily="34" charset="-122"/>
                <a:cs typeface="Arial" pitchFamily="34" charset="-120"/>
              </a:rPr>
              <a:t>Analyse exploratoire</a:t>
            </a:r>
            <a:endParaRPr lang="en-US" sz="1800" dirty="0"/>
          </a:p>
        </p:txBody>
      </p:sp>
      <p:sp>
        <p:nvSpPr>
          <p:cNvPr id="7" name="Text 5"/>
          <p:cNvSpPr txBox="1"/>
          <p:nvPr/>
        </p:nvSpPr>
        <p:spPr>
          <a:xfrm>
            <a:off x="731520" y="2743200"/>
            <a:ext cx="3154680" cy="2926080"/>
          </a:xfrm>
          <a:prstGeom prst="rect">
            <a:avLst/>
          </a:prstGeom>
          <a:noFill/>
          <a:ln/>
        </p:spPr>
        <p:txBody>
          <a:bodyPr wrap="square" lIns="50800" tIns="50800" rIns="50800" bIns="50800" rtlCol="0" anchor="t"/>
          <a:lstStyle/>
          <a:p>
            <a:pPr marL="228600" indent="-228600">
              <a:spcAft>
                <a:spcPts val="1000"/>
              </a:spcAft>
              <a:buSzPct val="100000"/>
              <a:buChar char="•"/>
            </a:pPr>
            <a:r>
              <a:rPr lang="en-US" sz="1500" dirty="0">
                <a:solidFill>
                  <a:srgbClr val="1F2937"/>
                </a:solidFill>
                <a:latin typeface="Calibri" pitchFamily="34" charset="0"/>
                <a:ea typeface="Calibri" pitchFamily="34" charset="-122"/>
                <a:cs typeface="Calibri" pitchFamily="34" charset="-120"/>
              </a:rPr>
              <a:t>Le succès augmente avec le nombre de vols et les années</a:t>
            </a:r>
            <a:endParaRPr lang="en-US" sz="1500" dirty="0"/>
          </a:p>
          <a:p>
            <a:pPr marL="228600" indent="-228600">
              <a:spcAft>
                <a:spcPts val="1000"/>
              </a:spcAft>
              <a:buSzPct val="100000"/>
              <a:buChar char="•"/>
            </a:pPr>
            <a:r>
              <a:rPr lang="en-US" sz="1500" dirty="0">
                <a:solidFill>
                  <a:srgbClr val="1F2937"/>
                </a:solidFill>
                <a:latin typeface="Calibri" pitchFamily="34" charset="0"/>
                <a:ea typeface="Calibri" pitchFamily="34" charset="-122"/>
                <a:cs typeface="Calibri" pitchFamily="34" charset="-120"/>
              </a:rPr>
              <a:t>Les orbites ES-L1, GEO, HEO et SSO ont 100 % de succès</a:t>
            </a:r>
            <a:endParaRPr lang="en-US" sz="1500" dirty="0"/>
          </a:p>
          <a:p>
            <a:pPr marL="228600" indent="-228600">
              <a:spcAft>
                <a:spcPts val="1000"/>
              </a:spcAft>
              <a:buSzPct val="100000"/>
              <a:buChar char="•"/>
            </a:pPr>
            <a:r>
              <a:rPr lang="en-US" sz="1500" dirty="0">
                <a:solidFill>
                  <a:srgbClr val="1F2937"/>
                </a:solidFill>
                <a:latin typeface="Calibri" pitchFamily="34" charset="0"/>
                <a:ea typeface="Calibri" pitchFamily="34" charset="-122"/>
                <a:cs typeface="Calibri" pitchFamily="34" charset="-120"/>
              </a:rPr>
              <a:t>GTO est l'orbite la plus difficile (52 %)</a:t>
            </a:r>
            <a:endParaRPr lang="en-US" sz="1500" dirty="0"/>
          </a:p>
        </p:txBody>
      </p:sp>
      <p:sp>
        <p:nvSpPr>
          <p:cNvPr id="8" name="Shape 6"/>
          <p:cNvSpPr/>
          <p:nvPr/>
        </p:nvSpPr>
        <p:spPr>
          <a:xfrm>
            <a:off x="4297680" y="1325880"/>
            <a:ext cx="3474720" cy="4480560"/>
          </a:xfrm>
          <a:prstGeom prst="roundRect">
            <a:avLst>
              <a:gd name="adj" fmla="val 2105"/>
            </a:avLst>
          </a:prstGeom>
          <a:solidFill>
            <a:srgbClr val="EEF2F7"/>
          </a:solidFill>
          <a:ln w="12700">
            <a:solidFill>
              <a:srgbClr val="EEF2F7"/>
            </a:solidFill>
            <a:prstDash val="solid"/>
          </a:ln>
        </p:spPr>
      </p:sp>
      <p:sp>
        <p:nvSpPr>
          <p:cNvPr id="9" name="Shape 7"/>
          <p:cNvSpPr/>
          <p:nvPr/>
        </p:nvSpPr>
        <p:spPr>
          <a:xfrm>
            <a:off x="4572000" y="1554480"/>
            <a:ext cx="502920" cy="502920"/>
          </a:xfrm>
          <a:prstGeom prst="ellipse">
            <a:avLst/>
          </a:prstGeom>
          <a:solidFill>
            <a:srgbClr val="E8590C"/>
          </a:solidFill>
          <a:ln w="12700">
            <a:solidFill>
              <a:srgbClr val="E8590C"/>
            </a:solidFill>
            <a:prstDash val="solid"/>
          </a:ln>
        </p:spPr>
      </p:sp>
      <p:sp>
        <p:nvSpPr>
          <p:cNvPr id="10" name="Text 8"/>
          <p:cNvSpPr txBox="1"/>
          <p:nvPr/>
        </p:nvSpPr>
        <p:spPr>
          <a:xfrm>
            <a:off x="4572000" y="155448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txBox="1"/>
          <p:nvPr/>
        </p:nvSpPr>
        <p:spPr>
          <a:xfrm>
            <a:off x="4572000" y="2194560"/>
            <a:ext cx="3017520" cy="457200"/>
          </a:xfrm>
          <a:prstGeom prst="rect">
            <a:avLst/>
          </a:prstGeom>
          <a:noFill/>
          <a:ln/>
        </p:spPr>
        <p:txBody>
          <a:bodyPr wrap="square" lIns="0" tIns="0" rIns="0" bIns="0" rtlCol="0" anchor="ctr"/>
          <a:lstStyle/>
          <a:p>
            <a:pPr indent="0" marL="0">
              <a:buNone/>
            </a:pPr>
            <a:r>
              <a:rPr lang="en-US" sz="1800" b="1" dirty="0">
                <a:solidFill>
                  <a:srgbClr val="0B1D3A"/>
                </a:solidFill>
                <a:latin typeface="Arial" pitchFamily="34" charset="0"/>
                <a:ea typeface="Arial" pitchFamily="34" charset="-122"/>
                <a:cs typeface="Arial" pitchFamily="34" charset="-120"/>
              </a:rPr>
              <a:t>Analytique interactive</a:t>
            </a:r>
            <a:endParaRPr lang="en-US" sz="1800" dirty="0"/>
          </a:p>
        </p:txBody>
      </p:sp>
      <p:sp>
        <p:nvSpPr>
          <p:cNvPr id="12" name="Text 10"/>
          <p:cNvSpPr txBox="1"/>
          <p:nvPr/>
        </p:nvSpPr>
        <p:spPr>
          <a:xfrm>
            <a:off x="4480560" y="2743200"/>
            <a:ext cx="3154680" cy="2926080"/>
          </a:xfrm>
          <a:prstGeom prst="rect">
            <a:avLst/>
          </a:prstGeom>
          <a:noFill/>
          <a:ln/>
        </p:spPr>
        <p:txBody>
          <a:bodyPr wrap="square" lIns="50800" tIns="50800" rIns="50800" bIns="50800" rtlCol="0" anchor="t"/>
          <a:lstStyle/>
          <a:p>
            <a:pPr marL="228600" indent="-228600">
              <a:spcAft>
                <a:spcPts val="1000"/>
              </a:spcAft>
              <a:buSzPct val="100000"/>
              <a:buChar char="•"/>
            </a:pPr>
            <a:r>
              <a:rPr lang="en-US" sz="1500" dirty="0">
                <a:solidFill>
                  <a:srgbClr val="1F2937"/>
                </a:solidFill>
                <a:latin typeface="Calibri" pitchFamily="34" charset="0"/>
                <a:ea typeface="Calibri" pitchFamily="34" charset="-122"/>
                <a:cs typeface="Calibri" pitchFamily="34" charset="-120"/>
              </a:rPr>
              <a:t>Tous les sites sont près des côtes</a:t>
            </a:r>
            <a:endParaRPr lang="en-US" sz="1500" dirty="0"/>
          </a:p>
          <a:p>
            <a:pPr marL="228600" indent="-228600">
              <a:spcAft>
                <a:spcPts val="1000"/>
              </a:spcAft>
              <a:buSzPct val="100000"/>
              <a:buChar char="•"/>
            </a:pPr>
            <a:r>
              <a:rPr lang="en-US" sz="1500" dirty="0">
                <a:solidFill>
                  <a:srgbClr val="1F2937"/>
                </a:solidFill>
                <a:latin typeface="Calibri" pitchFamily="34" charset="0"/>
                <a:ea typeface="Calibri" pitchFamily="34" charset="-122"/>
                <a:cs typeface="Calibri" pitchFamily="34" charset="-120"/>
              </a:rPr>
              <a:t>KSC LC-39A a le meilleur taux de succès (76,9 %)</a:t>
            </a:r>
            <a:endParaRPr lang="en-US" sz="1500" dirty="0"/>
          </a:p>
          <a:p>
            <a:pPr marL="228600" indent="-228600">
              <a:spcAft>
                <a:spcPts val="1000"/>
              </a:spcAft>
              <a:buSzPct val="100000"/>
              <a:buChar char="•"/>
            </a:pPr>
            <a:r>
              <a:rPr lang="en-US" sz="1500" dirty="0">
                <a:solidFill>
                  <a:srgbClr val="1F2937"/>
                </a:solidFill>
                <a:latin typeface="Calibri" pitchFamily="34" charset="0"/>
                <a:ea typeface="Calibri" pitchFamily="34" charset="-122"/>
                <a:cs typeface="Calibri" pitchFamily="34" charset="-120"/>
              </a:rPr>
              <a:t>Les charges de 2 000 à 4 000 kg réussissent le plus souvent</a:t>
            </a:r>
            <a:endParaRPr lang="en-US" sz="1500" dirty="0"/>
          </a:p>
        </p:txBody>
      </p:sp>
      <p:sp>
        <p:nvSpPr>
          <p:cNvPr id="13" name="Shape 11"/>
          <p:cNvSpPr/>
          <p:nvPr/>
        </p:nvSpPr>
        <p:spPr>
          <a:xfrm>
            <a:off x="8046720" y="1325880"/>
            <a:ext cx="3474720" cy="4480560"/>
          </a:xfrm>
          <a:prstGeom prst="roundRect">
            <a:avLst>
              <a:gd name="adj" fmla="val 2105"/>
            </a:avLst>
          </a:prstGeom>
          <a:solidFill>
            <a:srgbClr val="EEF2F7"/>
          </a:solidFill>
          <a:ln w="12700">
            <a:solidFill>
              <a:srgbClr val="EEF2F7"/>
            </a:solidFill>
            <a:prstDash val="solid"/>
          </a:ln>
        </p:spPr>
      </p:sp>
      <p:sp>
        <p:nvSpPr>
          <p:cNvPr id="14" name="Shape 12"/>
          <p:cNvSpPr/>
          <p:nvPr/>
        </p:nvSpPr>
        <p:spPr>
          <a:xfrm>
            <a:off x="8321040" y="1554480"/>
            <a:ext cx="502920" cy="502920"/>
          </a:xfrm>
          <a:prstGeom prst="ellipse">
            <a:avLst/>
          </a:prstGeom>
          <a:solidFill>
            <a:srgbClr val="E8590C"/>
          </a:solidFill>
          <a:ln w="12700">
            <a:solidFill>
              <a:srgbClr val="E8590C"/>
            </a:solidFill>
            <a:prstDash val="solid"/>
          </a:ln>
        </p:spPr>
      </p:sp>
      <p:sp>
        <p:nvSpPr>
          <p:cNvPr id="15" name="Text 13"/>
          <p:cNvSpPr txBox="1"/>
          <p:nvPr/>
        </p:nvSpPr>
        <p:spPr>
          <a:xfrm>
            <a:off x="8321040" y="155448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6" name="Text 14"/>
          <p:cNvSpPr txBox="1"/>
          <p:nvPr/>
        </p:nvSpPr>
        <p:spPr>
          <a:xfrm>
            <a:off x="8321040" y="2194560"/>
            <a:ext cx="3017520" cy="457200"/>
          </a:xfrm>
          <a:prstGeom prst="rect">
            <a:avLst/>
          </a:prstGeom>
          <a:noFill/>
          <a:ln/>
        </p:spPr>
        <p:txBody>
          <a:bodyPr wrap="square" lIns="0" tIns="0" rIns="0" bIns="0" rtlCol="0" anchor="ctr"/>
          <a:lstStyle/>
          <a:p>
            <a:pPr indent="0" marL="0">
              <a:buNone/>
            </a:pPr>
            <a:r>
              <a:rPr lang="en-US" sz="1800" b="1" dirty="0">
                <a:solidFill>
                  <a:srgbClr val="0B1D3A"/>
                </a:solidFill>
                <a:latin typeface="Arial" pitchFamily="34" charset="0"/>
                <a:ea typeface="Arial" pitchFamily="34" charset="-122"/>
                <a:cs typeface="Arial" pitchFamily="34" charset="-120"/>
              </a:rPr>
              <a:t>Analyse prédictive</a:t>
            </a:r>
            <a:endParaRPr lang="en-US" sz="1800" dirty="0"/>
          </a:p>
        </p:txBody>
      </p:sp>
      <p:sp>
        <p:nvSpPr>
          <p:cNvPr id="17" name="Text 15"/>
          <p:cNvSpPr txBox="1"/>
          <p:nvPr/>
        </p:nvSpPr>
        <p:spPr>
          <a:xfrm>
            <a:off x="8229600" y="2743200"/>
            <a:ext cx="3154680" cy="2926080"/>
          </a:xfrm>
          <a:prstGeom prst="rect">
            <a:avLst/>
          </a:prstGeom>
          <a:noFill/>
          <a:ln/>
        </p:spPr>
        <p:txBody>
          <a:bodyPr wrap="square" lIns="50800" tIns="50800" rIns="50800" bIns="50800" rtlCol="0" anchor="t"/>
          <a:lstStyle/>
          <a:p>
            <a:pPr marL="228600" indent="-228600">
              <a:spcAft>
                <a:spcPts val="1000"/>
              </a:spcAft>
              <a:buSzPct val="100000"/>
              <a:buChar char="•"/>
            </a:pPr>
            <a:r>
              <a:rPr lang="en-US" sz="1500" dirty="0">
                <a:solidFill>
                  <a:srgbClr val="1F2937"/>
                </a:solidFill>
                <a:latin typeface="Calibri" pitchFamily="34" charset="0"/>
                <a:ea typeface="Calibri" pitchFamily="34" charset="-122"/>
                <a:cs typeface="Calibri" pitchFamily="34" charset="-120"/>
              </a:rPr>
              <a:t>Les 4 modèles atteignent 83,3 % sur le test</a:t>
            </a:r>
            <a:endParaRPr lang="en-US" sz="1500" dirty="0"/>
          </a:p>
          <a:p>
            <a:pPr marL="228600" indent="-228600">
              <a:spcAft>
                <a:spcPts val="1000"/>
              </a:spcAft>
              <a:buSzPct val="100000"/>
              <a:buChar char="•"/>
            </a:pPr>
            <a:r>
              <a:rPr lang="en-US" sz="1500" dirty="0">
                <a:solidFill>
                  <a:srgbClr val="1F2937"/>
                </a:solidFill>
                <a:latin typeface="Calibri" pitchFamily="34" charset="0"/>
                <a:ea typeface="Calibri" pitchFamily="34" charset="-122"/>
                <a:cs typeface="Calibri" pitchFamily="34" charset="-120"/>
              </a:rPr>
              <a:t>L'arbre de décision a la meilleure validation croisée (86,3 %)</a:t>
            </a:r>
            <a:endParaRPr lang="en-US" sz="1500" dirty="0"/>
          </a:p>
          <a:p>
            <a:pPr marL="228600" indent="-228600">
              <a:spcAft>
                <a:spcPts val="1000"/>
              </a:spcAft>
              <a:buSzPct val="100000"/>
              <a:buChar char="•"/>
            </a:pPr>
            <a:r>
              <a:rPr lang="en-US" sz="1500" dirty="0">
                <a:solidFill>
                  <a:srgbClr val="1F2937"/>
                </a:solidFill>
                <a:latin typeface="Calibri" pitchFamily="34" charset="0"/>
                <a:ea typeface="Calibri" pitchFamily="34" charset="-122"/>
                <a:cs typeface="Calibri" pitchFamily="34" charset="-120"/>
              </a:rPr>
              <a:t>Erreurs : 3 faux positifs, aucun faux négatif</a:t>
            </a:r>
            <a:endParaRPr lang="en-US" sz="15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731520" y="2103120"/>
            <a:ext cx="8229600" cy="548640"/>
          </a:xfrm>
          <a:prstGeom prst="rect">
            <a:avLst/>
          </a:prstGeom>
          <a:noFill/>
          <a:ln/>
        </p:spPr>
        <p:txBody>
          <a:bodyPr wrap="square" rtlCol="0" anchor="b"/>
          <a:lstStyle/>
          <a:p>
            <a:pPr algn="l" indent="0" marL="0">
              <a:buNone/>
            </a:pPr>
            <a:r>
              <a:rPr lang="en-US" sz="1800" b="1" dirty="0">
                <a:solidFill>
                  <a:srgbClr val="E8590C"/>
                </a:solidFill>
              </a:rPr>
              <a:t>Section 2</a:t>
            </a:r>
            <a:endParaRPr lang="en-US" sz="1800" dirty="0"/>
          </a:p>
        </p:txBody>
      </p:sp>
      <p:sp>
        <p:nvSpPr>
          <p:cNvPr id="3" name="Text 0"/>
          <p:cNvSpPr/>
          <p:nvPr>
            <p:ph idx="101" type="title" hasCustomPrompt="1"/>
          </p:nvPr>
        </p:nvSpPr>
        <p:spPr>
          <a:xfrm>
            <a:off x="731520" y="2697480"/>
            <a:ext cx="10698480" cy="1280160"/>
          </a:xfrm>
          <a:prstGeom prst="rect">
            <a:avLst/>
          </a:prstGeom>
          <a:noFill/>
          <a:ln/>
        </p:spPr>
        <p:txBody>
          <a:bodyPr wrap="square" rtlCol="0" anchor="t"/>
          <a:lstStyle/>
          <a:p>
            <a:pPr algn="l" indent="0" marL="0">
              <a:buNone/>
            </a:pPr>
            <a:r>
              <a:rPr lang="en-US" sz="4000" b="1" dirty="0">
                <a:solidFill>
                  <a:srgbClr val="FFFFFF"/>
                </a:solidFill>
                <a:latin typeface="Arial" pitchFamily="34" charset="0"/>
                <a:ea typeface="Arial" pitchFamily="34" charset="-122"/>
                <a:cs typeface="Arial" pitchFamily="34" charset="-120"/>
              </a:rPr>
              <a:t>Enseignements tirés de l'EDA</a:t>
            </a:r>
            <a:endParaRPr lang="en-US" sz="4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rgbClr val="0B1D3A"/>
                </a:solidFill>
                <a:latin typeface="Arial" pitchFamily="34" charset="0"/>
                <a:ea typeface="Arial" pitchFamily="34" charset="-122"/>
                <a:cs typeface="Arial" pitchFamily="34" charset="-120"/>
              </a:rPr>
              <a:t>Numéro de vol × site de lancement</a:t>
            </a:r>
            <a:endParaRPr lang="en-US" sz="3000" dirty="0"/>
          </a:p>
        </p:txBody>
      </p:sp>
      <p:pic>
        <p:nvPicPr>
          <p:cNvPr id="3" name="Image 0" descr="C:/Users/enangue/Desktop/SpaceX-Capstone/images/eda_23.png">    </p:cNvPr>
          <p:cNvPicPr>
            <a:picLocks noChangeAspect="1"/>
          </p:cNvPicPr>
          <p:nvPr/>
        </p:nvPicPr>
        <p:blipFill>
          <a:blip r:embed="rId1"/>
          <a:stretch>
            <a:fillRect/>
          </a:stretch>
        </p:blipFill>
        <p:spPr>
          <a:xfrm>
            <a:off x="548640" y="1339149"/>
            <a:ext cx="11064240" cy="2168022"/>
          </a:xfrm>
          <a:prstGeom prst="rect">
            <a:avLst/>
          </a:prstGeom>
        </p:spPr>
      </p:pic>
      <p:sp>
        <p:nvSpPr>
          <p:cNvPr id="4" name="Shape 1"/>
          <p:cNvSpPr/>
          <p:nvPr/>
        </p:nvSpPr>
        <p:spPr>
          <a:xfrm>
            <a:off x="548640" y="3794760"/>
            <a:ext cx="11064240" cy="2331720"/>
          </a:xfrm>
          <a:prstGeom prst="roundRect">
            <a:avLst>
              <a:gd name="adj" fmla="val 3137"/>
            </a:avLst>
          </a:prstGeom>
          <a:solidFill>
            <a:srgbClr val="EEF2F7"/>
          </a:solidFill>
          <a:ln w="12700">
            <a:solidFill>
              <a:srgbClr val="EEF2F7"/>
            </a:solidFill>
            <a:prstDash val="solid"/>
          </a:ln>
        </p:spPr>
      </p:sp>
      <p:sp>
        <p:nvSpPr>
          <p:cNvPr id="5" name="Text 2"/>
          <p:cNvSpPr txBox="1"/>
          <p:nvPr/>
        </p:nvSpPr>
        <p:spPr>
          <a:xfrm>
            <a:off x="777240" y="3931920"/>
            <a:ext cx="10607040" cy="365760"/>
          </a:xfrm>
          <a:prstGeom prst="rect">
            <a:avLst/>
          </a:prstGeom>
          <a:noFill/>
          <a:ln/>
        </p:spPr>
        <p:txBody>
          <a:bodyPr wrap="square" lIns="0" tIns="0" rIns="0" bIns="0" rtlCol="0" anchor="ctr"/>
          <a:lstStyle/>
          <a:p>
            <a:pPr indent="0" marL="0">
              <a:buNone/>
            </a:pPr>
            <a:r>
              <a:rPr lang="en-US" sz="1600" b="1" dirty="0">
                <a:solidFill>
                  <a:srgbClr val="0B1D3A"/>
                </a:solidFill>
                <a:latin typeface="Arial" pitchFamily="34" charset="0"/>
                <a:ea typeface="Arial" pitchFamily="34" charset="-122"/>
                <a:cs typeface="Arial" pitchFamily="34" charset="-120"/>
              </a:rPr>
              <a:t>Ce que l'on observe</a:t>
            </a:r>
            <a:endParaRPr lang="en-US" sz="1600" dirty="0"/>
          </a:p>
        </p:txBody>
      </p:sp>
      <p:sp>
        <p:nvSpPr>
          <p:cNvPr id="6" name="Text 3"/>
          <p:cNvSpPr txBox="1"/>
          <p:nvPr/>
        </p:nvSpPr>
        <p:spPr>
          <a:xfrm>
            <a:off x="731520" y="4343400"/>
            <a:ext cx="10698480" cy="1645920"/>
          </a:xfrm>
          <a:prstGeom prst="rect">
            <a:avLst/>
          </a:prstGeom>
          <a:noFill/>
          <a:ln/>
        </p:spPr>
        <p:txBody>
          <a:bodyPr wrap="square" lIns="50800" tIns="50800" rIns="50800" bIns="50800" rtlCol="0" anchor="t"/>
          <a:lstStyle/>
          <a:p>
            <a:pPr marL="228600" indent="-2286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CCAFS SLC 40 est le site le plus utilisé (55 lancements sur 90)</a:t>
            </a:r>
            <a:endParaRPr lang="en-US" sz="1400" dirty="0"/>
          </a:p>
          <a:p>
            <a:pPr marL="228600" indent="-2286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Les 25 premiers vols, presque tous à CCAFS, sont surtout des échecs (bleu = 0)</a:t>
            </a:r>
            <a:endParaRPr lang="en-US" sz="1400" dirty="0"/>
          </a:p>
          <a:p>
            <a:pPr marL="228600" indent="-2286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Plus le numéro de vol augmente, plus les succès (orange = 1) dominent sur tous les sites</a:t>
            </a:r>
            <a:endParaRPr lang="en-US" sz="1400" dirty="0"/>
          </a:p>
          <a:p>
            <a:pPr marL="228600" indent="-2286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KSC LC 39A n'est utilisé qu'à partir du vol 27 environ</a:t>
            </a:r>
            <a:endParaRPr lang="en-US" sz="14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rgbClr val="0B1D3A"/>
                </a:solidFill>
                <a:latin typeface="Arial" pitchFamily="34" charset="0"/>
                <a:ea typeface="Arial" pitchFamily="34" charset="-122"/>
                <a:cs typeface="Arial" pitchFamily="34" charset="-120"/>
              </a:rPr>
              <a:t>Masse de la charge utile × site de lancement</a:t>
            </a:r>
            <a:endParaRPr lang="en-US" sz="3000" dirty="0"/>
          </a:p>
        </p:txBody>
      </p:sp>
      <p:pic>
        <p:nvPicPr>
          <p:cNvPr id="3" name="Image 0" descr="C:/Users/enangue/Desktop/SpaceX-Capstone/images/eda_27.png">    </p:cNvPr>
          <p:cNvPicPr>
            <a:picLocks noChangeAspect="1"/>
          </p:cNvPicPr>
          <p:nvPr/>
        </p:nvPicPr>
        <p:blipFill>
          <a:blip r:embed="rId1"/>
          <a:stretch>
            <a:fillRect/>
          </a:stretch>
        </p:blipFill>
        <p:spPr>
          <a:xfrm>
            <a:off x="548640" y="1590125"/>
            <a:ext cx="6309360" cy="4180670"/>
          </a:xfrm>
          <a:prstGeom prst="rect">
            <a:avLst/>
          </a:prstGeom>
        </p:spPr>
      </p:pic>
      <p:sp>
        <p:nvSpPr>
          <p:cNvPr id="4" name="Shape 1"/>
          <p:cNvSpPr/>
          <p:nvPr/>
        </p:nvSpPr>
        <p:spPr>
          <a:xfrm>
            <a:off x="7132320" y="1325880"/>
            <a:ext cx="4480560" cy="4754880"/>
          </a:xfrm>
          <a:prstGeom prst="roundRect">
            <a:avLst>
              <a:gd name="adj" fmla="val 1633"/>
            </a:avLst>
          </a:prstGeom>
          <a:solidFill>
            <a:srgbClr val="EEF2F7"/>
          </a:solidFill>
          <a:ln w="12700">
            <a:solidFill>
              <a:srgbClr val="EEF2F7"/>
            </a:solidFill>
            <a:prstDash val="solid"/>
          </a:ln>
        </p:spPr>
      </p:sp>
      <p:sp>
        <p:nvSpPr>
          <p:cNvPr id="5" name="Text 2"/>
          <p:cNvSpPr txBox="1"/>
          <p:nvPr/>
        </p:nvSpPr>
        <p:spPr>
          <a:xfrm>
            <a:off x="7360920" y="1463040"/>
            <a:ext cx="4023360" cy="365760"/>
          </a:xfrm>
          <a:prstGeom prst="rect">
            <a:avLst/>
          </a:prstGeom>
          <a:noFill/>
          <a:ln/>
        </p:spPr>
        <p:txBody>
          <a:bodyPr wrap="square" lIns="0" tIns="0" rIns="0" bIns="0" rtlCol="0" anchor="ctr"/>
          <a:lstStyle/>
          <a:p>
            <a:pPr indent="0" marL="0">
              <a:buNone/>
            </a:pPr>
            <a:r>
              <a:rPr lang="en-US" sz="1600" b="1" dirty="0">
                <a:solidFill>
                  <a:srgbClr val="0B1D3A"/>
                </a:solidFill>
                <a:latin typeface="Arial" pitchFamily="34" charset="0"/>
                <a:ea typeface="Arial" pitchFamily="34" charset="-122"/>
                <a:cs typeface="Arial" pitchFamily="34" charset="-120"/>
              </a:rPr>
              <a:t>Ce que l'on observe</a:t>
            </a:r>
            <a:endParaRPr lang="en-US" sz="1600" dirty="0"/>
          </a:p>
        </p:txBody>
      </p:sp>
      <p:sp>
        <p:nvSpPr>
          <p:cNvPr id="6" name="Text 3"/>
          <p:cNvSpPr txBox="1"/>
          <p:nvPr/>
        </p:nvSpPr>
        <p:spPr>
          <a:xfrm>
            <a:off x="7315200" y="1874520"/>
            <a:ext cx="4114800" cy="4069080"/>
          </a:xfrm>
          <a:prstGeom prst="rect">
            <a:avLst/>
          </a:prstGeom>
          <a:noFill/>
          <a:ln/>
        </p:spPr>
        <p:txBody>
          <a:bodyPr wrap="square" lIns="50800" tIns="50800" rIns="50800" bIns="50800" rtlCol="0" anchor="t"/>
          <a:lstStyle/>
          <a:p>
            <a:pPr marL="228600" indent="-2286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VAFB SLC 4E n'a aucun lancement au-delà de 10 000 kg</a:t>
            </a:r>
            <a:endParaRPr lang="en-US" sz="1400" dirty="0"/>
          </a:p>
          <a:p>
            <a:pPr marL="228600" indent="-2286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Les charges lourdes (plus de 10 000 kg) réussissent presque toujours, à CCAFS comme à KSC</a:t>
            </a:r>
            <a:endParaRPr lang="en-US" sz="1400" dirty="0"/>
          </a:p>
          <a:p>
            <a:pPr marL="228600" indent="-2286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Entre 2 000 et 7 000 kg, les résultats sont plus partagés, surtout à CCAFS SLC 40</a:t>
            </a:r>
            <a:endParaRPr lang="en-US" sz="14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rgbClr val="0B1D3A"/>
                </a:solidFill>
                <a:latin typeface="Arial" pitchFamily="34" charset="0"/>
                <a:ea typeface="Arial" pitchFamily="34" charset="-122"/>
                <a:cs typeface="Arial" pitchFamily="34" charset="-120"/>
              </a:rPr>
              <a:t>Taux de succès par type d'orbite</a:t>
            </a:r>
            <a:endParaRPr lang="en-US" sz="3000" dirty="0"/>
          </a:p>
        </p:txBody>
      </p:sp>
      <p:pic>
        <p:nvPicPr>
          <p:cNvPr id="3" name="Image 0" descr="C:/Users/enangue/Desktop/SpaceX-Capstone/images/eda_32.png">    </p:cNvPr>
          <p:cNvPicPr>
            <a:picLocks noChangeAspect="1"/>
          </p:cNvPicPr>
          <p:nvPr/>
        </p:nvPicPr>
        <p:blipFill>
          <a:blip r:embed="rId1"/>
          <a:stretch>
            <a:fillRect/>
          </a:stretch>
        </p:blipFill>
        <p:spPr>
          <a:xfrm>
            <a:off x="805649" y="1234440"/>
            <a:ext cx="5795342" cy="4892040"/>
          </a:xfrm>
          <a:prstGeom prst="rect">
            <a:avLst/>
          </a:prstGeom>
        </p:spPr>
      </p:pic>
      <p:sp>
        <p:nvSpPr>
          <p:cNvPr id="4" name="Shape 1"/>
          <p:cNvSpPr/>
          <p:nvPr/>
        </p:nvSpPr>
        <p:spPr>
          <a:xfrm>
            <a:off x="7132320" y="1325880"/>
            <a:ext cx="4480560" cy="4754880"/>
          </a:xfrm>
          <a:prstGeom prst="roundRect">
            <a:avLst>
              <a:gd name="adj" fmla="val 1633"/>
            </a:avLst>
          </a:prstGeom>
          <a:solidFill>
            <a:srgbClr val="EEF2F7"/>
          </a:solidFill>
          <a:ln w="12700">
            <a:solidFill>
              <a:srgbClr val="EEF2F7"/>
            </a:solidFill>
            <a:prstDash val="solid"/>
          </a:ln>
        </p:spPr>
      </p:sp>
      <p:sp>
        <p:nvSpPr>
          <p:cNvPr id="5" name="Text 2"/>
          <p:cNvSpPr txBox="1"/>
          <p:nvPr/>
        </p:nvSpPr>
        <p:spPr>
          <a:xfrm>
            <a:off x="7360920" y="1463040"/>
            <a:ext cx="4023360" cy="365760"/>
          </a:xfrm>
          <a:prstGeom prst="rect">
            <a:avLst/>
          </a:prstGeom>
          <a:noFill/>
          <a:ln/>
        </p:spPr>
        <p:txBody>
          <a:bodyPr wrap="square" lIns="0" tIns="0" rIns="0" bIns="0" rtlCol="0" anchor="ctr"/>
          <a:lstStyle/>
          <a:p>
            <a:pPr indent="0" marL="0">
              <a:buNone/>
            </a:pPr>
            <a:r>
              <a:rPr lang="en-US" sz="1600" b="1" dirty="0">
                <a:solidFill>
                  <a:srgbClr val="0B1D3A"/>
                </a:solidFill>
                <a:latin typeface="Arial" pitchFamily="34" charset="0"/>
                <a:ea typeface="Arial" pitchFamily="34" charset="-122"/>
                <a:cs typeface="Arial" pitchFamily="34" charset="-120"/>
              </a:rPr>
              <a:t>Ce que l'on observe</a:t>
            </a:r>
            <a:endParaRPr lang="en-US" sz="1600" dirty="0"/>
          </a:p>
        </p:txBody>
      </p:sp>
      <p:sp>
        <p:nvSpPr>
          <p:cNvPr id="6" name="Text 3"/>
          <p:cNvSpPr txBox="1"/>
          <p:nvPr/>
        </p:nvSpPr>
        <p:spPr>
          <a:xfrm>
            <a:off x="7315200" y="1874520"/>
            <a:ext cx="4114800" cy="4069080"/>
          </a:xfrm>
          <a:prstGeom prst="rect">
            <a:avLst/>
          </a:prstGeom>
          <a:noFill/>
          <a:ln/>
        </p:spPr>
        <p:txBody>
          <a:bodyPr wrap="square" lIns="50800" tIns="50800" rIns="50800" bIns="50800" rtlCol="0" anchor="t"/>
          <a:lstStyle/>
          <a:p>
            <a:pPr marL="228600" indent="-2286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ES-L1, GEO, HEO et SSO : 100 % de succès (mais 1 à 5 lancements seulement)</a:t>
            </a:r>
            <a:endParaRPr lang="en-US" sz="1400" dirty="0"/>
          </a:p>
          <a:p>
            <a:pPr marL="228600" indent="-2286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VLEO : 85,7 % sur 14 lancements, un résultat solide</a:t>
            </a:r>
            <a:endParaRPr lang="en-US" sz="1400" dirty="0"/>
          </a:p>
          <a:p>
            <a:pPr marL="228600" indent="-2286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GTO : 51,9 % sur 27 lancements, l'orbite la plus difficile</a:t>
            </a:r>
            <a:endParaRPr lang="en-US" sz="1400" dirty="0"/>
          </a:p>
          <a:p>
            <a:pPr marL="228600" indent="-2286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SO : 0 % (un seul lancement)</a:t>
            </a:r>
            <a:endParaRPr lang="en-US" sz="14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rgbClr val="0B1D3A"/>
                </a:solidFill>
                <a:latin typeface="Arial" pitchFamily="34" charset="0"/>
                <a:ea typeface="Arial" pitchFamily="34" charset="-122"/>
                <a:cs typeface="Arial" pitchFamily="34" charset="-120"/>
              </a:rPr>
              <a:t>Numéro de vol × type d'orbite</a:t>
            </a:r>
            <a:endParaRPr lang="en-US" sz="3000" dirty="0"/>
          </a:p>
        </p:txBody>
      </p:sp>
      <p:pic>
        <p:nvPicPr>
          <p:cNvPr id="3" name="Image 0" descr="C:/Users/enangue/Desktop/SpaceX-Capstone/images/eda_36.png">    </p:cNvPr>
          <p:cNvPicPr>
            <a:picLocks noChangeAspect="1"/>
          </p:cNvPicPr>
          <p:nvPr/>
        </p:nvPicPr>
        <p:blipFill>
          <a:blip r:embed="rId1"/>
          <a:stretch>
            <a:fillRect/>
          </a:stretch>
        </p:blipFill>
        <p:spPr>
          <a:xfrm>
            <a:off x="569856" y="1234440"/>
            <a:ext cx="6266927" cy="4892040"/>
          </a:xfrm>
          <a:prstGeom prst="rect">
            <a:avLst/>
          </a:prstGeom>
        </p:spPr>
      </p:pic>
      <p:sp>
        <p:nvSpPr>
          <p:cNvPr id="4" name="Shape 1"/>
          <p:cNvSpPr/>
          <p:nvPr/>
        </p:nvSpPr>
        <p:spPr>
          <a:xfrm>
            <a:off x="7132320" y="1325880"/>
            <a:ext cx="4480560" cy="4754880"/>
          </a:xfrm>
          <a:prstGeom prst="roundRect">
            <a:avLst>
              <a:gd name="adj" fmla="val 1633"/>
            </a:avLst>
          </a:prstGeom>
          <a:solidFill>
            <a:srgbClr val="EEF2F7"/>
          </a:solidFill>
          <a:ln w="12700">
            <a:solidFill>
              <a:srgbClr val="EEF2F7"/>
            </a:solidFill>
            <a:prstDash val="solid"/>
          </a:ln>
        </p:spPr>
      </p:sp>
      <p:sp>
        <p:nvSpPr>
          <p:cNvPr id="5" name="Text 2"/>
          <p:cNvSpPr txBox="1"/>
          <p:nvPr/>
        </p:nvSpPr>
        <p:spPr>
          <a:xfrm>
            <a:off x="7360920" y="1463040"/>
            <a:ext cx="4023360" cy="365760"/>
          </a:xfrm>
          <a:prstGeom prst="rect">
            <a:avLst/>
          </a:prstGeom>
          <a:noFill/>
          <a:ln/>
        </p:spPr>
        <p:txBody>
          <a:bodyPr wrap="square" lIns="0" tIns="0" rIns="0" bIns="0" rtlCol="0" anchor="ctr"/>
          <a:lstStyle/>
          <a:p>
            <a:pPr indent="0" marL="0">
              <a:buNone/>
            </a:pPr>
            <a:r>
              <a:rPr lang="en-US" sz="1600" b="1" dirty="0">
                <a:solidFill>
                  <a:srgbClr val="0B1D3A"/>
                </a:solidFill>
                <a:latin typeface="Arial" pitchFamily="34" charset="0"/>
                <a:ea typeface="Arial" pitchFamily="34" charset="-122"/>
                <a:cs typeface="Arial" pitchFamily="34" charset="-120"/>
              </a:rPr>
              <a:t>Ce que l'on observe</a:t>
            </a:r>
            <a:endParaRPr lang="en-US" sz="1600" dirty="0"/>
          </a:p>
        </p:txBody>
      </p:sp>
      <p:sp>
        <p:nvSpPr>
          <p:cNvPr id="6" name="Text 3"/>
          <p:cNvSpPr txBox="1"/>
          <p:nvPr/>
        </p:nvSpPr>
        <p:spPr>
          <a:xfrm>
            <a:off x="7315200" y="1874520"/>
            <a:ext cx="4114800" cy="4069080"/>
          </a:xfrm>
          <a:prstGeom prst="rect">
            <a:avLst/>
          </a:prstGeom>
          <a:noFill/>
          <a:ln/>
        </p:spPr>
        <p:txBody>
          <a:bodyPr wrap="square" lIns="50800" tIns="50800" rIns="50800" bIns="50800" rtlCol="0" anchor="t"/>
          <a:lstStyle/>
          <a:p>
            <a:pPr marL="228600" indent="-2286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En LEO, le succès semble lié au nombre de vols : les échecs sont au début</a:t>
            </a:r>
            <a:endParaRPr lang="en-US" sz="1400" dirty="0"/>
          </a:p>
          <a:p>
            <a:pPr marL="228600" indent="-2286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En GTO, aucune relation claire avec le numéro de vol</a:t>
            </a:r>
            <a:endParaRPr lang="en-US" sz="1400" dirty="0"/>
          </a:p>
          <a:p>
            <a:pPr marL="228600" indent="-2286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Les lancements VLEO sont récents et réussissent presque tous</a:t>
            </a:r>
            <a:endParaRPr lang="en-US" sz="14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rgbClr val="0B1D3A"/>
                </a:solidFill>
                <a:latin typeface="Arial" pitchFamily="34" charset="0"/>
                <a:ea typeface="Arial" pitchFamily="34" charset="-122"/>
                <a:cs typeface="Arial" pitchFamily="34" charset="-120"/>
              </a:rPr>
              <a:t>Masse de la charge utile × type d'orbite</a:t>
            </a:r>
            <a:endParaRPr lang="en-US" sz="3000" dirty="0"/>
          </a:p>
        </p:txBody>
      </p:sp>
      <p:pic>
        <p:nvPicPr>
          <p:cNvPr id="3" name="Image 0" descr="C:/Users/enangue/Desktop/SpaceX-Capstone/images/eda_40.png">    </p:cNvPr>
          <p:cNvPicPr>
            <a:picLocks noChangeAspect="1"/>
          </p:cNvPicPr>
          <p:nvPr/>
        </p:nvPicPr>
        <p:blipFill>
          <a:blip r:embed="rId1"/>
          <a:stretch>
            <a:fillRect/>
          </a:stretch>
        </p:blipFill>
        <p:spPr>
          <a:xfrm>
            <a:off x="548640" y="1263101"/>
            <a:ext cx="6309360" cy="4834718"/>
          </a:xfrm>
          <a:prstGeom prst="rect">
            <a:avLst/>
          </a:prstGeom>
        </p:spPr>
      </p:pic>
      <p:sp>
        <p:nvSpPr>
          <p:cNvPr id="4" name="Shape 1"/>
          <p:cNvSpPr/>
          <p:nvPr/>
        </p:nvSpPr>
        <p:spPr>
          <a:xfrm>
            <a:off x="7132320" y="1325880"/>
            <a:ext cx="4480560" cy="4754880"/>
          </a:xfrm>
          <a:prstGeom prst="roundRect">
            <a:avLst>
              <a:gd name="adj" fmla="val 1633"/>
            </a:avLst>
          </a:prstGeom>
          <a:solidFill>
            <a:srgbClr val="EEF2F7"/>
          </a:solidFill>
          <a:ln w="12700">
            <a:solidFill>
              <a:srgbClr val="EEF2F7"/>
            </a:solidFill>
            <a:prstDash val="solid"/>
          </a:ln>
        </p:spPr>
      </p:sp>
      <p:sp>
        <p:nvSpPr>
          <p:cNvPr id="5" name="Text 2"/>
          <p:cNvSpPr txBox="1"/>
          <p:nvPr/>
        </p:nvSpPr>
        <p:spPr>
          <a:xfrm>
            <a:off x="7360920" y="1463040"/>
            <a:ext cx="4023360" cy="365760"/>
          </a:xfrm>
          <a:prstGeom prst="rect">
            <a:avLst/>
          </a:prstGeom>
          <a:noFill/>
          <a:ln/>
        </p:spPr>
        <p:txBody>
          <a:bodyPr wrap="square" lIns="0" tIns="0" rIns="0" bIns="0" rtlCol="0" anchor="ctr"/>
          <a:lstStyle/>
          <a:p>
            <a:pPr indent="0" marL="0">
              <a:buNone/>
            </a:pPr>
            <a:r>
              <a:rPr lang="en-US" sz="1600" b="1" dirty="0">
                <a:solidFill>
                  <a:srgbClr val="0B1D3A"/>
                </a:solidFill>
                <a:latin typeface="Arial" pitchFamily="34" charset="0"/>
                <a:ea typeface="Arial" pitchFamily="34" charset="-122"/>
                <a:cs typeface="Arial" pitchFamily="34" charset="-120"/>
              </a:rPr>
              <a:t>Ce que l'on observe</a:t>
            </a:r>
            <a:endParaRPr lang="en-US" sz="1600" dirty="0"/>
          </a:p>
        </p:txBody>
      </p:sp>
      <p:sp>
        <p:nvSpPr>
          <p:cNvPr id="6" name="Text 3"/>
          <p:cNvSpPr txBox="1"/>
          <p:nvPr/>
        </p:nvSpPr>
        <p:spPr>
          <a:xfrm>
            <a:off x="7315200" y="1874520"/>
            <a:ext cx="4114800" cy="4069080"/>
          </a:xfrm>
          <a:prstGeom prst="rect">
            <a:avLst/>
          </a:prstGeom>
          <a:noFill/>
          <a:ln/>
        </p:spPr>
        <p:txBody>
          <a:bodyPr wrap="square" lIns="50800" tIns="50800" rIns="50800" bIns="50800" rtlCol="0" anchor="t"/>
          <a:lstStyle/>
          <a:p>
            <a:pPr marL="228600" indent="-2286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Les charges lourdes réussissent plus souvent en PO, LEO et ISS</a:t>
            </a:r>
            <a:endParaRPr lang="en-US" sz="1400" dirty="0"/>
          </a:p>
          <a:p>
            <a:pPr marL="228600" indent="-2286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En GTO, succès et échecs se mélangent quelle que soit la masse (3 000 à 7 000 kg)</a:t>
            </a:r>
            <a:endParaRPr lang="en-US" sz="1400" dirty="0"/>
          </a:p>
          <a:p>
            <a:pPr marL="228600" indent="-2286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Les très lourdes charges VLEO (13 000 à 16 000 kg) réussissent presque toutes</a:t>
            </a:r>
            <a:endParaRPr lang="en-US" sz="14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rgbClr val="0B1D3A"/>
                </a:solidFill>
                <a:latin typeface="Arial" pitchFamily="34" charset="0"/>
                <a:ea typeface="Arial" pitchFamily="34" charset="-122"/>
                <a:cs typeface="Arial" pitchFamily="34" charset="-120"/>
              </a:rPr>
              <a:t>Tendance annuelle du taux de succès</a:t>
            </a:r>
            <a:endParaRPr lang="en-US" sz="3000" dirty="0"/>
          </a:p>
        </p:txBody>
      </p:sp>
      <p:pic>
        <p:nvPicPr>
          <p:cNvPr id="3" name="Image 0" descr="C:/Users/enangue/Desktop/SpaceX-Capstone/images/eda_46.png">    </p:cNvPr>
          <p:cNvPicPr>
            <a:picLocks noChangeAspect="1"/>
          </p:cNvPicPr>
          <p:nvPr/>
        </p:nvPicPr>
        <p:blipFill>
          <a:blip r:embed="rId1"/>
          <a:stretch>
            <a:fillRect/>
          </a:stretch>
        </p:blipFill>
        <p:spPr>
          <a:xfrm>
            <a:off x="655203" y="1234440"/>
            <a:ext cx="6096234" cy="4892040"/>
          </a:xfrm>
          <a:prstGeom prst="rect">
            <a:avLst/>
          </a:prstGeom>
        </p:spPr>
      </p:pic>
      <p:sp>
        <p:nvSpPr>
          <p:cNvPr id="4" name="Shape 1"/>
          <p:cNvSpPr/>
          <p:nvPr/>
        </p:nvSpPr>
        <p:spPr>
          <a:xfrm>
            <a:off x="7132320" y="1325880"/>
            <a:ext cx="4480560" cy="4754880"/>
          </a:xfrm>
          <a:prstGeom prst="roundRect">
            <a:avLst>
              <a:gd name="adj" fmla="val 1633"/>
            </a:avLst>
          </a:prstGeom>
          <a:solidFill>
            <a:srgbClr val="EEF2F7"/>
          </a:solidFill>
          <a:ln w="12700">
            <a:solidFill>
              <a:srgbClr val="EEF2F7"/>
            </a:solidFill>
            <a:prstDash val="solid"/>
          </a:ln>
        </p:spPr>
      </p:sp>
      <p:sp>
        <p:nvSpPr>
          <p:cNvPr id="5" name="Text 2"/>
          <p:cNvSpPr txBox="1"/>
          <p:nvPr/>
        </p:nvSpPr>
        <p:spPr>
          <a:xfrm>
            <a:off x="7360920" y="1463040"/>
            <a:ext cx="4023360" cy="365760"/>
          </a:xfrm>
          <a:prstGeom prst="rect">
            <a:avLst/>
          </a:prstGeom>
          <a:noFill/>
          <a:ln/>
        </p:spPr>
        <p:txBody>
          <a:bodyPr wrap="square" lIns="0" tIns="0" rIns="0" bIns="0" rtlCol="0" anchor="ctr"/>
          <a:lstStyle/>
          <a:p>
            <a:pPr indent="0" marL="0">
              <a:buNone/>
            </a:pPr>
            <a:r>
              <a:rPr lang="en-US" sz="1600" b="1" dirty="0">
                <a:solidFill>
                  <a:srgbClr val="0B1D3A"/>
                </a:solidFill>
                <a:latin typeface="Arial" pitchFamily="34" charset="0"/>
                <a:ea typeface="Arial" pitchFamily="34" charset="-122"/>
                <a:cs typeface="Arial" pitchFamily="34" charset="-120"/>
              </a:rPr>
              <a:t>Ce que l'on observe</a:t>
            </a:r>
            <a:endParaRPr lang="en-US" sz="1600" dirty="0"/>
          </a:p>
        </p:txBody>
      </p:sp>
      <p:sp>
        <p:nvSpPr>
          <p:cNvPr id="6" name="Text 3"/>
          <p:cNvSpPr txBox="1"/>
          <p:nvPr/>
        </p:nvSpPr>
        <p:spPr>
          <a:xfrm>
            <a:off x="7315200" y="1874520"/>
            <a:ext cx="4114800" cy="4069080"/>
          </a:xfrm>
          <a:prstGeom prst="rect">
            <a:avLst/>
          </a:prstGeom>
          <a:noFill/>
          <a:ln/>
        </p:spPr>
        <p:txBody>
          <a:bodyPr wrap="square" lIns="50800" tIns="50800" rIns="50800" bIns="50800" rtlCol="0" anchor="t"/>
          <a:lstStyle/>
          <a:p>
            <a:pPr marL="228600" indent="-2286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Aucun atterrissage réussi de 2010 à 2013</a:t>
            </a:r>
            <a:endParaRPr lang="en-US" sz="1400" dirty="0"/>
          </a:p>
          <a:p>
            <a:pPr marL="228600" indent="-2286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Hausse régulière à partir de 2013 : 33 % en 2014, 83 % en 2017</a:t>
            </a:r>
            <a:endParaRPr lang="en-US" sz="1400" dirty="0"/>
          </a:p>
          <a:p>
            <a:pPr marL="228600" indent="-2286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Baisse ponctuelle en 2018 (61 %), puis un pic à 90 % en 2019</a:t>
            </a:r>
            <a:endParaRPr lang="en-US" sz="1400" dirty="0"/>
          </a:p>
          <a:p>
            <a:pPr marL="228600" indent="-2286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SpaceX apprend vite : l'expérience améliore nettement la fiabilité</a:t>
            </a:r>
            <a:endParaRPr lang="en-US" sz="14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rgbClr val="0B1D3A"/>
                </a:solidFill>
                <a:latin typeface="Arial" pitchFamily="34" charset="0"/>
                <a:ea typeface="Arial" pitchFamily="34" charset="-122"/>
                <a:cs typeface="Arial" pitchFamily="34" charset="-120"/>
              </a:rPr>
              <a:t>Noms des sites de lancement</a:t>
            </a:r>
            <a:endParaRPr lang="en-US" sz="3000" dirty="0"/>
          </a:p>
        </p:txBody>
      </p:sp>
      <p:sp>
        <p:nvSpPr>
          <p:cNvPr id="3" name="Text 1"/>
          <p:cNvSpPr txBox="1"/>
          <p:nvPr/>
        </p:nvSpPr>
        <p:spPr>
          <a:xfrm>
            <a:off x="548640" y="1234440"/>
            <a:ext cx="5852160" cy="365760"/>
          </a:xfrm>
          <a:prstGeom prst="rect">
            <a:avLst/>
          </a:prstGeom>
          <a:noFill/>
          <a:ln/>
        </p:spPr>
        <p:txBody>
          <a:bodyPr wrap="square" lIns="0" tIns="0" rIns="0" bIns="0" rtlCol="0" anchor="ctr"/>
          <a:lstStyle/>
          <a:p>
            <a:pPr indent="0" marL="0">
              <a:buNone/>
            </a:pPr>
            <a:r>
              <a:rPr lang="en-US" sz="1400" b="1" dirty="0">
                <a:solidFill>
                  <a:srgbClr val="5B6472"/>
                </a:solidFill>
              </a:rPr>
              <a:t>Requête</a:t>
            </a:r>
            <a:endParaRPr lang="en-US" sz="1400" dirty="0"/>
          </a:p>
        </p:txBody>
      </p:sp>
      <p:sp>
        <p:nvSpPr>
          <p:cNvPr id="4" name="Shape 2"/>
          <p:cNvSpPr/>
          <p:nvPr/>
        </p:nvSpPr>
        <p:spPr>
          <a:xfrm>
            <a:off x="548640" y="1645920"/>
            <a:ext cx="5852160" cy="3017520"/>
          </a:xfrm>
          <a:prstGeom prst="roundRect">
            <a:avLst>
              <a:gd name="adj" fmla="val 2424"/>
            </a:avLst>
          </a:prstGeom>
          <a:solidFill>
            <a:srgbClr val="0B1D3A"/>
          </a:solidFill>
          <a:ln w="12700">
            <a:solidFill>
              <a:srgbClr val="0B1D3A"/>
            </a:solidFill>
            <a:prstDash val="solid"/>
          </a:ln>
        </p:spPr>
      </p:sp>
      <p:sp>
        <p:nvSpPr>
          <p:cNvPr id="5" name="Text 3"/>
          <p:cNvSpPr txBox="1"/>
          <p:nvPr/>
        </p:nvSpPr>
        <p:spPr>
          <a:xfrm>
            <a:off x="731520" y="1783080"/>
            <a:ext cx="5486400" cy="2743200"/>
          </a:xfrm>
          <a:prstGeom prst="rect">
            <a:avLst/>
          </a:prstGeom>
          <a:noFill/>
          <a:ln/>
        </p:spPr>
        <p:txBody>
          <a:bodyPr wrap="square" lIns="0" tIns="0" rIns="0" bIns="0" rtlCol="0" anchor="t"/>
          <a:lstStyle/>
          <a:p>
            <a:pPr indent="0" marL="0">
              <a:buNone/>
            </a:pPr>
            <a:r>
              <a:rPr lang="en-US" sz="1400" dirty="0">
                <a:solidFill>
                  <a:srgbClr val="FFFFFF"/>
                </a:solidFill>
                <a:latin typeface="Courier New" pitchFamily="34" charset="0"/>
                <a:ea typeface="Courier New" pitchFamily="34" charset="-122"/>
                <a:cs typeface="Courier New" pitchFamily="34" charset="-120"/>
              </a:rPr>
              <a:t>SELECT DISTINCT "Launch_Site"</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FROM SPACEXTBL;</a:t>
            </a:r>
            <a:endParaRPr lang="en-US" sz="1400" dirty="0"/>
          </a:p>
        </p:txBody>
      </p:sp>
      <p:sp>
        <p:nvSpPr>
          <p:cNvPr id="6" name="Text 4"/>
          <p:cNvSpPr txBox="1"/>
          <p:nvPr/>
        </p:nvSpPr>
        <p:spPr>
          <a:xfrm>
            <a:off x="6766560" y="1234440"/>
            <a:ext cx="4846320" cy="365760"/>
          </a:xfrm>
          <a:prstGeom prst="rect">
            <a:avLst/>
          </a:prstGeom>
          <a:noFill/>
          <a:ln/>
        </p:spPr>
        <p:txBody>
          <a:bodyPr wrap="square" lIns="0" tIns="0" rIns="0" bIns="0" rtlCol="0" anchor="ctr"/>
          <a:lstStyle/>
          <a:p>
            <a:pPr indent="0" marL="0">
              <a:buNone/>
            </a:pPr>
            <a:r>
              <a:rPr lang="en-US" sz="1400" b="1" dirty="0">
                <a:solidFill>
                  <a:srgbClr val="5B6472"/>
                </a:solidFill>
              </a:rPr>
              <a:t>Résultat</a:t>
            </a:r>
            <a:endParaRPr lang="en-US" sz="14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766560" y="1645920"/>
          <a:ext cx="4846320" cy="914400"/>
        </p:xfrm>
        <a:graphic>
          <a:graphicData uri="http://schemas.openxmlformats.org/drawingml/2006/table">
            <a:tbl>
              <a:tblPr/>
              <a:tblGrid>
                <a:gridCol w="4846320"/>
              </a:tblGrid>
              <a:tr h="329184">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Launch_Site</a:t>
                      </a:r>
                      <a:endParaRPr lang="en-US" sz="15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3D5A80"/>
                    </a:solidFill>
                  </a:tcPr>
                </a:tc>
              </a:tr>
              <a:tr h="329184">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CCAFS LC-40</a:t>
                      </a:r>
                      <a:endParaRPr lang="en-US" sz="15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r>
              <a:tr h="329184">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VAFB SLC-4E</a:t>
                      </a:r>
                      <a:endParaRPr lang="en-US" sz="15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r>
              <a:tr h="329184">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KSC LC-39A</a:t>
                      </a:r>
                      <a:endParaRPr lang="en-US" sz="15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r>
              <a:tr h="329184">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CCAFS SLC-40</a:t>
                      </a:r>
                      <a:endParaRPr lang="en-US" sz="15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r>
            </a:tbl>
          </a:graphicData>
        </a:graphic>
      </p:graphicFrame>
      <p:sp>
        <p:nvSpPr>
          <p:cNvPr id="8" name="Shape 5"/>
          <p:cNvSpPr/>
          <p:nvPr/>
        </p:nvSpPr>
        <p:spPr>
          <a:xfrm>
            <a:off x="548640" y="4892040"/>
            <a:ext cx="11064240" cy="1188720"/>
          </a:xfrm>
          <a:prstGeom prst="roundRect">
            <a:avLst>
              <a:gd name="adj" fmla="val 6154"/>
            </a:avLst>
          </a:prstGeom>
          <a:solidFill>
            <a:srgbClr val="EEF2F7"/>
          </a:solidFill>
          <a:ln w="12700">
            <a:solidFill>
              <a:srgbClr val="EEF2F7"/>
            </a:solidFill>
            <a:prstDash val="solid"/>
          </a:ln>
        </p:spPr>
      </p:sp>
      <p:sp>
        <p:nvSpPr>
          <p:cNvPr id="9" name="Text 6"/>
          <p:cNvSpPr txBox="1"/>
          <p:nvPr/>
        </p:nvSpPr>
        <p:spPr>
          <a:xfrm>
            <a:off x="777240" y="4983480"/>
            <a:ext cx="10607040" cy="1005840"/>
          </a:xfrm>
          <a:prstGeom prst="rect">
            <a:avLst/>
          </a:prstGeom>
          <a:noFill/>
          <a:ln/>
        </p:spPr>
        <p:txBody>
          <a:bodyPr wrap="square" lIns="0" tIns="0" rIns="0" bIns="0" rtlCol="0" anchor="ctr"/>
          <a:lstStyle/>
          <a:p>
            <a:pPr indent="0" marL="0">
              <a:buNone/>
            </a:pPr>
            <a:r>
              <a:rPr lang="en-US" sz="1500" b="1" dirty="0">
                <a:solidFill>
                  <a:srgbClr val="0B1D3A"/>
                </a:solidFill>
                <a:latin typeface="Calibri" pitchFamily="34" charset="0"/>
                <a:ea typeface="Calibri" pitchFamily="34" charset="-122"/>
                <a:cs typeface="Calibri" pitchFamily="34" charset="-120"/>
              </a:rPr>
              <a:t>Explication : </a:t>
            </a:r>
            <a:pPr indent="0" marL="0">
              <a:buNone/>
            </a:pPr>
            <a:r>
              <a:rPr lang="en-US" sz="1500" dirty="0">
                <a:solidFill>
                  <a:srgbClr val="1F2937"/>
                </a:solidFill>
                <a:latin typeface="Calibri" pitchFamily="34" charset="0"/>
                <a:ea typeface="Calibri" pitchFamily="34" charset="-122"/>
                <a:cs typeface="Calibri" pitchFamily="34" charset="-120"/>
              </a:rPr>
              <a:t>DISTINCT renvoie chaque site une seule fois : SpaceX utilise 4 sites, 3 en Floride et 1 en Californie.</a:t>
            </a:r>
            <a:endParaRPr lang="en-US" sz="15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rgbClr val="0B1D3A"/>
                </a:solidFill>
                <a:latin typeface="Arial" pitchFamily="34" charset="0"/>
                <a:ea typeface="Arial" pitchFamily="34" charset="-122"/>
                <a:cs typeface="Arial" pitchFamily="34" charset="-120"/>
              </a:rPr>
              <a:t>Sites de lancement commençant par « CCA »</a:t>
            </a:r>
            <a:endParaRPr lang="en-US" sz="3000" dirty="0"/>
          </a:p>
        </p:txBody>
      </p:sp>
      <p:sp>
        <p:nvSpPr>
          <p:cNvPr id="3" name="Shape 1"/>
          <p:cNvSpPr/>
          <p:nvPr/>
        </p:nvSpPr>
        <p:spPr>
          <a:xfrm>
            <a:off x="548640" y="1234440"/>
            <a:ext cx="11064240" cy="1234440"/>
          </a:xfrm>
          <a:prstGeom prst="roundRect">
            <a:avLst>
              <a:gd name="adj" fmla="val 5926"/>
            </a:avLst>
          </a:prstGeom>
          <a:solidFill>
            <a:srgbClr val="0B1D3A"/>
          </a:solidFill>
          <a:ln w="12700">
            <a:solidFill>
              <a:srgbClr val="0B1D3A"/>
            </a:solidFill>
            <a:prstDash val="solid"/>
          </a:ln>
        </p:spPr>
      </p:sp>
      <p:sp>
        <p:nvSpPr>
          <p:cNvPr id="4" name="Text 2"/>
          <p:cNvSpPr txBox="1"/>
          <p:nvPr/>
        </p:nvSpPr>
        <p:spPr>
          <a:xfrm>
            <a:off x="731520" y="1298448"/>
            <a:ext cx="10698480" cy="1097280"/>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SELECT * FROM SPACEXTBL</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WHERE "Launch_Site" LIKE 'CCA%'</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LIMIT 5;</a:t>
            </a:r>
            <a:endParaRPr lang="en-US" sz="14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2651760"/>
          <a:ext cx="11064240" cy="914400"/>
        </p:xfrm>
        <a:graphic>
          <a:graphicData uri="http://schemas.openxmlformats.org/drawingml/2006/table">
            <a:tbl>
              <a:tblPr/>
              <a:tblGrid>
                <a:gridCol w="1005840"/>
                <a:gridCol w="1280160"/>
                <a:gridCol w="1097280"/>
                <a:gridCol w="2926080"/>
                <a:gridCol w="822960"/>
                <a:gridCol w="914400"/>
                <a:gridCol w="1371600"/>
                <a:gridCol w="1645920"/>
              </a:tblGrid>
              <a:tr h="329184">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Date</a:t>
                      </a:r>
                      <a:endParaRPr lang="en-US" sz="11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3D5A8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Booster</a:t>
                      </a:r>
                      <a:endParaRPr lang="en-US" sz="11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3D5A8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Site</a:t>
                      </a:r>
                      <a:endParaRPr lang="en-US" sz="11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3D5A8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Charge utile</a:t>
                      </a:r>
                      <a:endParaRPr lang="en-US" sz="11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3D5A8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Masse (kg)</a:t>
                      </a:r>
                      <a:endParaRPr lang="en-US" sz="11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3D5A8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Orbite</a:t>
                      </a:r>
                      <a:endParaRPr lang="en-US" sz="11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3D5A8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Client</a:t>
                      </a:r>
                      <a:endParaRPr lang="en-US" sz="11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3D5A8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Atterrissage</a:t>
                      </a:r>
                      <a:endParaRPr lang="en-US" sz="11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3D5A80"/>
                    </a:solidFill>
                  </a:tcPr>
                </a:tc>
              </a:tr>
              <a:tr h="329184">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2010-06-04</a:t>
                      </a:r>
                      <a:endParaRPr lang="en-US" sz="11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F9 v1.0  B0003</a:t>
                      </a:r>
                      <a:endParaRPr lang="en-US" sz="11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CCAFS LC-40</a:t>
                      </a:r>
                      <a:endParaRPr lang="en-US" sz="11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Dragon Spacecraft Qualification Unit</a:t>
                      </a:r>
                      <a:endParaRPr lang="en-US" sz="11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LEO</a:t>
                      </a:r>
                      <a:endParaRPr lang="en-US" sz="11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SpaceX</a:t>
                      </a:r>
                      <a:endParaRPr lang="en-US" sz="11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Failure (parachute)</a:t>
                      </a:r>
                      <a:endParaRPr lang="en-US" sz="11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r>
              <a:tr h="329184">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2010-12-08</a:t>
                      </a:r>
                      <a:endParaRPr lang="en-US" sz="11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F9 v1.0  B0004</a:t>
                      </a:r>
                      <a:endParaRPr lang="en-US" sz="11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CCAFS LC-40</a:t>
                      </a:r>
                      <a:endParaRPr lang="en-US" sz="11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Dragon demo flight C1, two CubeSats, barrel of Brouere cheese</a:t>
                      </a:r>
                      <a:endParaRPr lang="en-US" sz="11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LEO (ISS)</a:t>
                      </a:r>
                      <a:endParaRPr lang="en-US" sz="11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NASA (COTS) NRO</a:t>
                      </a:r>
                      <a:endParaRPr lang="en-US" sz="11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Failure (parachute)</a:t>
                      </a:r>
                      <a:endParaRPr lang="en-US" sz="11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2012-05-22</a:t>
                      </a:r>
                      <a:endParaRPr lang="en-US" sz="11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F9 v1.0  B0005</a:t>
                      </a:r>
                      <a:endParaRPr lang="en-US" sz="11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CCAFS LC-40</a:t>
                      </a:r>
                      <a:endParaRPr lang="en-US" sz="11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Dragon demo flight C2</a:t>
                      </a:r>
                      <a:endParaRPr lang="en-US" sz="11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525</a:t>
                      </a:r>
                      <a:endParaRPr lang="en-US" sz="11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LEO (ISS)</a:t>
                      </a:r>
                      <a:endParaRPr lang="en-US" sz="11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NASA (COTS)</a:t>
                      </a:r>
                      <a:endParaRPr lang="en-US" sz="11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No attempt</a:t>
                      </a:r>
                      <a:endParaRPr lang="en-US" sz="11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r>
              <a:tr h="329184">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2012-10-08</a:t>
                      </a:r>
                      <a:endParaRPr lang="en-US" sz="11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F9 v1.0  B0006</a:t>
                      </a:r>
                      <a:endParaRPr lang="en-US" sz="11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CCAFS LC-40</a:t>
                      </a:r>
                      <a:endParaRPr lang="en-US" sz="11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SpaceX CRS-1</a:t>
                      </a:r>
                      <a:endParaRPr lang="en-US" sz="11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500</a:t>
                      </a:r>
                      <a:endParaRPr lang="en-US" sz="11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LEO (ISS)</a:t>
                      </a:r>
                      <a:endParaRPr lang="en-US" sz="11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NASA (CRS)</a:t>
                      </a:r>
                      <a:endParaRPr lang="en-US" sz="11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No attempt</a:t>
                      </a:r>
                      <a:endParaRPr lang="en-US" sz="11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2013-03-01</a:t>
                      </a:r>
                      <a:endParaRPr lang="en-US" sz="11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F9 v1.0  B0007</a:t>
                      </a:r>
                      <a:endParaRPr lang="en-US" sz="11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CCAFS LC-40</a:t>
                      </a:r>
                      <a:endParaRPr lang="en-US" sz="11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SpaceX CRS-2</a:t>
                      </a:r>
                      <a:endParaRPr lang="en-US" sz="11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677</a:t>
                      </a:r>
                      <a:endParaRPr lang="en-US" sz="11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LEO (ISS)</a:t>
                      </a:r>
                      <a:endParaRPr lang="en-US" sz="11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NASA (CRS)</a:t>
                      </a:r>
                      <a:endParaRPr lang="en-US" sz="11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No attempt</a:t>
                      </a:r>
                      <a:endParaRPr lang="en-US" sz="11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r>
            </a:tbl>
          </a:graphicData>
        </a:graphic>
      </p:graphicFrame>
      <p:sp>
        <p:nvSpPr>
          <p:cNvPr id="6" name="Shape 3"/>
          <p:cNvSpPr/>
          <p:nvPr/>
        </p:nvSpPr>
        <p:spPr>
          <a:xfrm>
            <a:off x="548640" y="4892040"/>
            <a:ext cx="11064240" cy="1005840"/>
          </a:xfrm>
          <a:prstGeom prst="roundRect">
            <a:avLst>
              <a:gd name="adj" fmla="val 7273"/>
            </a:avLst>
          </a:prstGeom>
          <a:solidFill>
            <a:srgbClr val="EEF2F7"/>
          </a:solidFill>
          <a:ln w="12700">
            <a:solidFill>
              <a:srgbClr val="EEF2F7"/>
            </a:solidFill>
            <a:prstDash val="solid"/>
          </a:ln>
        </p:spPr>
      </p:sp>
      <p:sp>
        <p:nvSpPr>
          <p:cNvPr id="7" name="Text 4"/>
          <p:cNvSpPr txBox="1"/>
          <p:nvPr/>
        </p:nvSpPr>
        <p:spPr>
          <a:xfrm>
            <a:off x="777240" y="4937760"/>
            <a:ext cx="10607040" cy="914400"/>
          </a:xfrm>
          <a:prstGeom prst="rect">
            <a:avLst/>
          </a:prstGeom>
          <a:noFill/>
          <a:ln/>
        </p:spPr>
        <p:txBody>
          <a:bodyPr wrap="square" lIns="0" tIns="0" rIns="0" bIns="0" rtlCol="0" anchor="ctr"/>
          <a:lstStyle/>
          <a:p>
            <a:pPr indent="0" marL="0">
              <a:buNone/>
            </a:pPr>
            <a:r>
              <a:rPr lang="en-US" sz="1500" b="1" dirty="0">
                <a:solidFill>
                  <a:srgbClr val="0B1D3A"/>
                </a:solidFill>
              </a:rPr>
              <a:t>Explication : </a:t>
            </a:r>
            <a:pPr indent="0" marL="0">
              <a:buNone/>
            </a:pPr>
            <a:r>
              <a:rPr lang="en-US" sz="1500" dirty="0">
                <a:solidFill>
                  <a:srgbClr val="000000"/>
                </a:solidFill>
              </a:rPr>
              <a:t>LIKE 'CCA%' garde les sites qui commencent par « CCA » (Cape Canaveral), et LIMIT 5 affiche les 5 premiers. Ce sont les premiers vols, de 2010 à 2013, avec des charges légères.</a:t>
            </a:r>
            <a:endParaRPr lang="en-US" sz="15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rgbClr val="0B1D3A"/>
                </a:solidFill>
                <a:latin typeface="Arial" pitchFamily="34" charset="0"/>
                <a:ea typeface="Arial" pitchFamily="34" charset="-122"/>
                <a:cs typeface="Arial" pitchFamily="34" charset="-120"/>
              </a:rPr>
              <a:t>Masse totale transportée pour la NASA (CRS)</a:t>
            </a:r>
            <a:endParaRPr lang="en-US" sz="3000" dirty="0"/>
          </a:p>
        </p:txBody>
      </p:sp>
      <p:sp>
        <p:nvSpPr>
          <p:cNvPr id="3" name="Text 1"/>
          <p:cNvSpPr txBox="1"/>
          <p:nvPr/>
        </p:nvSpPr>
        <p:spPr>
          <a:xfrm>
            <a:off x="548640" y="1234440"/>
            <a:ext cx="5852160" cy="365760"/>
          </a:xfrm>
          <a:prstGeom prst="rect">
            <a:avLst/>
          </a:prstGeom>
          <a:noFill/>
          <a:ln/>
        </p:spPr>
        <p:txBody>
          <a:bodyPr wrap="square" lIns="0" tIns="0" rIns="0" bIns="0" rtlCol="0" anchor="ctr"/>
          <a:lstStyle/>
          <a:p>
            <a:pPr indent="0" marL="0">
              <a:buNone/>
            </a:pPr>
            <a:r>
              <a:rPr lang="en-US" sz="1400" b="1" dirty="0">
                <a:solidFill>
                  <a:srgbClr val="5B6472"/>
                </a:solidFill>
              </a:rPr>
              <a:t>Requête</a:t>
            </a:r>
            <a:endParaRPr lang="en-US" sz="1400" dirty="0"/>
          </a:p>
        </p:txBody>
      </p:sp>
      <p:sp>
        <p:nvSpPr>
          <p:cNvPr id="4" name="Shape 2"/>
          <p:cNvSpPr/>
          <p:nvPr/>
        </p:nvSpPr>
        <p:spPr>
          <a:xfrm>
            <a:off x="548640" y="1645920"/>
            <a:ext cx="5852160" cy="3017520"/>
          </a:xfrm>
          <a:prstGeom prst="roundRect">
            <a:avLst>
              <a:gd name="adj" fmla="val 2424"/>
            </a:avLst>
          </a:prstGeom>
          <a:solidFill>
            <a:srgbClr val="0B1D3A"/>
          </a:solidFill>
          <a:ln w="12700">
            <a:solidFill>
              <a:srgbClr val="0B1D3A"/>
            </a:solidFill>
            <a:prstDash val="solid"/>
          </a:ln>
        </p:spPr>
      </p:sp>
      <p:sp>
        <p:nvSpPr>
          <p:cNvPr id="5" name="Text 3"/>
          <p:cNvSpPr txBox="1"/>
          <p:nvPr/>
        </p:nvSpPr>
        <p:spPr>
          <a:xfrm>
            <a:off x="731520" y="1783080"/>
            <a:ext cx="5486400" cy="2743200"/>
          </a:xfrm>
          <a:prstGeom prst="rect">
            <a:avLst/>
          </a:prstGeom>
          <a:noFill/>
          <a:ln/>
        </p:spPr>
        <p:txBody>
          <a:bodyPr wrap="square" lIns="0" tIns="0" rIns="0" bIns="0" rtlCol="0" anchor="t"/>
          <a:lstStyle/>
          <a:p>
            <a:pPr indent="0" marL="0">
              <a:buNone/>
            </a:pPr>
            <a:r>
              <a:rPr lang="en-US" sz="1400" dirty="0">
                <a:solidFill>
                  <a:srgbClr val="FFFFFF"/>
                </a:solidFill>
                <a:latin typeface="Courier New" pitchFamily="34" charset="0"/>
                <a:ea typeface="Courier New" pitchFamily="34" charset="-122"/>
                <a:cs typeface="Courier New" pitchFamily="34" charset="-120"/>
              </a:rPr>
              <a:t>SELECT SUM("PAYLOAD_MASS__KG_")</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AS total_payload_mass</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FROM SPACEXTBL</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WHERE "Customer" = 'NASA (CRS)';</a:t>
            </a:r>
            <a:endParaRPr lang="en-US" sz="1400" dirty="0"/>
          </a:p>
        </p:txBody>
      </p:sp>
      <p:sp>
        <p:nvSpPr>
          <p:cNvPr id="6" name="Text 4"/>
          <p:cNvSpPr txBox="1"/>
          <p:nvPr/>
        </p:nvSpPr>
        <p:spPr>
          <a:xfrm>
            <a:off x="6766560" y="1234440"/>
            <a:ext cx="4846320" cy="365760"/>
          </a:xfrm>
          <a:prstGeom prst="rect">
            <a:avLst/>
          </a:prstGeom>
          <a:noFill/>
          <a:ln/>
        </p:spPr>
        <p:txBody>
          <a:bodyPr wrap="square" lIns="0" tIns="0" rIns="0" bIns="0" rtlCol="0" anchor="ctr"/>
          <a:lstStyle/>
          <a:p>
            <a:pPr indent="0" marL="0">
              <a:buNone/>
            </a:pPr>
            <a:r>
              <a:rPr lang="en-US" sz="1400" b="1" dirty="0">
                <a:solidFill>
                  <a:srgbClr val="5B6472"/>
                </a:solidFill>
              </a:rPr>
              <a:t>Résultat</a:t>
            </a:r>
            <a:endParaRPr lang="en-US" sz="1400" dirty="0"/>
          </a:p>
        </p:txBody>
      </p:sp>
      <p:sp>
        <p:nvSpPr>
          <p:cNvPr id="7" name="Shape 5"/>
          <p:cNvSpPr/>
          <p:nvPr/>
        </p:nvSpPr>
        <p:spPr>
          <a:xfrm>
            <a:off x="6766560" y="1645920"/>
            <a:ext cx="4846320" cy="3017520"/>
          </a:xfrm>
          <a:prstGeom prst="roundRect">
            <a:avLst>
              <a:gd name="adj" fmla="val 2424"/>
            </a:avLst>
          </a:prstGeom>
          <a:solidFill>
            <a:srgbClr val="EEF2F7"/>
          </a:solidFill>
          <a:ln w="12700">
            <a:solidFill>
              <a:srgbClr val="EEF2F7"/>
            </a:solidFill>
            <a:prstDash val="solid"/>
          </a:ln>
        </p:spPr>
      </p:sp>
      <p:sp>
        <p:nvSpPr>
          <p:cNvPr id="8" name="Text 6"/>
          <p:cNvSpPr txBox="1"/>
          <p:nvPr/>
        </p:nvSpPr>
        <p:spPr>
          <a:xfrm>
            <a:off x="6766560" y="2194560"/>
            <a:ext cx="4846320" cy="1097280"/>
          </a:xfrm>
          <a:prstGeom prst="rect">
            <a:avLst/>
          </a:prstGeom>
          <a:noFill/>
          <a:ln/>
        </p:spPr>
        <p:txBody>
          <a:bodyPr wrap="square" lIns="0" tIns="0" rIns="0" bIns="0" rtlCol="0" anchor="ctr"/>
          <a:lstStyle/>
          <a:p>
            <a:pPr algn="ctr" indent="0" marL="0">
              <a:buNone/>
            </a:pPr>
            <a:r>
              <a:rPr lang="en-US" sz="4800" b="1" dirty="0">
                <a:solidFill>
                  <a:srgbClr val="E8590C"/>
                </a:solidFill>
                <a:latin typeface="Arial" pitchFamily="34" charset="0"/>
                <a:ea typeface="Arial" pitchFamily="34" charset="-122"/>
                <a:cs typeface="Arial" pitchFamily="34" charset="-120"/>
              </a:rPr>
              <a:t>45 596 kg</a:t>
            </a:r>
            <a:endParaRPr lang="en-US" sz="4800" dirty="0"/>
          </a:p>
        </p:txBody>
      </p:sp>
      <p:sp>
        <p:nvSpPr>
          <p:cNvPr id="9" name="Text 7"/>
          <p:cNvSpPr txBox="1"/>
          <p:nvPr/>
        </p:nvSpPr>
        <p:spPr>
          <a:xfrm>
            <a:off x="7040880" y="3383280"/>
            <a:ext cx="4297680" cy="822960"/>
          </a:xfrm>
          <a:prstGeom prst="rect">
            <a:avLst/>
          </a:prstGeom>
          <a:noFill/>
          <a:ln/>
        </p:spPr>
        <p:txBody>
          <a:bodyPr wrap="square" lIns="0" tIns="0" rIns="0" bIns="0" rtlCol="0" anchor="t"/>
          <a:lstStyle/>
          <a:p>
            <a:pPr algn="ctr" indent="0" marL="0">
              <a:buNone/>
            </a:pPr>
            <a:r>
              <a:rPr lang="en-US" sz="1500" dirty="0">
                <a:solidFill>
                  <a:srgbClr val="5B6472"/>
                </a:solidFill>
              </a:rPr>
              <a:t>masse totale des charges utiles lancées pour la NASA (CRS)</a:t>
            </a:r>
            <a:endParaRPr lang="en-US" sz="1500" dirty="0"/>
          </a:p>
        </p:txBody>
      </p:sp>
      <p:sp>
        <p:nvSpPr>
          <p:cNvPr id="10" name="Shape 8"/>
          <p:cNvSpPr/>
          <p:nvPr/>
        </p:nvSpPr>
        <p:spPr>
          <a:xfrm>
            <a:off x="548640" y="4892040"/>
            <a:ext cx="11064240" cy="1188720"/>
          </a:xfrm>
          <a:prstGeom prst="roundRect">
            <a:avLst>
              <a:gd name="adj" fmla="val 6154"/>
            </a:avLst>
          </a:prstGeom>
          <a:solidFill>
            <a:srgbClr val="EEF2F7"/>
          </a:solidFill>
          <a:ln w="12700">
            <a:solidFill>
              <a:srgbClr val="EEF2F7"/>
            </a:solidFill>
            <a:prstDash val="solid"/>
          </a:ln>
        </p:spPr>
      </p:sp>
      <p:sp>
        <p:nvSpPr>
          <p:cNvPr id="11" name="Text 9"/>
          <p:cNvSpPr txBox="1"/>
          <p:nvPr/>
        </p:nvSpPr>
        <p:spPr>
          <a:xfrm>
            <a:off x="777240" y="4983480"/>
            <a:ext cx="10607040" cy="1005840"/>
          </a:xfrm>
          <a:prstGeom prst="rect">
            <a:avLst/>
          </a:prstGeom>
          <a:noFill/>
          <a:ln/>
        </p:spPr>
        <p:txBody>
          <a:bodyPr wrap="square" lIns="0" tIns="0" rIns="0" bIns="0" rtlCol="0" anchor="ctr"/>
          <a:lstStyle/>
          <a:p>
            <a:pPr indent="0" marL="0">
              <a:buNone/>
            </a:pPr>
            <a:r>
              <a:rPr lang="en-US" sz="1500" b="1" dirty="0">
                <a:solidFill>
                  <a:srgbClr val="0B1D3A"/>
                </a:solidFill>
                <a:latin typeface="Calibri" pitchFamily="34" charset="0"/>
                <a:ea typeface="Calibri" pitchFamily="34" charset="-122"/>
                <a:cs typeface="Calibri" pitchFamily="34" charset="-120"/>
              </a:rPr>
              <a:t>Explication : </a:t>
            </a:r>
            <a:pPr indent="0" marL="0">
              <a:buNone/>
            </a:pPr>
            <a:r>
              <a:rPr lang="en-US" sz="1500" dirty="0">
                <a:solidFill>
                  <a:srgbClr val="1F2937"/>
                </a:solidFill>
                <a:latin typeface="Calibri" pitchFamily="34" charset="0"/>
                <a:ea typeface="Calibri" pitchFamily="34" charset="-122"/>
                <a:cs typeface="Calibri" pitchFamily="34" charset="-120"/>
              </a:rPr>
              <a:t>SUM additionne la masse de tous les lancements dont le client est NASA (CRS), c'est-à-dire les missions de ravitaillement de l'ISS.</a:t>
            </a:r>
            <a:endParaRPr lang="en-US" sz="15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rgbClr val="0B1D3A"/>
                </a:solidFill>
                <a:latin typeface="Arial" pitchFamily="34" charset="0"/>
                <a:ea typeface="Arial" pitchFamily="34" charset="-122"/>
                <a:cs typeface="Arial" pitchFamily="34" charset="-120"/>
              </a:rPr>
              <a:t>Masse moyenne pour le booster F9 v1.1</a:t>
            </a:r>
            <a:endParaRPr lang="en-US" sz="3000" dirty="0"/>
          </a:p>
        </p:txBody>
      </p:sp>
      <p:sp>
        <p:nvSpPr>
          <p:cNvPr id="3" name="Text 1"/>
          <p:cNvSpPr txBox="1"/>
          <p:nvPr/>
        </p:nvSpPr>
        <p:spPr>
          <a:xfrm>
            <a:off x="548640" y="1234440"/>
            <a:ext cx="5852160" cy="365760"/>
          </a:xfrm>
          <a:prstGeom prst="rect">
            <a:avLst/>
          </a:prstGeom>
          <a:noFill/>
          <a:ln/>
        </p:spPr>
        <p:txBody>
          <a:bodyPr wrap="square" lIns="0" tIns="0" rIns="0" bIns="0" rtlCol="0" anchor="ctr"/>
          <a:lstStyle/>
          <a:p>
            <a:pPr indent="0" marL="0">
              <a:buNone/>
            </a:pPr>
            <a:r>
              <a:rPr lang="en-US" sz="1400" b="1" dirty="0">
                <a:solidFill>
                  <a:srgbClr val="5B6472"/>
                </a:solidFill>
              </a:rPr>
              <a:t>Requête</a:t>
            </a:r>
            <a:endParaRPr lang="en-US" sz="1400" dirty="0"/>
          </a:p>
        </p:txBody>
      </p:sp>
      <p:sp>
        <p:nvSpPr>
          <p:cNvPr id="4" name="Shape 2"/>
          <p:cNvSpPr/>
          <p:nvPr/>
        </p:nvSpPr>
        <p:spPr>
          <a:xfrm>
            <a:off x="548640" y="1645920"/>
            <a:ext cx="5852160" cy="3017520"/>
          </a:xfrm>
          <a:prstGeom prst="roundRect">
            <a:avLst>
              <a:gd name="adj" fmla="val 2424"/>
            </a:avLst>
          </a:prstGeom>
          <a:solidFill>
            <a:srgbClr val="0B1D3A"/>
          </a:solidFill>
          <a:ln w="12700">
            <a:solidFill>
              <a:srgbClr val="0B1D3A"/>
            </a:solidFill>
            <a:prstDash val="solid"/>
          </a:ln>
        </p:spPr>
      </p:sp>
      <p:sp>
        <p:nvSpPr>
          <p:cNvPr id="5" name="Text 3"/>
          <p:cNvSpPr txBox="1"/>
          <p:nvPr/>
        </p:nvSpPr>
        <p:spPr>
          <a:xfrm>
            <a:off x="731520" y="1783080"/>
            <a:ext cx="5486400" cy="2743200"/>
          </a:xfrm>
          <a:prstGeom prst="rect">
            <a:avLst/>
          </a:prstGeom>
          <a:noFill/>
          <a:ln/>
        </p:spPr>
        <p:txBody>
          <a:bodyPr wrap="square" lIns="0" tIns="0" rIns="0" bIns="0" rtlCol="0" anchor="t"/>
          <a:lstStyle/>
          <a:p>
            <a:pPr indent="0" marL="0">
              <a:buNone/>
            </a:pPr>
            <a:r>
              <a:rPr lang="en-US" sz="1400" dirty="0">
                <a:solidFill>
                  <a:srgbClr val="FFFFFF"/>
                </a:solidFill>
                <a:latin typeface="Courier New" pitchFamily="34" charset="0"/>
                <a:ea typeface="Courier New" pitchFamily="34" charset="-122"/>
                <a:cs typeface="Courier New" pitchFamily="34" charset="-120"/>
              </a:rPr>
              <a:t>SELECT AVG("PAYLOAD_MASS__KG_")</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AS average_payload_mass</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FROM SPACEXTBL</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WHERE "Booster_Version" = 'F9 v1.1';</a:t>
            </a:r>
            <a:endParaRPr lang="en-US" sz="1400" dirty="0"/>
          </a:p>
        </p:txBody>
      </p:sp>
      <p:sp>
        <p:nvSpPr>
          <p:cNvPr id="6" name="Text 4"/>
          <p:cNvSpPr txBox="1"/>
          <p:nvPr/>
        </p:nvSpPr>
        <p:spPr>
          <a:xfrm>
            <a:off x="6766560" y="1234440"/>
            <a:ext cx="4846320" cy="365760"/>
          </a:xfrm>
          <a:prstGeom prst="rect">
            <a:avLst/>
          </a:prstGeom>
          <a:noFill/>
          <a:ln/>
        </p:spPr>
        <p:txBody>
          <a:bodyPr wrap="square" lIns="0" tIns="0" rIns="0" bIns="0" rtlCol="0" anchor="ctr"/>
          <a:lstStyle/>
          <a:p>
            <a:pPr indent="0" marL="0">
              <a:buNone/>
            </a:pPr>
            <a:r>
              <a:rPr lang="en-US" sz="1400" b="1" dirty="0">
                <a:solidFill>
                  <a:srgbClr val="5B6472"/>
                </a:solidFill>
              </a:rPr>
              <a:t>Résultat</a:t>
            </a:r>
            <a:endParaRPr lang="en-US" sz="1400" dirty="0"/>
          </a:p>
        </p:txBody>
      </p:sp>
      <p:sp>
        <p:nvSpPr>
          <p:cNvPr id="7" name="Shape 5"/>
          <p:cNvSpPr/>
          <p:nvPr/>
        </p:nvSpPr>
        <p:spPr>
          <a:xfrm>
            <a:off x="6766560" y="1645920"/>
            <a:ext cx="4846320" cy="3017520"/>
          </a:xfrm>
          <a:prstGeom prst="roundRect">
            <a:avLst>
              <a:gd name="adj" fmla="val 2424"/>
            </a:avLst>
          </a:prstGeom>
          <a:solidFill>
            <a:srgbClr val="EEF2F7"/>
          </a:solidFill>
          <a:ln w="12700">
            <a:solidFill>
              <a:srgbClr val="EEF2F7"/>
            </a:solidFill>
            <a:prstDash val="solid"/>
          </a:ln>
        </p:spPr>
      </p:sp>
      <p:sp>
        <p:nvSpPr>
          <p:cNvPr id="8" name="Text 6"/>
          <p:cNvSpPr txBox="1"/>
          <p:nvPr/>
        </p:nvSpPr>
        <p:spPr>
          <a:xfrm>
            <a:off x="6766560" y="2194560"/>
            <a:ext cx="4846320" cy="1097280"/>
          </a:xfrm>
          <a:prstGeom prst="rect">
            <a:avLst/>
          </a:prstGeom>
          <a:noFill/>
          <a:ln/>
        </p:spPr>
        <p:txBody>
          <a:bodyPr wrap="square" lIns="0" tIns="0" rIns="0" bIns="0" rtlCol="0" anchor="ctr"/>
          <a:lstStyle/>
          <a:p>
            <a:pPr algn="ctr" indent="0" marL="0">
              <a:buNone/>
            </a:pPr>
            <a:r>
              <a:rPr lang="en-US" sz="4800" b="1" dirty="0">
                <a:solidFill>
                  <a:srgbClr val="E8590C"/>
                </a:solidFill>
                <a:latin typeface="Arial" pitchFamily="34" charset="0"/>
                <a:ea typeface="Arial" pitchFamily="34" charset="-122"/>
                <a:cs typeface="Arial" pitchFamily="34" charset="-120"/>
              </a:rPr>
              <a:t>2 928,4 kg</a:t>
            </a:r>
            <a:endParaRPr lang="en-US" sz="4800" dirty="0"/>
          </a:p>
        </p:txBody>
      </p:sp>
      <p:sp>
        <p:nvSpPr>
          <p:cNvPr id="9" name="Text 7"/>
          <p:cNvSpPr txBox="1"/>
          <p:nvPr/>
        </p:nvSpPr>
        <p:spPr>
          <a:xfrm>
            <a:off x="7040880" y="3383280"/>
            <a:ext cx="4297680" cy="822960"/>
          </a:xfrm>
          <a:prstGeom prst="rect">
            <a:avLst/>
          </a:prstGeom>
          <a:noFill/>
          <a:ln/>
        </p:spPr>
        <p:txBody>
          <a:bodyPr wrap="square" lIns="0" tIns="0" rIns="0" bIns="0" rtlCol="0" anchor="t"/>
          <a:lstStyle/>
          <a:p>
            <a:pPr algn="ctr" indent="0" marL="0">
              <a:buNone/>
            </a:pPr>
            <a:r>
              <a:rPr lang="en-US" sz="1500" dirty="0">
                <a:solidFill>
                  <a:srgbClr val="5B6472"/>
                </a:solidFill>
              </a:rPr>
              <a:t>masse moyenne des charges utiles du booster F9 v1.1</a:t>
            </a:r>
            <a:endParaRPr lang="en-US" sz="1500" dirty="0"/>
          </a:p>
        </p:txBody>
      </p:sp>
      <p:sp>
        <p:nvSpPr>
          <p:cNvPr id="10" name="Shape 8"/>
          <p:cNvSpPr/>
          <p:nvPr/>
        </p:nvSpPr>
        <p:spPr>
          <a:xfrm>
            <a:off x="548640" y="4892040"/>
            <a:ext cx="11064240" cy="1188720"/>
          </a:xfrm>
          <a:prstGeom prst="roundRect">
            <a:avLst>
              <a:gd name="adj" fmla="val 6154"/>
            </a:avLst>
          </a:prstGeom>
          <a:solidFill>
            <a:srgbClr val="EEF2F7"/>
          </a:solidFill>
          <a:ln w="12700">
            <a:solidFill>
              <a:srgbClr val="EEF2F7"/>
            </a:solidFill>
            <a:prstDash val="solid"/>
          </a:ln>
        </p:spPr>
      </p:sp>
      <p:sp>
        <p:nvSpPr>
          <p:cNvPr id="11" name="Text 9"/>
          <p:cNvSpPr txBox="1"/>
          <p:nvPr/>
        </p:nvSpPr>
        <p:spPr>
          <a:xfrm>
            <a:off x="777240" y="4983480"/>
            <a:ext cx="10607040" cy="1005840"/>
          </a:xfrm>
          <a:prstGeom prst="rect">
            <a:avLst/>
          </a:prstGeom>
          <a:noFill/>
          <a:ln/>
        </p:spPr>
        <p:txBody>
          <a:bodyPr wrap="square" lIns="0" tIns="0" rIns="0" bIns="0" rtlCol="0" anchor="ctr"/>
          <a:lstStyle/>
          <a:p>
            <a:pPr indent="0" marL="0">
              <a:buNone/>
            </a:pPr>
            <a:r>
              <a:rPr lang="en-US" sz="1500" b="1" dirty="0">
                <a:solidFill>
                  <a:srgbClr val="0B1D3A"/>
                </a:solidFill>
                <a:latin typeface="Calibri" pitchFamily="34" charset="0"/>
                <a:ea typeface="Calibri" pitchFamily="34" charset="-122"/>
                <a:cs typeface="Calibri" pitchFamily="34" charset="-120"/>
              </a:rPr>
              <a:t>Explication : </a:t>
            </a:r>
            <a:pPr indent="0" marL="0">
              <a:buNone/>
            </a:pPr>
            <a:r>
              <a:rPr lang="en-US" sz="1500" dirty="0">
                <a:solidFill>
                  <a:srgbClr val="1F2937"/>
                </a:solidFill>
                <a:latin typeface="Calibri" pitchFamily="34" charset="0"/>
                <a:ea typeface="Calibri" pitchFamily="34" charset="-122"/>
                <a:cs typeface="Calibri" pitchFamily="34" charset="-120"/>
              </a:rPr>
              <a:t>AVG calcule la moyenne des masses pour la version F9 v1.1, une version ancienne aux charges modestes.</a:t>
            </a:r>
            <a:endParaRPr lang="en-US" sz="15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rgbClr val="0B1D3A"/>
                </a:solidFill>
                <a:latin typeface="Arial" pitchFamily="34" charset="0"/>
                <a:ea typeface="Arial" pitchFamily="34" charset="-122"/>
                <a:cs typeface="Arial" pitchFamily="34" charset="-120"/>
              </a:rPr>
              <a:t>Premier atterrissage réussi au sol</a:t>
            </a:r>
            <a:endParaRPr lang="en-US" sz="3000" dirty="0"/>
          </a:p>
        </p:txBody>
      </p:sp>
      <p:sp>
        <p:nvSpPr>
          <p:cNvPr id="3" name="Text 1"/>
          <p:cNvSpPr txBox="1"/>
          <p:nvPr/>
        </p:nvSpPr>
        <p:spPr>
          <a:xfrm>
            <a:off x="548640" y="1234440"/>
            <a:ext cx="5852160" cy="365760"/>
          </a:xfrm>
          <a:prstGeom prst="rect">
            <a:avLst/>
          </a:prstGeom>
          <a:noFill/>
          <a:ln/>
        </p:spPr>
        <p:txBody>
          <a:bodyPr wrap="square" lIns="0" tIns="0" rIns="0" bIns="0" rtlCol="0" anchor="ctr"/>
          <a:lstStyle/>
          <a:p>
            <a:pPr indent="0" marL="0">
              <a:buNone/>
            </a:pPr>
            <a:r>
              <a:rPr lang="en-US" sz="1400" b="1" dirty="0">
                <a:solidFill>
                  <a:srgbClr val="5B6472"/>
                </a:solidFill>
              </a:rPr>
              <a:t>Requête</a:t>
            </a:r>
            <a:endParaRPr lang="en-US" sz="1400" dirty="0"/>
          </a:p>
        </p:txBody>
      </p:sp>
      <p:sp>
        <p:nvSpPr>
          <p:cNvPr id="4" name="Shape 2"/>
          <p:cNvSpPr/>
          <p:nvPr/>
        </p:nvSpPr>
        <p:spPr>
          <a:xfrm>
            <a:off x="548640" y="1645920"/>
            <a:ext cx="5852160" cy="3017520"/>
          </a:xfrm>
          <a:prstGeom prst="roundRect">
            <a:avLst>
              <a:gd name="adj" fmla="val 2424"/>
            </a:avLst>
          </a:prstGeom>
          <a:solidFill>
            <a:srgbClr val="0B1D3A"/>
          </a:solidFill>
          <a:ln w="12700">
            <a:solidFill>
              <a:srgbClr val="0B1D3A"/>
            </a:solidFill>
            <a:prstDash val="solid"/>
          </a:ln>
        </p:spPr>
      </p:sp>
      <p:sp>
        <p:nvSpPr>
          <p:cNvPr id="5" name="Text 3"/>
          <p:cNvSpPr txBox="1"/>
          <p:nvPr/>
        </p:nvSpPr>
        <p:spPr>
          <a:xfrm>
            <a:off x="731520" y="1783080"/>
            <a:ext cx="5486400" cy="2743200"/>
          </a:xfrm>
          <a:prstGeom prst="rect">
            <a:avLst/>
          </a:prstGeom>
          <a:noFill/>
          <a:ln/>
        </p:spPr>
        <p:txBody>
          <a:bodyPr wrap="square" lIns="0" tIns="0" rIns="0" bIns="0" rtlCol="0" anchor="t"/>
          <a:lstStyle/>
          <a:p>
            <a:pPr indent="0" marL="0">
              <a:buNone/>
            </a:pPr>
            <a:r>
              <a:rPr lang="en-US" sz="1400" dirty="0">
                <a:solidFill>
                  <a:srgbClr val="FFFFFF"/>
                </a:solidFill>
                <a:latin typeface="Courier New" pitchFamily="34" charset="0"/>
                <a:ea typeface="Courier New" pitchFamily="34" charset="-122"/>
                <a:cs typeface="Courier New" pitchFamily="34" charset="-120"/>
              </a:rPr>
              <a:t>SELECT MIN(Date)</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AS first_successful_landing_date</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FROM SPACEXTBL</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WHERE "Landing_Outcome" =</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'Success (ground pad)';</a:t>
            </a:r>
            <a:endParaRPr lang="en-US" sz="1400" dirty="0"/>
          </a:p>
        </p:txBody>
      </p:sp>
      <p:sp>
        <p:nvSpPr>
          <p:cNvPr id="6" name="Text 4"/>
          <p:cNvSpPr txBox="1"/>
          <p:nvPr/>
        </p:nvSpPr>
        <p:spPr>
          <a:xfrm>
            <a:off x="6766560" y="1234440"/>
            <a:ext cx="4846320" cy="365760"/>
          </a:xfrm>
          <a:prstGeom prst="rect">
            <a:avLst/>
          </a:prstGeom>
          <a:noFill/>
          <a:ln/>
        </p:spPr>
        <p:txBody>
          <a:bodyPr wrap="square" lIns="0" tIns="0" rIns="0" bIns="0" rtlCol="0" anchor="ctr"/>
          <a:lstStyle/>
          <a:p>
            <a:pPr indent="0" marL="0">
              <a:buNone/>
            </a:pPr>
            <a:r>
              <a:rPr lang="en-US" sz="1400" b="1" dirty="0">
                <a:solidFill>
                  <a:srgbClr val="5B6472"/>
                </a:solidFill>
              </a:rPr>
              <a:t>Résultat</a:t>
            </a:r>
            <a:endParaRPr lang="en-US" sz="1400" dirty="0"/>
          </a:p>
        </p:txBody>
      </p:sp>
      <p:sp>
        <p:nvSpPr>
          <p:cNvPr id="7" name="Shape 5"/>
          <p:cNvSpPr/>
          <p:nvPr/>
        </p:nvSpPr>
        <p:spPr>
          <a:xfrm>
            <a:off x="6766560" y="1645920"/>
            <a:ext cx="4846320" cy="3017520"/>
          </a:xfrm>
          <a:prstGeom prst="roundRect">
            <a:avLst>
              <a:gd name="adj" fmla="val 2424"/>
            </a:avLst>
          </a:prstGeom>
          <a:solidFill>
            <a:srgbClr val="EEF2F7"/>
          </a:solidFill>
          <a:ln w="12700">
            <a:solidFill>
              <a:srgbClr val="EEF2F7"/>
            </a:solidFill>
            <a:prstDash val="solid"/>
          </a:ln>
        </p:spPr>
      </p:sp>
      <p:sp>
        <p:nvSpPr>
          <p:cNvPr id="8" name="Text 6"/>
          <p:cNvSpPr txBox="1"/>
          <p:nvPr/>
        </p:nvSpPr>
        <p:spPr>
          <a:xfrm>
            <a:off x="6766560" y="2194560"/>
            <a:ext cx="4846320" cy="1097280"/>
          </a:xfrm>
          <a:prstGeom prst="rect">
            <a:avLst/>
          </a:prstGeom>
          <a:noFill/>
          <a:ln/>
        </p:spPr>
        <p:txBody>
          <a:bodyPr wrap="square" lIns="0" tIns="0" rIns="0" bIns="0" rtlCol="0" anchor="ctr"/>
          <a:lstStyle/>
          <a:p>
            <a:pPr algn="ctr" indent="0" marL="0">
              <a:buNone/>
            </a:pPr>
            <a:r>
              <a:rPr lang="en-US" sz="4800" b="1" dirty="0">
                <a:solidFill>
                  <a:srgbClr val="E8590C"/>
                </a:solidFill>
                <a:latin typeface="Arial" pitchFamily="34" charset="0"/>
                <a:ea typeface="Arial" pitchFamily="34" charset="-122"/>
                <a:cs typeface="Arial" pitchFamily="34" charset="-120"/>
              </a:rPr>
              <a:t>22/12/2015</a:t>
            </a:r>
            <a:endParaRPr lang="en-US" sz="4800" dirty="0"/>
          </a:p>
        </p:txBody>
      </p:sp>
      <p:sp>
        <p:nvSpPr>
          <p:cNvPr id="9" name="Text 7"/>
          <p:cNvSpPr txBox="1"/>
          <p:nvPr/>
        </p:nvSpPr>
        <p:spPr>
          <a:xfrm>
            <a:off x="7040880" y="3383280"/>
            <a:ext cx="4297680" cy="822960"/>
          </a:xfrm>
          <a:prstGeom prst="rect">
            <a:avLst/>
          </a:prstGeom>
          <a:noFill/>
          <a:ln/>
        </p:spPr>
        <p:txBody>
          <a:bodyPr wrap="square" lIns="0" tIns="0" rIns="0" bIns="0" rtlCol="0" anchor="t"/>
          <a:lstStyle/>
          <a:p>
            <a:pPr algn="ctr" indent="0" marL="0">
              <a:buNone/>
            </a:pPr>
            <a:r>
              <a:rPr lang="en-US" sz="1500" dirty="0">
                <a:solidFill>
                  <a:srgbClr val="5B6472"/>
                </a:solidFill>
              </a:rPr>
              <a:t>premier atterrissage réussi sur plateforme au sol</a:t>
            </a:r>
            <a:endParaRPr lang="en-US" sz="1500" dirty="0"/>
          </a:p>
        </p:txBody>
      </p:sp>
      <p:sp>
        <p:nvSpPr>
          <p:cNvPr id="10" name="Shape 8"/>
          <p:cNvSpPr/>
          <p:nvPr/>
        </p:nvSpPr>
        <p:spPr>
          <a:xfrm>
            <a:off x="548640" y="4892040"/>
            <a:ext cx="11064240" cy="1188720"/>
          </a:xfrm>
          <a:prstGeom prst="roundRect">
            <a:avLst>
              <a:gd name="adj" fmla="val 6154"/>
            </a:avLst>
          </a:prstGeom>
          <a:solidFill>
            <a:srgbClr val="EEF2F7"/>
          </a:solidFill>
          <a:ln w="12700">
            <a:solidFill>
              <a:srgbClr val="EEF2F7"/>
            </a:solidFill>
            <a:prstDash val="solid"/>
          </a:ln>
        </p:spPr>
      </p:sp>
      <p:sp>
        <p:nvSpPr>
          <p:cNvPr id="11" name="Text 9"/>
          <p:cNvSpPr txBox="1"/>
          <p:nvPr/>
        </p:nvSpPr>
        <p:spPr>
          <a:xfrm>
            <a:off x="777240" y="4983480"/>
            <a:ext cx="10607040" cy="1005840"/>
          </a:xfrm>
          <a:prstGeom prst="rect">
            <a:avLst/>
          </a:prstGeom>
          <a:noFill/>
          <a:ln/>
        </p:spPr>
        <p:txBody>
          <a:bodyPr wrap="square" lIns="0" tIns="0" rIns="0" bIns="0" rtlCol="0" anchor="ctr"/>
          <a:lstStyle/>
          <a:p>
            <a:pPr indent="0" marL="0">
              <a:buNone/>
            </a:pPr>
            <a:r>
              <a:rPr lang="en-US" sz="1500" b="1" dirty="0">
                <a:solidFill>
                  <a:srgbClr val="0B1D3A"/>
                </a:solidFill>
                <a:latin typeface="Calibri" pitchFamily="34" charset="0"/>
                <a:ea typeface="Calibri" pitchFamily="34" charset="-122"/>
                <a:cs typeface="Calibri" pitchFamily="34" charset="-120"/>
              </a:rPr>
              <a:t>Explication : </a:t>
            </a:r>
            <a:pPr indent="0" marL="0">
              <a:buNone/>
            </a:pPr>
            <a:r>
              <a:rPr lang="en-US" sz="1500" dirty="0">
                <a:solidFill>
                  <a:srgbClr val="1F2937"/>
                </a:solidFill>
                <a:latin typeface="Calibri" pitchFamily="34" charset="0"/>
                <a:ea typeface="Calibri" pitchFamily="34" charset="-122"/>
                <a:cs typeface="Calibri" pitchFamily="34" charset="-120"/>
              </a:rPr>
              <a:t>MIN(Date) renvoie la date la plus ancienne parmi les atterrissages réussis au sol : un tournant dans l'histoire de SpaceX.</a:t>
            </a:r>
            <a:endParaRPr lang="en-US" sz="15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rgbClr val="0B1D3A"/>
                </a:solidFill>
                <a:latin typeface="Arial" pitchFamily="34" charset="0"/>
                <a:ea typeface="Arial" pitchFamily="34" charset="-122"/>
                <a:cs typeface="Arial" pitchFamily="34" charset="-120"/>
              </a:rPr>
              <a:t>Succès sur barge avec 4 000 à 6 000 kg</a:t>
            </a:r>
            <a:endParaRPr lang="en-US" sz="3000" dirty="0"/>
          </a:p>
        </p:txBody>
      </p:sp>
      <p:sp>
        <p:nvSpPr>
          <p:cNvPr id="3" name="Text 1"/>
          <p:cNvSpPr txBox="1"/>
          <p:nvPr/>
        </p:nvSpPr>
        <p:spPr>
          <a:xfrm>
            <a:off x="548640" y="1234440"/>
            <a:ext cx="5852160" cy="365760"/>
          </a:xfrm>
          <a:prstGeom prst="rect">
            <a:avLst/>
          </a:prstGeom>
          <a:noFill/>
          <a:ln/>
        </p:spPr>
        <p:txBody>
          <a:bodyPr wrap="square" lIns="0" tIns="0" rIns="0" bIns="0" rtlCol="0" anchor="ctr"/>
          <a:lstStyle/>
          <a:p>
            <a:pPr indent="0" marL="0">
              <a:buNone/>
            </a:pPr>
            <a:r>
              <a:rPr lang="en-US" sz="1400" b="1" dirty="0">
                <a:solidFill>
                  <a:srgbClr val="5B6472"/>
                </a:solidFill>
              </a:rPr>
              <a:t>Requête</a:t>
            </a:r>
            <a:endParaRPr lang="en-US" sz="1400" dirty="0"/>
          </a:p>
        </p:txBody>
      </p:sp>
      <p:sp>
        <p:nvSpPr>
          <p:cNvPr id="4" name="Shape 2"/>
          <p:cNvSpPr/>
          <p:nvPr/>
        </p:nvSpPr>
        <p:spPr>
          <a:xfrm>
            <a:off x="548640" y="1645920"/>
            <a:ext cx="5852160" cy="3017520"/>
          </a:xfrm>
          <a:prstGeom prst="roundRect">
            <a:avLst>
              <a:gd name="adj" fmla="val 2424"/>
            </a:avLst>
          </a:prstGeom>
          <a:solidFill>
            <a:srgbClr val="0B1D3A"/>
          </a:solidFill>
          <a:ln w="12700">
            <a:solidFill>
              <a:srgbClr val="0B1D3A"/>
            </a:solidFill>
            <a:prstDash val="solid"/>
          </a:ln>
        </p:spPr>
      </p:sp>
      <p:sp>
        <p:nvSpPr>
          <p:cNvPr id="5" name="Text 3"/>
          <p:cNvSpPr txBox="1"/>
          <p:nvPr/>
        </p:nvSpPr>
        <p:spPr>
          <a:xfrm>
            <a:off x="731520" y="1783080"/>
            <a:ext cx="5486400" cy="2743200"/>
          </a:xfrm>
          <a:prstGeom prst="rect">
            <a:avLst/>
          </a:prstGeom>
          <a:noFill/>
          <a:ln/>
        </p:spPr>
        <p:txBody>
          <a:bodyPr wrap="square" lIns="0" tIns="0" rIns="0" bIns="0" rtlCol="0" anchor="t"/>
          <a:lstStyle/>
          <a:p>
            <a:pPr indent="0" marL="0">
              <a:buNone/>
            </a:pPr>
            <a:r>
              <a:rPr lang="en-US" sz="1400" dirty="0">
                <a:solidFill>
                  <a:srgbClr val="FFFFFF"/>
                </a:solidFill>
                <a:latin typeface="Courier New" pitchFamily="34" charset="0"/>
                <a:ea typeface="Courier New" pitchFamily="34" charset="-122"/>
                <a:cs typeface="Courier New" pitchFamily="34" charset="-120"/>
              </a:rPr>
              <a:t>SELECT DISTINCT "Booster_Version"</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FROM SPACEXTBL</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WHERE "Landing_Outcome" =</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'Success (drone ship)'</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AND "PAYLOAD_MASS__KG_" &gt; 4000</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AND "PAYLOAD_MASS__KG_" &lt; 6000;</a:t>
            </a:r>
            <a:endParaRPr lang="en-US" sz="1400" dirty="0"/>
          </a:p>
        </p:txBody>
      </p:sp>
      <p:sp>
        <p:nvSpPr>
          <p:cNvPr id="6" name="Text 4"/>
          <p:cNvSpPr txBox="1"/>
          <p:nvPr/>
        </p:nvSpPr>
        <p:spPr>
          <a:xfrm>
            <a:off x="6766560" y="1234440"/>
            <a:ext cx="4846320" cy="365760"/>
          </a:xfrm>
          <a:prstGeom prst="rect">
            <a:avLst/>
          </a:prstGeom>
          <a:noFill/>
          <a:ln/>
        </p:spPr>
        <p:txBody>
          <a:bodyPr wrap="square" lIns="0" tIns="0" rIns="0" bIns="0" rtlCol="0" anchor="ctr"/>
          <a:lstStyle/>
          <a:p>
            <a:pPr indent="0" marL="0">
              <a:buNone/>
            </a:pPr>
            <a:r>
              <a:rPr lang="en-US" sz="1400" b="1" dirty="0">
                <a:solidFill>
                  <a:srgbClr val="5B6472"/>
                </a:solidFill>
              </a:rPr>
              <a:t>Résultat</a:t>
            </a:r>
            <a:endParaRPr lang="en-US" sz="14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6766560" y="1645920"/>
          <a:ext cx="4846320" cy="914400"/>
        </p:xfrm>
        <a:graphic>
          <a:graphicData uri="http://schemas.openxmlformats.org/drawingml/2006/table">
            <a:tbl>
              <a:tblPr/>
              <a:tblGrid>
                <a:gridCol w="4846320"/>
              </a:tblGrid>
              <a:tr h="329184">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Booster_Version</a:t>
                      </a:r>
                      <a:endParaRPr lang="en-US" sz="15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3D5A80"/>
                    </a:solidFill>
                  </a:tcPr>
                </a:tc>
              </a:tr>
              <a:tr h="329184">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F9 FT B1022</a:t>
                      </a:r>
                      <a:endParaRPr lang="en-US" sz="15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r>
              <a:tr h="329184">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F9 FT B1026</a:t>
                      </a:r>
                      <a:endParaRPr lang="en-US" sz="15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r>
              <a:tr h="329184">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F9 FT B1021.2</a:t>
                      </a:r>
                      <a:endParaRPr lang="en-US" sz="15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r>
              <a:tr h="329184">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F9 FT B1031.2</a:t>
                      </a:r>
                      <a:endParaRPr lang="en-US" sz="15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r>
            </a:tbl>
          </a:graphicData>
        </a:graphic>
      </p:graphicFrame>
      <p:sp>
        <p:nvSpPr>
          <p:cNvPr id="8" name="Shape 5"/>
          <p:cNvSpPr/>
          <p:nvPr/>
        </p:nvSpPr>
        <p:spPr>
          <a:xfrm>
            <a:off x="548640" y="4892040"/>
            <a:ext cx="11064240" cy="1188720"/>
          </a:xfrm>
          <a:prstGeom prst="roundRect">
            <a:avLst>
              <a:gd name="adj" fmla="val 6154"/>
            </a:avLst>
          </a:prstGeom>
          <a:solidFill>
            <a:srgbClr val="EEF2F7"/>
          </a:solidFill>
          <a:ln w="12700">
            <a:solidFill>
              <a:srgbClr val="EEF2F7"/>
            </a:solidFill>
            <a:prstDash val="solid"/>
          </a:ln>
        </p:spPr>
      </p:sp>
      <p:sp>
        <p:nvSpPr>
          <p:cNvPr id="9" name="Text 6"/>
          <p:cNvSpPr txBox="1"/>
          <p:nvPr/>
        </p:nvSpPr>
        <p:spPr>
          <a:xfrm>
            <a:off x="777240" y="4983480"/>
            <a:ext cx="10607040" cy="1005840"/>
          </a:xfrm>
          <a:prstGeom prst="rect">
            <a:avLst/>
          </a:prstGeom>
          <a:noFill/>
          <a:ln/>
        </p:spPr>
        <p:txBody>
          <a:bodyPr wrap="square" lIns="0" tIns="0" rIns="0" bIns="0" rtlCol="0" anchor="ctr"/>
          <a:lstStyle/>
          <a:p>
            <a:pPr indent="0" marL="0">
              <a:buNone/>
            </a:pPr>
            <a:r>
              <a:rPr lang="en-US" sz="1500" b="1" dirty="0">
                <a:solidFill>
                  <a:srgbClr val="0B1D3A"/>
                </a:solidFill>
                <a:latin typeface="Calibri" pitchFamily="34" charset="0"/>
                <a:ea typeface="Calibri" pitchFamily="34" charset="-122"/>
                <a:cs typeface="Calibri" pitchFamily="34" charset="-120"/>
              </a:rPr>
              <a:t>Explication : </a:t>
            </a:r>
            <a:pPr indent="0" marL="0">
              <a:buNone/>
            </a:pPr>
            <a:r>
              <a:rPr lang="en-US" sz="1500" dirty="0">
                <a:solidFill>
                  <a:srgbClr val="1F2937"/>
                </a:solidFill>
                <a:latin typeface="Calibri" pitchFamily="34" charset="0"/>
                <a:ea typeface="Calibri" pitchFamily="34" charset="-122"/>
                <a:cs typeface="Calibri" pitchFamily="34" charset="-120"/>
              </a:rPr>
              <a:t>Les conditions combinées avec AND filtrent les atterrissages réussis sur barge avec une charge entre 4 000 et 6 000 kg. Les 4 boosters sont de la version FT.</a:t>
            </a:r>
            <a:endParaRPr lang="en-US" sz="15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rgbClr val="0B1D3A"/>
                </a:solidFill>
                <a:latin typeface="Arial" pitchFamily="34" charset="0"/>
                <a:ea typeface="Arial" pitchFamily="34" charset="-122"/>
                <a:cs typeface="Arial" pitchFamily="34" charset="-120"/>
              </a:rPr>
              <a:t>Nombre de missions réussies et échouées</a:t>
            </a:r>
            <a:endParaRPr lang="en-US" sz="3000" dirty="0"/>
          </a:p>
        </p:txBody>
      </p:sp>
      <p:sp>
        <p:nvSpPr>
          <p:cNvPr id="3" name="Text 1"/>
          <p:cNvSpPr txBox="1"/>
          <p:nvPr/>
        </p:nvSpPr>
        <p:spPr>
          <a:xfrm>
            <a:off x="548640" y="1234440"/>
            <a:ext cx="5852160" cy="365760"/>
          </a:xfrm>
          <a:prstGeom prst="rect">
            <a:avLst/>
          </a:prstGeom>
          <a:noFill/>
          <a:ln/>
        </p:spPr>
        <p:txBody>
          <a:bodyPr wrap="square" lIns="0" tIns="0" rIns="0" bIns="0" rtlCol="0" anchor="ctr"/>
          <a:lstStyle/>
          <a:p>
            <a:pPr indent="0" marL="0">
              <a:buNone/>
            </a:pPr>
            <a:r>
              <a:rPr lang="en-US" sz="1400" b="1" dirty="0">
                <a:solidFill>
                  <a:srgbClr val="5B6472"/>
                </a:solidFill>
              </a:rPr>
              <a:t>Requête</a:t>
            </a:r>
            <a:endParaRPr lang="en-US" sz="1400" dirty="0"/>
          </a:p>
        </p:txBody>
      </p:sp>
      <p:sp>
        <p:nvSpPr>
          <p:cNvPr id="4" name="Shape 2"/>
          <p:cNvSpPr/>
          <p:nvPr/>
        </p:nvSpPr>
        <p:spPr>
          <a:xfrm>
            <a:off x="548640" y="1645920"/>
            <a:ext cx="5852160" cy="3017520"/>
          </a:xfrm>
          <a:prstGeom prst="roundRect">
            <a:avLst>
              <a:gd name="adj" fmla="val 2424"/>
            </a:avLst>
          </a:prstGeom>
          <a:solidFill>
            <a:srgbClr val="0B1D3A"/>
          </a:solidFill>
          <a:ln w="12700">
            <a:solidFill>
              <a:srgbClr val="0B1D3A"/>
            </a:solidFill>
            <a:prstDash val="solid"/>
          </a:ln>
        </p:spPr>
      </p:sp>
      <p:sp>
        <p:nvSpPr>
          <p:cNvPr id="5" name="Text 3"/>
          <p:cNvSpPr txBox="1"/>
          <p:nvPr/>
        </p:nvSpPr>
        <p:spPr>
          <a:xfrm>
            <a:off x="731520" y="1783080"/>
            <a:ext cx="5486400" cy="2743200"/>
          </a:xfrm>
          <a:prstGeom prst="rect">
            <a:avLst/>
          </a:prstGeom>
          <a:noFill/>
          <a:ln/>
        </p:spPr>
        <p:txBody>
          <a:bodyPr wrap="square" lIns="0" tIns="0" rIns="0" bIns="0" rtlCol="0" anchor="t"/>
          <a:lstStyle/>
          <a:p>
            <a:pPr indent="0" marL="0">
              <a:buNone/>
            </a:pPr>
            <a:r>
              <a:rPr lang="en-US" sz="1400" dirty="0">
                <a:solidFill>
                  <a:srgbClr val="FFFFFF"/>
                </a:solidFill>
                <a:latin typeface="Courier New" pitchFamily="34" charset="0"/>
                <a:ea typeface="Courier New" pitchFamily="34" charset="-122"/>
                <a:cs typeface="Courier New" pitchFamily="34" charset="-120"/>
              </a:rPr>
              <a:t>SELECT "Mission_Outcome",</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COUNT(*) AS total</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FROM SPACEXTBL</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GROUP BY "Mission_Outcome";</a:t>
            </a:r>
            <a:endParaRPr lang="en-US" sz="1400" dirty="0"/>
          </a:p>
        </p:txBody>
      </p:sp>
      <p:sp>
        <p:nvSpPr>
          <p:cNvPr id="6" name="Text 4"/>
          <p:cNvSpPr txBox="1"/>
          <p:nvPr/>
        </p:nvSpPr>
        <p:spPr>
          <a:xfrm>
            <a:off x="6766560" y="1234440"/>
            <a:ext cx="4846320" cy="365760"/>
          </a:xfrm>
          <a:prstGeom prst="rect">
            <a:avLst/>
          </a:prstGeom>
          <a:noFill/>
          <a:ln/>
        </p:spPr>
        <p:txBody>
          <a:bodyPr wrap="square" lIns="0" tIns="0" rIns="0" bIns="0" rtlCol="0" anchor="ctr"/>
          <a:lstStyle/>
          <a:p>
            <a:pPr indent="0" marL="0">
              <a:buNone/>
            </a:pPr>
            <a:r>
              <a:rPr lang="en-US" sz="1400" b="1" dirty="0">
                <a:solidFill>
                  <a:srgbClr val="5B6472"/>
                </a:solidFill>
              </a:rPr>
              <a:t>Résultat</a:t>
            </a:r>
            <a:endParaRPr lang="en-US" sz="14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6766560" y="1645920"/>
          <a:ext cx="4846320" cy="914400"/>
        </p:xfrm>
        <a:graphic>
          <a:graphicData uri="http://schemas.openxmlformats.org/drawingml/2006/table">
            <a:tbl>
              <a:tblPr/>
              <a:tblGrid>
                <a:gridCol w="2423160"/>
                <a:gridCol w="2423160"/>
              </a:tblGrid>
              <a:tr h="329184">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Mission_Outcome</a:t>
                      </a:r>
                      <a:endParaRPr lang="en-US" sz="14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3D5A80"/>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Total</a:t>
                      </a:r>
                      <a:endParaRPr lang="en-US" sz="14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3D5A80"/>
                    </a:solidFill>
                  </a:tcPr>
                </a:tc>
              </a:tr>
              <a:tr h="329184">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Success</a:t>
                      </a:r>
                      <a:endParaRPr lang="en-US" sz="14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98</a:t>
                      </a:r>
                      <a:endParaRPr lang="en-US" sz="14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r>
              <a:tr h="329184">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Success  (avec espace en trop)</a:t>
                      </a:r>
                      <a:endParaRPr lang="en-US" sz="14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r>
              <a:tr h="329184">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Success (payload status unclear)</a:t>
                      </a:r>
                      <a:endParaRPr lang="en-US" sz="14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r>
              <a:tr h="329184">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Failure (in flight)</a:t>
                      </a:r>
                      <a:endParaRPr lang="en-US" sz="14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r>
            </a:tbl>
          </a:graphicData>
        </a:graphic>
      </p:graphicFrame>
      <p:sp>
        <p:nvSpPr>
          <p:cNvPr id="8" name="Shape 5"/>
          <p:cNvSpPr/>
          <p:nvPr/>
        </p:nvSpPr>
        <p:spPr>
          <a:xfrm>
            <a:off x="548640" y="4892040"/>
            <a:ext cx="11064240" cy="1188720"/>
          </a:xfrm>
          <a:prstGeom prst="roundRect">
            <a:avLst>
              <a:gd name="adj" fmla="val 6154"/>
            </a:avLst>
          </a:prstGeom>
          <a:solidFill>
            <a:srgbClr val="EEF2F7"/>
          </a:solidFill>
          <a:ln w="12700">
            <a:solidFill>
              <a:srgbClr val="EEF2F7"/>
            </a:solidFill>
            <a:prstDash val="solid"/>
          </a:ln>
        </p:spPr>
      </p:sp>
      <p:sp>
        <p:nvSpPr>
          <p:cNvPr id="9" name="Text 6"/>
          <p:cNvSpPr txBox="1"/>
          <p:nvPr/>
        </p:nvSpPr>
        <p:spPr>
          <a:xfrm>
            <a:off x="777240" y="4983480"/>
            <a:ext cx="10607040" cy="1005840"/>
          </a:xfrm>
          <a:prstGeom prst="rect">
            <a:avLst/>
          </a:prstGeom>
          <a:noFill/>
          <a:ln/>
        </p:spPr>
        <p:txBody>
          <a:bodyPr wrap="square" lIns="0" tIns="0" rIns="0" bIns="0" rtlCol="0" anchor="ctr"/>
          <a:lstStyle/>
          <a:p>
            <a:pPr indent="0" marL="0">
              <a:buNone/>
            </a:pPr>
            <a:r>
              <a:rPr lang="en-US" sz="1500" b="1" dirty="0">
                <a:solidFill>
                  <a:srgbClr val="0B1D3A"/>
                </a:solidFill>
                <a:latin typeface="Calibri" pitchFamily="34" charset="0"/>
                <a:ea typeface="Calibri" pitchFamily="34" charset="-122"/>
                <a:cs typeface="Calibri" pitchFamily="34" charset="-120"/>
              </a:rPr>
              <a:t>Explication : </a:t>
            </a:r>
            <a:pPr indent="0" marL="0">
              <a:buNone/>
            </a:pPr>
            <a:r>
              <a:rPr lang="en-US" sz="1500" dirty="0">
                <a:solidFill>
                  <a:srgbClr val="1F2937"/>
                </a:solidFill>
                <a:latin typeface="Calibri" pitchFamily="34" charset="0"/>
                <a:ea typeface="Calibri" pitchFamily="34" charset="-122"/>
                <a:cs typeface="Calibri" pitchFamily="34" charset="-120"/>
              </a:rPr>
              <a:t>GROUP BY compte les missions par résultat : 100 missions réussies sur 101. Attention, il s'agit de la mission (mise en orbite), pas de l'atterrissage du premier étage.</a:t>
            </a:r>
            <a:endParaRPr lang="en-US" sz="15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rgbClr val="0B1D3A"/>
                </a:solidFill>
                <a:latin typeface="Arial" pitchFamily="34" charset="0"/>
                <a:ea typeface="Arial" pitchFamily="34" charset="-122"/>
                <a:cs typeface="Arial" pitchFamily="34" charset="-120"/>
              </a:rPr>
              <a:t>Boosters ayant porté la charge maximale</a:t>
            </a:r>
            <a:endParaRPr lang="en-US" sz="3000" dirty="0"/>
          </a:p>
        </p:txBody>
      </p:sp>
      <p:sp>
        <p:nvSpPr>
          <p:cNvPr id="3" name="Text 1"/>
          <p:cNvSpPr txBox="1"/>
          <p:nvPr/>
        </p:nvSpPr>
        <p:spPr>
          <a:xfrm>
            <a:off x="548640" y="1234440"/>
            <a:ext cx="5852160" cy="365760"/>
          </a:xfrm>
          <a:prstGeom prst="rect">
            <a:avLst/>
          </a:prstGeom>
          <a:noFill/>
          <a:ln/>
        </p:spPr>
        <p:txBody>
          <a:bodyPr wrap="square" lIns="0" tIns="0" rIns="0" bIns="0" rtlCol="0" anchor="ctr"/>
          <a:lstStyle/>
          <a:p>
            <a:pPr indent="0" marL="0">
              <a:buNone/>
            </a:pPr>
            <a:r>
              <a:rPr lang="en-US" sz="1400" b="1" dirty="0">
                <a:solidFill>
                  <a:srgbClr val="5B6472"/>
                </a:solidFill>
              </a:rPr>
              <a:t>Requête</a:t>
            </a:r>
            <a:endParaRPr lang="en-US" sz="1400" dirty="0"/>
          </a:p>
        </p:txBody>
      </p:sp>
      <p:sp>
        <p:nvSpPr>
          <p:cNvPr id="4" name="Shape 2"/>
          <p:cNvSpPr/>
          <p:nvPr/>
        </p:nvSpPr>
        <p:spPr>
          <a:xfrm>
            <a:off x="548640" y="1645920"/>
            <a:ext cx="5852160" cy="3017520"/>
          </a:xfrm>
          <a:prstGeom prst="roundRect">
            <a:avLst>
              <a:gd name="adj" fmla="val 2424"/>
            </a:avLst>
          </a:prstGeom>
          <a:solidFill>
            <a:srgbClr val="0B1D3A"/>
          </a:solidFill>
          <a:ln w="12700">
            <a:solidFill>
              <a:srgbClr val="0B1D3A"/>
            </a:solidFill>
            <a:prstDash val="solid"/>
          </a:ln>
        </p:spPr>
      </p:sp>
      <p:sp>
        <p:nvSpPr>
          <p:cNvPr id="5" name="Text 3"/>
          <p:cNvSpPr txBox="1"/>
          <p:nvPr/>
        </p:nvSpPr>
        <p:spPr>
          <a:xfrm>
            <a:off x="731520" y="1783080"/>
            <a:ext cx="5486400" cy="2743200"/>
          </a:xfrm>
          <a:prstGeom prst="rect">
            <a:avLst/>
          </a:prstGeom>
          <a:noFill/>
          <a:ln/>
        </p:spPr>
        <p:txBody>
          <a:bodyPr wrap="square" lIns="0" tIns="0" rIns="0" bIns="0" rtlCol="0" anchor="t"/>
          <a:lstStyle/>
          <a:p>
            <a:pPr indent="0" marL="0">
              <a:buNone/>
            </a:pPr>
            <a:r>
              <a:rPr lang="en-US" sz="1400" dirty="0">
                <a:solidFill>
                  <a:srgbClr val="FFFFFF"/>
                </a:solidFill>
                <a:latin typeface="Courier New" pitchFamily="34" charset="0"/>
                <a:ea typeface="Courier New" pitchFamily="34" charset="-122"/>
                <a:cs typeface="Courier New" pitchFamily="34" charset="-120"/>
              </a:rPr>
              <a:t>SELECT "Booster_Version"</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FROM SPACEXTBL</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WHERE "PAYLOAD_MASS__KG_" = (</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SELECT MAX("PAYLOAD_MASS__KG_")</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FROM SPACEXTBL</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a:t>
            </a:r>
            <a:endParaRPr lang="en-US" sz="1400" dirty="0"/>
          </a:p>
        </p:txBody>
      </p:sp>
      <p:sp>
        <p:nvSpPr>
          <p:cNvPr id="6" name="Text 4"/>
          <p:cNvSpPr txBox="1"/>
          <p:nvPr/>
        </p:nvSpPr>
        <p:spPr>
          <a:xfrm>
            <a:off x="6766560" y="1234440"/>
            <a:ext cx="4846320" cy="365760"/>
          </a:xfrm>
          <a:prstGeom prst="rect">
            <a:avLst/>
          </a:prstGeom>
          <a:noFill/>
          <a:ln/>
        </p:spPr>
        <p:txBody>
          <a:bodyPr wrap="square" lIns="0" tIns="0" rIns="0" bIns="0" rtlCol="0" anchor="ctr"/>
          <a:lstStyle/>
          <a:p>
            <a:pPr indent="0" marL="0">
              <a:buNone/>
            </a:pPr>
            <a:r>
              <a:rPr lang="en-US" sz="1400" b="1" dirty="0">
                <a:solidFill>
                  <a:srgbClr val="5B6472"/>
                </a:solidFill>
              </a:rPr>
              <a:t>Résultat</a:t>
            </a:r>
            <a:endParaRPr lang="en-US" sz="14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6766560" y="1645920"/>
          <a:ext cx="4846320" cy="914400"/>
        </p:xfrm>
        <a:graphic>
          <a:graphicData uri="http://schemas.openxmlformats.org/drawingml/2006/table">
            <a:tbl>
              <a:tblPr/>
              <a:tblGrid>
                <a:gridCol w="2423160"/>
                <a:gridCol w="2423160"/>
              </a:tblGrid>
              <a:tr h="32918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Booster</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3D5A8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Booster</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3D5A80"/>
                    </a:solidFill>
                  </a:tcPr>
                </a:tc>
              </a:tr>
              <a:tr h="329184">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F9 B5 B1048.4</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F9 B5 B1049.5</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r>
              <a:tr h="329184">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F9 B5 B1049.4</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F9 B5 B1060.2</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r>
              <a:tr h="329184">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F9 B5 B1051.3</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F9 B5 B1058.3</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r>
              <a:tr h="329184">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F9 B5 B1056.4</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F9 B5 B1051.6</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r>
              <a:tr h="329184">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F9 B5 B1048.5</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F9 B5 B1060.3</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r>
              <a:tr h="329184">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F9 B5 B1051.4</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F9 B5 B1049.7</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r>
            </a:tbl>
          </a:graphicData>
        </a:graphic>
      </p:graphicFrame>
      <p:sp>
        <p:nvSpPr>
          <p:cNvPr id="8" name="Shape 5"/>
          <p:cNvSpPr/>
          <p:nvPr/>
        </p:nvSpPr>
        <p:spPr>
          <a:xfrm>
            <a:off x="548640" y="4892040"/>
            <a:ext cx="11064240" cy="1188720"/>
          </a:xfrm>
          <a:prstGeom prst="roundRect">
            <a:avLst>
              <a:gd name="adj" fmla="val 6154"/>
            </a:avLst>
          </a:prstGeom>
          <a:solidFill>
            <a:srgbClr val="EEF2F7"/>
          </a:solidFill>
          <a:ln w="12700">
            <a:solidFill>
              <a:srgbClr val="EEF2F7"/>
            </a:solidFill>
            <a:prstDash val="solid"/>
          </a:ln>
        </p:spPr>
      </p:sp>
      <p:sp>
        <p:nvSpPr>
          <p:cNvPr id="9" name="Text 6"/>
          <p:cNvSpPr txBox="1"/>
          <p:nvPr/>
        </p:nvSpPr>
        <p:spPr>
          <a:xfrm>
            <a:off x="777240" y="4983480"/>
            <a:ext cx="10607040" cy="1005840"/>
          </a:xfrm>
          <a:prstGeom prst="rect">
            <a:avLst/>
          </a:prstGeom>
          <a:noFill/>
          <a:ln/>
        </p:spPr>
        <p:txBody>
          <a:bodyPr wrap="square" lIns="0" tIns="0" rIns="0" bIns="0" rtlCol="0" anchor="ctr"/>
          <a:lstStyle/>
          <a:p>
            <a:pPr indent="0" marL="0">
              <a:buNone/>
            </a:pPr>
            <a:r>
              <a:rPr lang="en-US" sz="1500" b="1" dirty="0">
                <a:solidFill>
                  <a:srgbClr val="0B1D3A"/>
                </a:solidFill>
                <a:latin typeface="Calibri" pitchFamily="34" charset="0"/>
                <a:ea typeface="Calibri" pitchFamily="34" charset="-122"/>
                <a:cs typeface="Calibri" pitchFamily="34" charset="-120"/>
              </a:rPr>
              <a:t>Explication : </a:t>
            </a:r>
            <a:pPr indent="0" marL="0">
              <a:buNone/>
            </a:pPr>
            <a:r>
              <a:rPr lang="en-US" sz="1500" dirty="0">
                <a:solidFill>
                  <a:srgbClr val="1F2937"/>
                </a:solidFill>
                <a:latin typeface="Calibri" pitchFamily="34" charset="0"/>
                <a:ea typeface="Calibri" pitchFamily="34" charset="-122"/>
                <a:cs typeface="Calibri" pitchFamily="34" charset="-120"/>
              </a:rPr>
              <a:t>La sous-requête trouve la masse maximale, puis la requête principale liste les boosters qui l'ont portée. Les 12 sont des Block 5, la version la plus récente.</a:t>
            </a:r>
            <a:endParaRPr lang="en-US" sz="15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rgbClr val="0B1D3A"/>
                </a:solidFill>
                <a:latin typeface="Arial" pitchFamily="34" charset="0"/>
                <a:ea typeface="Arial" pitchFamily="34" charset="-122"/>
                <a:cs typeface="Arial" pitchFamily="34" charset="-120"/>
              </a:rPr>
              <a:t>Échecs sur barge en 2015</a:t>
            </a:r>
            <a:endParaRPr lang="en-US" sz="3000" dirty="0"/>
          </a:p>
        </p:txBody>
      </p:sp>
      <p:sp>
        <p:nvSpPr>
          <p:cNvPr id="3" name="Text 1"/>
          <p:cNvSpPr txBox="1"/>
          <p:nvPr/>
        </p:nvSpPr>
        <p:spPr>
          <a:xfrm>
            <a:off x="548640" y="1234440"/>
            <a:ext cx="5852160" cy="365760"/>
          </a:xfrm>
          <a:prstGeom prst="rect">
            <a:avLst/>
          </a:prstGeom>
          <a:noFill/>
          <a:ln/>
        </p:spPr>
        <p:txBody>
          <a:bodyPr wrap="square" lIns="0" tIns="0" rIns="0" bIns="0" rtlCol="0" anchor="ctr"/>
          <a:lstStyle/>
          <a:p>
            <a:pPr indent="0" marL="0">
              <a:buNone/>
            </a:pPr>
            <a:r>
              <a:rPr lang="en-US" sz="1400" b="1" dirty="0">
                <a:solidFill>
                  <a:srgbClr val="5B6472"/>
                </a:solidFill>
              </a:rPr>
              <a:t>Requête</a:t>
            </a:r>
            <a:endParaRPr lang="en-US" sz="1400" dirty="0"/>
          </a:p>
        </p:txBody>
      </p:sp>
      <p:sp>
        <p:nvSpPr>
          <p:cNvPr id="4" name="Shape 2"/>
          <p:cNvSpPr/>
          <p:nvPr/>
        </p:nvSpPr>
        <p:spPr>
          <a:xfrm>
            <a:off x="548640" y="1645920"/>
            <a:ext cx="5852160" cy="3017520"/>
          </a:xfrm>
          <a:prstGeom prst="roundRect">
            <a:avLst>
              <a:gd name="adj" fmla="val 2424"/>
            </a:avLst>
          </a:prstGeom>
          <a:solidFill>
            <a:srgbClr val="0B1D3A"/>
          </a:solidFill>
          <a:ln w="12700">
            <a:solidFill>
              <a:srgbClr val="0B1D3A"/>
            </a:solidFill>
            <a:prstDash val="solid"/>
          </a:ln>
        </p:spPr>
      </p:sp>
      <p:sp>
        <p:nvSpPr>
          <p:cNvPr id="5" name="Text 3"/>
          <p:cNvSpPr txBox="1"/>
          <p:nvPr/>
        </p:nvSpPr>
        <p:spPr>
          <a:xfrm>
            <a:off x="731520" y="1783080"/>
            <a:ext cx="5486400" cy="2743200"/>
          </a:xfrm>
          <a:prstGeom prst="rect">
            <a:avLst/>
          </a:prstGeom>
          <a:noFill/>
          <a:ln/>
        </p:spPr>
        <p:txBody>
          <a:bodyPr wrap="square" lIns="0" tIns="0" rIns="0" bIns="0" rtlCol="0" anchor="t"/>
          <a:lstStyle/>
          <a:p>
            <a:pPr indent="0" marL="0">
              <a:buNone/>
            </a:pPr>
            <a:r>
              <a:rPr lang="en-US" sz="1400" dirty="0">
                <a:solidFill>
                  <a:srgbClr val="FFFFFF"/>
                </a:solidFill>
                <a:latin typeface="Courier New" pitchFamily="34" charset="0"/>
                <a:ea typeface="Courier New" pitchFamily="34" charset="-122"/>
                <a:cs typeface="Courier New" pitchFamily="34" charset="-120"/>
              </a:rPr>
              <a:t>SELECT substr(Date, 6, 2) AS month,</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"Landing_Outcome",</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"Booster_Version", "Launch_Site"</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FROM SPACEXTBL</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WHERE substr(Date, 0, 5) = '2015'</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AND "Landing_Outcome" =</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'Failure (drone ship)';</a:t>
            </a:r>
            <a:endParaRPr lang="en-US" sz="1400" dirty="0"/>
          </a:p>
        </p:txBody>
      </p:sp>
      <p:sp>
        <p:nvSpPr>
          <p:cNvPr id="6" name="Text 4"/>
          <p:cNvSpPr txBox="1"/>
          <p:nvPr/>
        </p:nvSpPr>
        <p:spPr>
          <a:xfrm>
            <a:off x="6766560" y="1234440"/>
            <a:ext cx="4846320" cy="365760"/>
          </a:xfrm>
          <a:prstGeom prst="rect">
            <a:avLst/>
          </a:prstGeom>
          <a:noFill/>
          <a:ln/>
        </p:spPr>
        <p:txBody>
          <a:bodyPr wrap="square" lIns="0" tIns="0" rIns="0" bIns="0" rtlCol="0" anchor="ctr"/>
          <a:lstStyle/>
          <a:p>
            <a:pPr indent="0" marL="0">
              <a:buNone/>
            </a:pPr>
            <a:r>
              <a:rPr lang="en-US" sz="1400" b="1" dirty="0">
                <a:solidFill>
                  <a:srgbClr val="5B6472"/>
                </a:solidFill>
              </a:rPr>
              <a:t>Résultat</a:t>
            </a:r>
            <a:endParaRPr lang="en-US" sz="14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6766560" y="1645920"/>
          <a:ext cx="4846320" cy="914400"/>
        </p:xfrm>
        <a:graphic>
          <a:graphicData uri="http://schemas.openxmlformats.org/drawingml/2006/table">
            <a:tbl>
              <a:tblPr/>
              <a:tblGrid>
                <a:gridCol w="1615440"/>
                <a:gridCol w="1615440"/>
                <a:gridCol w="1615440"/>
              </a:tblGrid>
              <a:tr h="329184">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Mois</a:t>
                      </a:r>
                      <a:endParaRPr lang="en-US" sz="14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3D5A80"/>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Booster</a:t>
                      </a:r>
                      <a:endParaRPr lang="en-US" sz="14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3D5A80"/>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Site</a:t>
                      </a:r>
                      <a:endParaRPr lang="en-US" sz="14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3D5A80"/>
                    </a:solidFill>
                  </a:tcPr>
                </a:tc>
              </a:tr>
              <a:tr h="329184">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01 (janvier)</a:t>
                      </a:r>
                      <a:endParaRPr lang="en-US" sz="14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F9 v1.1 B1012</a:t>
                      </a:r>
                      <a:endParaRPr lang="en-US" sz="14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CCAFS LC-40</a:t>
                      </a:r>
                      <a:endParaRPr lang="en-US" sz="14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r>
              <a:tr h="329184">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04 (avril)</a:t>
                      </a:r>
                      <a:endParaRPr lang="en-US" sz="14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F9 v1.1 B1015</a:t>
                      </a:r>
                      <a:endParaRPr lang="en-US" sz="14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CCAFS LC-40</a:t>
                      </a:r>
                      <a:endParaRPr lang="en-US" sz="14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r>
            </a:tbl>
          </a:graphicData>
        </a:graphic>
      </p:graphicFrame>
      <p:sp>
        <p:nvSpPr>
          <p:cNvPr id="8" name="Shape 5"/>
          <p:cNvSpPr/>
          <p:nvPr/>
        </p:nvSpPr>
        <p:spPr>
          <a:xfrm>
            <a:off x="548640" y="4892040"/>
            <a:ext cx="11064240" cy="1188720"/>
          </a:xfrm>
          <a:prstGeom prst="roundRect">
            <a:avLst>
              <a:gd name="adj" fmla="val 6154"/>
            </a:avLst>
          </a:prstGeom>
          <a:solidFill>
            <a:srgbClr val="EEF2F7"/>
          </a:solidFill>
          <a:ln w="12700">
            <a:solidFill>
              <a:srgbClr val="EEF2F7"/>
            </a:solidFill>
            <a:prstDash val="solid"/>
          </a:ln>
        </p:spPr>
      </p:sp>
      <p:sp>
        <p:nvSpPr>
          <p:cNvPr id="9" name="Text 6"/>
          <p:cNvSpPr txBox="1"/>
          <p:nvPr/>
        </p:nvSpPr>
        <p:spPr>
          <a:xfrm>
            <a:off x="777240" y="4983480"/>
            <a:ext cx="10607040" cy="1005840"/>
          </a:xfrm>
          <a:prstGeom prst="rect">
            <a:avLst/>
          </a:prstGeom>
          <a:noFill/>
          <a:ln/>
        </p:spPr>
        <p:txBody>
          <a:bodyPr wrap="square" lIns="0" tIns="0" rIns="0" bIns="0" rtlCol="0" anchor="ctr"/>
          <a:lstStyle/>
          <a:p>
            <a:pPr indent="0" marL="0">
              <a:buNone/>
            </a:pPr>
            <a:r>
              <a:rPr lang="en-US" sz="1500" b="1" dirty="0">
                <a:solidFill>
                  <a:srgbClr val="0B1D3A"/>
                </a:solidFill>
                <a:latin typeface="Calibri" pitchFamily="34" charset="0"/>
                <a:ea typeface="Calibri" pitchFamily="34" charset="-122"/>
                <a:cs typeface="Calibri" pitchFamily="34" charset="-120"/>
              </a:rPr>
              <a:t>Explication : </a:t>
            </a:r>
            <a:pPr indent="0" marL="0">
              <a:buNone/>
            </a:pPr>
            <a:r>
              <a:rPr lang="en-US" sz="1500" dirty="0">
                <a:solidFill>
                  <a:srgbClr val="1F2937"/>
                </a:solidFill>
                <a:latin typeface="Calibri" pitchFamily="34" charset="0"/>
                <a:ea typeface="Calibri" pitchFamily="34" charset="-122"/>
                <a:cs typeface="Calibri" pitchFamily="34" charset="-120"/>
              </a:rPr>
              <a:t>SQLite n'a pas de fonction pour le nom du mois, on utilise substr() pour extraire le mois et l'année. En 2015, deux tentatives sur barge ont échoué, toutes deux avec des F9 v1.1.</a:t>
            </a:r>
            <a:endParaRPr lang="en-US" sz="15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rgbClr val="0B1D3A"/>
                </a:solidFill>
                <a:latin typeface="Arial" pitchFamily="34" charset="0"/>
                <a:ea typeface="Arial" pitchFamily="34" charset="-122"/>
                <a:cs typeface="Arial" pitchFamily="34" charset="-120"/>
              </a:rPr>
              <a:t>Classement des résultats d'atterrissage (2010-2017)</a:t>
            </a:r>
            <a:endParaRPr lang="en-US" sz="3000" dirty="0"/>
          </a:p>
        </p:txBody>
      </p:sp>
      <p:sp>
        <p:nvSpPr>
          <p:cNvPr id="3" name="Text 1"/>
          <p:cNvSpPr txBox="1"/>
          <p:nvPr/>
        </p:nvSpPr>
        <p:spPr>
          <a:xfrm>
            <a:off x="548640" y="1234440"/>
            <a:ext cx="5852160" cy="365760"/>
          </a:xfrm>
          <a:prstGeom prst="rect">
            <a:avLst/>
          </a:prstGeom>
          <a:noFill/>
          <a:ln/>
        </p:spPr>
        <p:txBody>
          <a:bodyPr wrap="square" lIns="0" tIns="0" rIns="0" bIns="0" rtlCol="0" anchor="ctr"/>
          <a:lstStyle/>
          <a:p>
            <a:pPr indent="0" marL="0">
              <a:buNone/>
            </a:pPr>
            <a:r>
              <a:rPr lang="en-US" sz="1400" b="1" dirty="0">
                <a:solidFill>
                  <a:srgbClr val="5B6472"/>
                </a:solidFill>
              </a:rPr>
              <a:t>Requête</a:t>
            </a:r>
            <a:endParaRPr lang="en-US" sz="1400" dirty="0"/>
          </a:p>
        </p:txBody>
      </p:sp>
      <p:sp>
        <p:nvSpPr>
          <p:cNvPr id="4" name="Shape 2"/>
          <p:cNvSpPr/>
          <p:nvPr/>
        </p:nvSpPr>
        <p:spPr>
          <a:xfrm>
            <a:off x="548640" y="1645920"/>
            <a:ext cx="5852160" cy="3017520"/>
          </a:xfrm>
          <a:prstGeom prst="roundRect">
            <a:avLst>
              <a:gd name="adj" fmla="val 2424"/>
            </a:avLst>
          </a:prstGeom>
          <a:solidFill>
            <a:srgbClr val="0B1D3A"/>
          </a:solidFill>
          <a:ln w="12700">
            <a:solidFill>
              <a:srgbClr val="0B1D3A"/>
            </a:solidFill>
            <a:prstDash val="solid"/>
          </a:ln>
        </p:spPr>
      </p:sp>
      <p:sp>
        <p:nvSpPr>
          <p:cNvPr id="5" name="Text 3"/>
          <p:cNvSpPr txBox="1"/>
          <p:nvPr/>
        </p:nvSpPr>
        <p:spPr>
          <a:xfrm>
            <a:off x="731520" y="1783080"/>
            <a:ext cx="5486400" cy="2743200"/>
          </a:xfrm>
          <a:prstGeom prst="rect">
            <a:avLst/>
          </a:prstGeom>
          <a:noFill/>
          <a:ln/>
        </p:spPr>
        <p:txBody>
          <a:bodyPr wrap="square" lIns="0" tIns="0" rIns="0" bIns="0" rtlCol="0" anchor="t"/>
          <a:lstStyle/>
          <a:p>
            <a:pPr indent="0" marL="0">
              <a:buNone/>
            </a:pPr>
            <a:r>
              <a:rPr lang="en-US" sz="1400" dirty="0">
                <a:solidFill>
                  <a:srgbClr val="FFFFFF"/>
                </a:solidFill>
                <a:latin typeface="Courier New" pitchFamily="34" charset="0"/>
                <a:ea typeface="Courier New" pitchFamily="34" charset="-122"/>
                <a:cs typeface="Courier New" pitchFamily="34" charset="-120"/>
              </a:rPr>
              <a:t>SELECT "Landing_Outcome",</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COUNT(*) AS outcome_count</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FROM SPACEXTBL</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WHERE Date BETWEEN '2010-06-04'</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AND '2017-03-20'</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GROUP BY "Landing_Outcome"</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ORDER BY outcome_count DESC;</a:t>
            </a:r>
            <a:endParaRPr lang="en-US" sz="1400" dirty="0"/>
          </a:p>
        </p:txBody>
      </p:sp>
      <p:sp>
        <p:nvSpPr>
          <p:cNvPr id="6" name="Text 4"/>
          <p:cNvSpPr txBox="1"/>
          <p:nvPr/>
        </p:nvSpPr>
        <p:spPr>
          <a:xfrm>
            <a:off x="6766560" y="1234440"/>
            <a:ext cx="4846320" cy="365760"/>
          </a:xfrm>
          <a:prstGeom prst="rect">
            <a:avLst/>
          </a:prstGeom>
          <a:noFill/>
          <a:ln/>
        </p:spPr>
        <p:txBody>
          <a:bodyPr wrap="square" lIns="0" tIns="0" rIns="0" bIns="0" rtlCol="0" anchor="ctr"/>
          <a:lstStyle/>
          <a:p>
            <a:pPr indent="0" marL="0">
              <a:buNone/>
            </a:pPr>
            <a:r>
              <a:rPr lang="en-US" sz="1400" b="1" dirty="0">
                <a:solidFill>
                  <a:srgbClr val="5B6472"/>
                </a:solidFill>
              </a:rPr>
              <a:t>Résultat</a:t>
            </a:r>
            <a:endParaRPr lang="en-US" sz="14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6766560" y="1645920"/>
          <a:ext cx="4846320" cy="914400"/>
        </p:xfrm>
        <a:graphic>
          <a:graphicData uri="http://schemas.openxmlformats.org/drawingml/2006/table">
            <a:tbl>
              <a:tblPr/>
              <a:tblGrid>
                <a:gridCol w="2423160"/>
                <a:gridCol w="2423160"/>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Landing_Outcome</a:t>
                      </a:r>
                      <a:endParaRPr lang="en-US" sz="12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3D5A8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Nombre</a:t>
                      </a:r>
                      <a:endParaRPr lang="en-US" sz="12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3D5A80"/>
                    </a:solidFill>
                  </a:tcPr>
                </a:tc>
              </a:tr>
              <a:tr h="329184">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No attempt</a:t>
                      </a:r>
                      <a:endParaRPr lang="en-US" sz="12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r>
              <a:tr h="329184">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Success (drone ship)</a:t>
                      </a:r>
                      <a:endParaRPr lang="en-US" sz="12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Failure (drone ship)</a:t>
                      </a:r>
                      <a:endParaRPr lang="en-US" sz="12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r>
              <a:tr h="329184">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Success (ground pad)</a:t>
                      </a:r>
                      <a:endParaRPr lang="en-US" sz="12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Controlled (ocean)</a:t>
                      </a:r>
                      <a:endParaRPr lang="en-US" sz="12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r>
              <a:tr h="329184">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Uncontrolled (ocean)</a:t>
                      </a:r>
                      <a:endParaRPr lang="en-US" sz="12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Failure (parachute)</a:t>
                      </a:r>
                      <a:endParaRPr lang="en-US" sz="12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r>
              <a:tr h="329184">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Precluded (drone ship)</a:t>
                      </a:r>
                      <a:endParaRPr lang="en-US" sz="12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r>
            </a:tbl>
          </a:graphicData>
        </a:graphic>
      </p:graphicFrame>
      <p:sp>
        <p:nvSpPr>
          <p:cNvPr id="8" name="Shape 5"/>
          <p:cNvSpPr/>
          <p:nvPr/>
        </p:nvSpPr>
        <p:spPr>
          <a:xfrm>
            <a:off x="548640" y="4892040"/>
            <a:ext cx="11064240" cy="1188720"/>
          </a:xfrm>
          <a:prstGeom prst="roundRect">
            <a:avLst>
              <a:gd name="adj" fmla="val 6154"/>
            </a:avLst>
          </a:prstGeom>
          <a:solidFill>
            <a:srgbClr val="EEF2F7"/>
          </a:solidFill>
          <a:ln w="12700">
            <a:solidFill>
              <a:srgbClr val="EEF2F7"/>
            </a:solidFill>
            <a:prstDash val="solid"/>
          </a:ln>
        </p:spPr>
      </p:sp>
      <p:sp>
        <p:nvSpPr>
          <p:cNvPr id="9" name="Text 6"/>
          <p:cNvSpPr txBox="1"/>
          <p:nvPr/>
        </p:nvSpPr>
        <p:spPr>
          <a:xfrm>
            <a:off x="777240" y="4983480"/>
            <a:ext cx="10607040" cy="1005840"/>
          </a:xfrm>
          <a:prstGeom prst="rect">
            <a:avLst/>
          </a:prstGeom>
          <a:noFill/>
          <a:ln/>
        </p:spPr>
        <p:txBody>
          <a:bodyPr wrap="square" lIns="0" tIns="0" rIns="0" bIns="0" rtlCol="0" anchor="ctr"/>
          <a:lstStyle/>
          <a:p>
            <a:pPr indent="0" marL="0">
              <a:buNone/>
            </a:pPr>
            <a:r>
              <a:rPr lang="en-US" sz="1500" b="1" dirty="0">
                <a:solidFill>
                  <a:srgbClr val="0B1D3A"/>
                </a:solidFill>
                <a:latin typeface="Calibri" pitchFamily="34" charset="0"/>
                <a:ea typeface="Calibri" pitchFamily="34" charset="-122"/>
                <a:cs typeface="Calibri" pitchFamily="34" charset="-120"/>
              </a:rPr>
              <a:t>Explication : </a:t>
            </a:r>
            <a:pPr indent="0" marL="0">
              <a:buNone/>
            </a:pPr>
            <a:r>
              <a:rPr lang="en-US" sz="1500" dirty="0">
                <a:solidFill>
                  <a:srgbClr val="1F2937"/>
                </a:solidFill>
                <a:latin typeface="Calibri" pitchFamily="34" charset="0"/>
                <a:ea typeface="Calibri" pitchFamily="34" charset="-122"/>
                <a:cs typeface="Calibri" pitchFamily="34" charset="-120"/>
              </a:rPr>
              <a:t>Sur cette période, l'absence de tentative est le cas le plus fréquent. Les atterrissages sur barge sont aussi souvent réussis qu'échoués (5 contre 5).</a:t>
            </a:r>
            <a:endParaRPr lang="en-US" sz="15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731520" y="2103120"/>
            <a:ext cx="8229600" cy="548640"/>
          </a:xfrm>
          <a:prstGeom prst="rect">
            <a:avLst/>
          </a:prstGeom>
          <a:noFill/>
          <a:ln/>
        </p:spPr>
        <p:txBody>
          <a:bodyPr wrap="square" rtlCol="0" anchor="b"/>
          <a:lstStyle/>
          <a:p>
            <a:pPr algn="l" indent="0" marL="0">
              <a:buNone/>
            </a:pPr>
            <a:r>
              <a:rPr lang="en-US" sz="1800" b="1" dirty="0">
                <a:solidFill>
                  <a:srgbClr val="E8590C"/>
                </a:solidFill>
              </a:rPr>
              <a:t>Section 3</a:t>
            </a:r>
            <a:endParaRPr lang="en-US" sz="1800" dirty="0"/>
          </a:p>
        </p:txBody>
      </p:sp>
      <p:sp>
        <p:nvSpPr>
          <p:cNvPr id="3" name="Text 0"/>
          <p:cNvSpPr/>
          <p:nvPr>
            <p:ph idx="101" type="title" hasCustomPrompt="1"/>
          </p:nvPr>
        </p:nvSpPr>
        <p:spPr>
          <a:xfrm>
            <a:off x="731520" y="2697480"/>
            <a:ext cx="10698480" cy="1280160"/>
          </a:xfrm>
          <a:prstGeom prst="rect">
            <a:avLst/>
          </a:prstGeom>
          <a:noFill/>
          <a:ln/>
        </p:spPr>
        <p:txBody>
          <a:bodyPr wrap="square" rtlCol="0" anchor="t"/>
          <a:lstStyle/>
          <a:p>
            <a:pPr algn="l" indent="0" marL="0">
              <a:buNone/>
            </a:pPr>
            <a:r>
              <a:rPr lang="en-US" sz="4000" b="1" dirty="0">
                <a:solidFill>
                  <a:srgbClr val="FFFFFF"/>
                </a:solidFill>
                <a:latin typeface="Arial" pitchFamily="34" charset="0"/>
                <a:ea typeface="Arial" pitchFamily="34" charset="-122"/>
                <a:cs typeface="Arial" pitchFamily="34" charset="-120"/>
              </a:rPr>
              <a:t>Analyse de proximité des sites de lancement</a:t>
            </a:r>
            <a:endParaRPr lang="en-US" sz="4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rgbClr val="0B1D3A"/>
                </a:solidFill>
                <a:latin typeface="Arial" pitchFamily="34" charset="0"/>
                <a:ea typeface="Arial" pitchFamily="34" charset="-122"/>
                <a:cs typeface="Arial" pitchFamily="34" charset="-120"/>
              </a:rPr>
              <a:t>Carte de tous les sites de lancement</a:t>
            </a:r>
            <a:endParaRPr lang="en-US" sz="3000" dirty="0"/>
          </a:p>
        </p:txBody>
      </p:sp>
      <p:pic>
        <p:nvPicPr>
          <p:cNvPr id="3" name="Image 0" descr="C:/Users/enangue/Desktop/SpaceX-Capstone/images/folium_sites.png">    </p:cNvPr>
          <p:cNvPicPr>
            <a:picLocks noChangeAspect="1"/>
          </p:cNvPicPr>
          <p:nvPr/>
        </p:nvPicPr>
        <p:blipFill>
          <a:blip r:embed="rId1"/>
          <a:stretch>
            <a:fillRect/>
          </a:stretch>
        </p:blipFill>
        <p:spPr>
          <a:xfrm>
            <a:off x="548640" y="1244237"/>
            <a:ext cx="6766560" cy="3866606"/>
          </a:xfrm>
          <a:prstGeom prst="rect">
            <a:avLst/>
          </a:prstGeom>
        </p:spPr>
      </p:pic>
      <p:pic>
        <p:nvPicPr>
          <p:cNvPr id="4" name="Image 1" descr="C:/Users/enangue/Desktop/SpaceX-Capstone/images/folium_sites_florida.png">    </p:cNvPr>
          <p:cNvPicPr>
            <a:picLocks noChangeAspect="1"/>
          </p:cNvPicPr>
          <p:nvPr/>
        </p:nvPicPr>
        <p:blipFill>
          <a:blip r:embed="rId2"/>
          <a:stretch>
            <a:fillRect/>
          </a:stretch>
        </p:blipFill>
        <p:spPr>
          <a:xfrm>
            <a:off x="7600950" y="1234440"/>
            <a:ext cx="4000500" cy="2286000"/>
          </a:xfrm>
          <a:prstGeom prst="rect">
            <a:avLst/>
          </a:prstGeom>
        </p:spPr>
      </p:pic>
      <p:sp>
        <p:nvSpPr>
          <p:cNvPr id="5" name="Text 1"/>
          <p:cNvSpPr txBox="1"/>
          <p:nvPr/>
        </p:nvSpPr>
        <p:spPr>
          <a:xfrm>
            <a:off x="7589520" y="3566160"/>
            <a:ext cx="4023360" cy="32004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Zoom sur les 3 sites de Floride</a:t>
            </a:r>
            <a:endParaRPr lang="en-US" sz="1200" dirty="0"/>
          </a:p>
        </p:txBody>
      </p:sp>
      <p:sp>
        <p:nvSpPr>
          <p:cNvPr id="6" name="Text 2"/>
          <p:cNvSpPr txBox="1"/>
          <p:nvPr/>
        </p:nvSpPr>
        <p:spPr>
          <a:xfrm>
            <a:off x="548640" y="5166360"/>
            <a:ext cx="6766560" cy="32004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Vue d'ensemble des 4 sites de lancement</a:t>
            </a:r>
            <a:endParaRPr lang="en-US" sz="1200" dirty="0"/>
          </a:p>
        </p:txBody>
      </p:sp>
      <p:sp>
        <p:nvSpPr>
          <p:cNvPr id="7" name="Text 3"/>
          <p:cNvSpPr txBox="1"/>
          <p:nvPr/>
        </p:nvSpPr>
        <p:spPr>
          <a:xfrm>
            <a:off x="7589520" y="3977640"/>
            <a:ext cx="4023360" cy="2194560"/>
          </a:xfrm>
          <a:prstGeom prst="rect">
            <a:avLst/>
          </a:prstGeom>
          <a:noFill/>
          <a:ln/>
        </p:spPr>
        <p:txBody>
          <a:bodyPr wrap="square" lIns="50800" tIns="50800" rIns="50800" bIns="50800" rtlCol="0" anchor="t"/>
          <a:lstStyle/>
          <a:p>
            <a:pPr marL="228600" indent="-2286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4 sites : 3 en Floride et 1 en Californie (VAFB SLC-4E)</a:t>
            </a:r>
            <a:endParaRPr lang="en-US" sz="1400" dirty="0"/>
          </a:p>
          <a:p>
            <a:pPr marL="228600" indent="-2286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Tous en bord de mer : les étages et débris retombent dans l'océan</a:t>
            </a:r>
            <a:endParaRPr lang="en-US" sz="1400" dirty="0"/>
          </a:p>
          <a:p>
            <a:pPr marL="228600" indent="-2286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La Floride, proche de l'équateur, profite de la rotation terrestre</a:t>
            </a:r>
            <a:endParaRPr lang="en-US" sz="14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rgbClr val="0B1D3A"/>
                </a:solidFill>
                <a:latin typeface="Arial" pitchFamily="34" charset="0"/>
                <a:ea typeface="Arial" pitchFamily="34" charset="-122"/>
                <a:cs typeface="Arial" pitchFamily="34" charset="-120"/>
              </a:rPr>
              <a:t>Succès et échecs par site sur la carte</a:t>
            </a:r>
            <a:endParaRPr lang="en-US" sz="3000" dirty="0"/>
          </a:p>
        </p:txBody>
      </p:sp>
      <p:pic>
        <p:nvPicPr>
          <p:cNvPr id="3" name="Image 0" descr="C:/Users/enangue/Desktop/SpaceX-Capstone/images/folium_outcomes_ksc.png">    </p:cNvPr>
          <p:cNvPicPr>
            <a:picLocks noChangeAspect="1"/>
          </p:cNvPicPr>
          <p:nvPr/>
        </p:nvPicPr>
        <p:blipFill>
          <a:blip r:embed="rId1"/>
          <a:stretch>
            <a:fillRect/>
          </a:stretch>
        </p:blipFill>
        <p:spPr>
          <a:xfrm>
            <a:off x="548640" y="1244237"/>
            <a:ext cx="6766560" cy="3866606"/>
          </a:xfrm>
          <a:prstGeom prst="rect">
            <a:avLst/>
          </a:prstGeom>
        </p:spPr>
      </p:pic>
      <p:sp>
        <p:nvSpPr>
          <p:cNvPr id="4" name="Text 1"/>
          <p:cNvSpPr txBox="1"/>
          <p:nvPr/>
        </p:nvSpPr>
        <p:spPr>
          <a:xfrm>
            <a:off x="548640" y="5166360"/>
            <a:ext cx="6766560" cy="32004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KSC LC-39A : cluster ouvert (vert = succès, rouge = échec)</a:t>
            </a:r>
            <a:endParaRPr lang="en-US" sz="12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7589520" y="1325880"/>
          <a:ext cx="4023360" cy="914400"/>
        </p:xfrm>
        <a:graphic>
          <a:graphicData uri="http://schemas.openxmlformats.org/drawingml/2006/table">
            <a:tbl>
              <a:tblPr/>
              <a:tblGrid>
                <a:gridCol w="1463040"/>
                <a:gridCol w="1005840"/>
                <a:gridCol w="731520"/>
                <a:gridCol w="82296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Site</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3D5A8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Lancements</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3D5A8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Succès</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3D5A8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Taux</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3D5A80"/>
                    </a:solidFill>
                  </a:tcPr>
                </a:tc>
              </a:tr>
              <a:tr h="384048">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KSC LC-39A</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13</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76,9 %</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r>
              <a:tr h="384048">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CCAFS SLC-40</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42,9 %</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VAFB SLC-4E</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40,0 %</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r>
              <a:tr h="384048">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CCAFS LC-40</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26</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26,9 %</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7589520" y="3474720"/>
            <a:ext cx="4023360" cy="1828800"/>
          </a:xfrm>
          <a:prstGeom prst="rect">
            <a:avLst/>
          </a:prstGeom>
          <a:noFill/>
          <a:ln/>
        </p:spPr>
        <p:txBody>
          <a:bodyPr wrap="square" rtlCol="0" anchor="t"/>
          <a:lstStyle/>
          <a:p>
            <a:pPr indent="0" marL="0">
              <a:buNone/>
            </a:pPr>
            <a:r>
              <a:rPr lang="en-US" sz="1500" dirty="0">
                <a:solidFill>
                  <a:srgbClr val="1F2937"/>
                </a:solidFill>
                <a:latin typeface="Calibri" pitchFamily="34" charset="0"/>
                <a:ea typeface="Calibri" pitchFamily="34" charset="-122"/>
                <a:cs typeface="Calibri" pitchFamily="34" charset="-120"/>
              </a:rPr>
              <a:t>Les marqueurs colorés montrent en un coup d'œil que KSC LC-39A réussit le plus souvent : 10 marqueurs verts sur 13.</a:t>
            </a:r>
            <a:endParaRPr lang="en-US" sz="15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rgbClr val="0B1D3A"/>
                </a:solidFill>
                <a:latin typeface="Arial" pitchFamily="34" charset="0"/>
                <a:ea typeface="Arial" pitchFamily="34" charset="-122"/>
                <a:cs typeface="Arial" pitchFamily="34" charset="-120"/>
              </a:rPr>
              <a:t>Proximité de CCAFS SLC-40 avec son environnement</a:t>
            </a:r>
            <a:endParaRPr lang="en-US" sz="3000" dirty="0"/>
          </a:p>
        </p:txBody>
      </p:sp>
      <p:pic>
        <p:nvPicPr>
          <p:cNvPr id="3" name="Image 0" descr="C:/Users/enangue/Desktop/SpaceX-Capstone/images/folium_proximity.png">    </p:cNvPr>
          <p:cNvPicPr>
            <a:picLocks noChangeAspect="1"/>
          </p:cNvPicPr>
          <p:nvPr/>
        </p:nvPicPr>
        <p:blipFill>
          <a:blip r:embed="rId1"/>
          <a:stretch>
            <a:fillRect/>
          </a:stretch>
        </p:blipFill>
        <p:spPr>
          <a:xfrm>
            <a:off x="548640" y="1244237"/>
            <a:ext cx="6766560" cy="3866606"/>
          </a:xfrm>
          <a:prstGeom prst="rect">
            <a:avLst/>
          </a:prstGeom>
        </p:spPr>
      </p:pic>
      <p:sp>
        <p:nvSpPr>
          <p:cNvPr id="4" name="Text 1"/>
          <p:cNvSpPr txBox="1"/>
          <p:nvPr/>
        </p:nvSpPr>
        <p:spPr>
          <a:xfrm>
            <a:off x="548640" y="5166360"/>
            <a:ext cx="6766560" cy="32004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Lignes tracées avec PolyLine et distances calculées avec la formule de Haversine</a:t>
            </a:r>
            <a:endParaRPr lang="en-US" sz="1200" dirty="0"/>
          </a:p>
        </p:txBody>
      </p:sp>
      <p:sp>
        <p:nvSpPr>
          <p:cNvPr id="5" name="Shape 2"/>
          <p:cNvSpPr/>
          <p:nvPr/>
        </p:nvSpPr>
        <p:spPr>
          <a:xfrm>
            <a:off x="7589520" y="1325880"/>
            <a:ext cx="4023360" cy="4480560"/>
          </a:xfrm>
          <a:prstGeom prst="roundRect">
            <a:avLst>
              <a:gd name="adj" fmla="val 1818"/>
            </a:avLst>
          </a:prstGeom>
          <a:solidFill>
            <a:srgbClr val="EEF2F7"/>
          </a:solidFill>
          <a:ln w="12700">
            <a:solidFill>
              <a:srgbClr val="EEF2F7"/>
            </a:solidFill>
            <a:prstDash val="solid"/>
          </a:ln>
        </p:spPr>
      </p:sp>
      <p:sp>
        <p:nvSpPr>
          <p:cNvPr id="6" name="Text 3"/>
          <p:cNvSpPr txBox="1"/>
          <p:nvPr/>
        </p:nvSpPr>
        <p:spPr>
          <a:xfrm>
            <a:off x="7863840" y="1371600"/>
            <a:ext cx="1737360" cy="731520"/>
          </a:xfrm>
          <a:prstGeom prst="rect">
            <a:avLst/>
          </a:prstGeom>
          <a:noFill/>
          <a:ln/>
        </p:spPr>
        <p:txBody>
          <a:bodyPr wrap="square" lIns="0" tIns="0" rIns="0" bIns="0" rtlCol="0" anchor="b"/>
          <a:lstStyle/>
          <a:p>
            <a:pPr indent="0" marL="0">
              <a:buNone/>
            </a:pPr>
            <a:r>
              <a:rPr lang="en-US" sz="2800" b="1" dirty="0">
                <a:solidFill>
                  <a:srgbClr val="E8590C"/>
                </a:solidFill>
                <a:latin typeface="Arial" pitchFamily="34" charset="0"/>
                <a:ea typeface="Arial" pitchFamily="34" charset="-122"/>
                <a:cs typeface="Arial" pitchFamily="34" charset="-120"/>
              </a:rPr>
              <a:t>0,58 km</a:t>
            </a:r>
            <a:endParaRPr lang="en-US" sz="2800" dirty="0"/>
          </a:p>
        </p:txBody>
      </p:sp>
      <p:sp>
        <p:nvSpPr>
          <p:cNvPr id="7" name="Text 4"/>
          <p:cNvSpPr txBox="1"/>
          <p:nvPr/>
        </p:nvSpPr>
        <p:spPr>
          <a:xfrm>
            <a:off x="7863840" y="2121408"/>
            <a:ext cx="1737360" cy="54864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jusqu'à la côte</a:t>
            </a:r>
            <a:endParaRPr lang="en-US" sz="1300" dirty="0"/>
          </a:p>
        </p:txBody>
      </p:sp>
      <p:sp>
        <p:nvSpPr>
          <p:cNvPr id="8" name="Text 5"/>
          <p:cNvSpPr txBox="1"/>
          <p:nvPr/>
        </p:nvSpPr>
        <p:spPr>
          <a:xfrm>
            <a:off x="9692640" y="1371600"/>
            <a:ext cx="1737360" cy="731520"/>
          </a:xfrm>
          <a:prstGeom prst="rect">
            <a:avLst/>
          </a:prstGeom>
          <a:noFill/>
          <a:ln/>
        </p:spPr>
        <p:txBody>
          <a:bodyPr wrap="square" lIns="0" tIns="0" rIns="0" bIns="0" rtlCol="0" anchor="b"/>
          <a:lstStyle/>
          <a:p>
            <a:pPr indent="0" marL="0">
              <a:buNone/>
            </a:pPr>
            <a:r>
              <a:rPr lang="en-US" sz="2800" b="1" dirty="0">
                <a:solidFill>
                  <a:srgbClr val="E8590C"/>
                </a:solidFill>
                <a:latin typeface="Arial" pitchFamily="34" charset="0"/>
                <a:ea typeface="Arial" pitchFamily="34" charset="-122"/>
                <a:cs typeface="Arial" pitchFamily="34" charset="-120"/>
              </a:rPr>
              <a:t>0,75 km</a:t>
            </a:r>
            <a:endParaRPr lang="en-US" sz="2800" dirty="0"/>
          </a:p>
        </p:txBody>
      </p:sp>
      <p:sp>
        <p:nvSpPr>
          <p:cNvPr id="9" name="Text 6"/>
          <p:cNvSpPr txBox="1"/>
          <p:nvPr/>
        </p:nvSpPr>
        <p:spPr>
          <a:xfrm>
            <a:off x="9692640" y="2121408"/>
            <a:ext cx="1737360" cy="54864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jusqu'à une route du site</a:t>
            </a:r>
            <a:endParaRPr lang="en-US" sz="1300" dirty="0"/>
          </a:p>
        </p:txBody>
      </p:sp>
      <p:sp>
        <p:nvSpPr>
          <p:cNvPr id="10" name="Text 7"/>
          <p:cNvSpPr txBox="1"/>
          <p:nvPr/>
        </p:nvSpPr>
        <p:spPr>
          <a:xfrm>
            <a:off x="7863840" y="2743200"/>
            <a:ext cx="1737360" cy="731520"/>
          </a:xfrm>
          <a:prstGeom prst="rect">
            <a:avLst/>
          </a:prstGeom>
          <a:noFill/>
          <a:ln/>
        </p:spPr>
        <p:txBody>
          <a:bodyPr wrap="square" lIns="0" tIns="0" rIns="0" bIns="0" rtlCol="0" anchor="b"/>
          <a:lstStyle/>
          <a:p>
            <a:pPr indent="0" marL="0">
              <a:buNone/>
            </a:pPr>
            <a:r>
              <a:rPr lang="en-US" sz="2800" b="1" dirty="0">
                <a:solidFill>
                  <a:srgbClr val="E8590C"/>
                </a:solidFill>
                <a:latin typeface="Arial" pitchFamily="34" charset="0"/>
                <a:ea typeface="Arial" pitchFamily="34" charset="-122"/>
                <a:cs typeface="Arial" pitchFamily="34" charset="-120"/>
              </a:rPr>
              <a:t>23 km</a:t>
            </a:r>
            <a:endParaRPr lang="en-US" sz="2800" dirty="0"/>
          </a:p>
        </p:txBody>
      </p:sp>
      <p:sp>
        <p:nvSpPr>
          <p:cNvPr id="11" name="Text 8"/>
          <p:cNvSpPr txBox="1"/>
          <p:nvPr/>
        </p:nvSpPr>
        <p:spPr>
          <a:xfrm>
            <a:off x="7863840" y="3493008"/>
            <a:ext cx="1737360" cy="54864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jusqu'à Titusville, la ville la plus proche</a:t>
            </a:r>
            <a:endParaRPr lang="en-US" sz="1300" dirty="0"/>
          </a:p>
        </p:txBody>
      </p:sp>
      <p:sp>
        <p:nvSpPr>
          <p:cNvPr id="12" name="Text 9"/>
          <p:cNvSpPr txBox="1"/>
          <p:nvPr/>
        </p:nvSpPr>
        <p:spPr>
          <a:xfrm>
            <a:off x="9692640" y="2743200"/>
            <a:ext cx="1737360" cy="731520"/>
          </a:xfrm>
          <a:prstGeom prst="rect">
            <a:avLst/>
          </a:prstGeom>
          <a:noFill/>
          <a:ln/>
        </p:spPr>
        <p:txBody>
          <a:bodyPr wrap="square" lIns="0" tIns="0" rIns="0" bIns="0" rtlCol="0" anchor="b"/>
          <a:lstStyle/>
          <a:p>
            <a:pPr indent="0" marL="0">
              <a:buNone/>
            </a:pPr>
            <a:r>
              <a:rPr lang="en-US" sz="2800" b="1" dirty="0">
                <a:solidFill>
                  <a:srgbClr val="E8590C"/>
                </a:solidFill>
                <a:latin typeface="Arial" pitchFamily="34" charset="0"/>
                <a:ea typeface="Arial" pitchFamily="34" charset="-122"/>
                <a:cs typeface="Arial" pitchFamily="34" charset="-120"/>
              </a:rPr>
              <a:t>78 km</a:t>
            </a:r>
            <a:endParaRPr lang="en-US" sz="2800" dirty="0"/>
          </a:p>
        </p:txBody>
      </p:sp>
      <p:sp>
        <p:nvSpPr>
          <p:cNvPr id="13" name="Text 10"/>
          <p:cNvSpPr txBox="1"/>
          <p:nvPr/>
        </p:nvSpPr>
        <p:spPr>
          <a:xfrm>
            <a:off x="9692640" y="3493008"/>
            <a:ext cx="1737360" cy="54864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jusqu'à Orlando</a:t>
            </a:r>
            <a:endParaRPr lang="en-US" sz="1300" dirty="0"/>
          </a:p>
        </p:txBody>
      </p:sp>
      <p:sp>
        <p:nvSpPr>
          <p:cNvPr id="14" name="Text 11"/>
          <p:cNvSpPr txBox="1"/>
          <p:nvPr/>
        </p:nvSpPr>
        <p:spPr>
          <a:xfrm>
            <a:off x="7772400" y="4206240"/>
            <a:ext cx="3657600" cy="1508760"/>
          </a:xfrm>
          <a:prstGeom prst="rect">
            <a:avLst/>
          </a:prstGeom>
          <a:noFill/>
          <a:ln/>
        </p:spPr>
        <p:txBody>
          <a:bodyPr wrap="square" rtlCol="0" anchor="t"/>
          <a:lstStyle/>
          <a:p>
            <a:pPr indent="0" marL="0">
              <a:buNone/>
            </a:pPr>
            <a:r>
              <a:rPr lang="en-US" sz="1400" dirty="0">
                <a:solidFill>
                  <a:srgbClr val="1F2937"/>
                </a:solidFill>
                <a:latin typeface="Calibri" pitchFamily="34" charset="0"/>
                <a:ea typeface="Calibri" pitchFamily="34" charset="-122"/>
                <a:cs typeface="Calibri" pitchFamily="34" charset="-120"/>
              </a:rPr>
              <a:t>Les sites sont très proches de la côte et des routes (logistique) mais éloignés des villes, pour protéger la population en cas d'échec.</a:t>
            </a:r>
            <a:endParaRPr lang="en-US" sz="14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body" hasCustomPrompt="1"/>
          </p:nvPr>
        </p:nvSpPr>
        <p:spPr>
          <a:xfrm>
            <a:off x="731520" y="2103120"/>
            <a:ext cx="8229600" cy="548640"/>
          </a:xfrm>
          <a:prstGeom prst="rect">
            <a:avLst/>
          </a:prstGeom>
          <a:noFill/>
          <a:ln/>
        </p:spPr>
        <p:txBody>
          <a:bodyPr wrap="square" rtlCol="0" anchor="b"/>
          <a:lstStyle/>
          <a:p>
            <a:pPr algn="l" indent="0" marL="0">
              <a:buNone/>
            </a:pPr>
            <a:r>
              <a:rPr lang="en-US" sz="1800" b="1" dirty="0">
                <a:solidFill>
                  <a:srgbClr val="E8590C"/>
                </a:solidFill>
              </a:rPr>
              <a:t>Section 4</a:t>
            </a:r>
            <a:endParaRPr lang="en-US" sz="1800" dirty="0"/>
          </a:p>
        </p:txBody>
      </p:sp>
      <p:sp>
        <p:nvSpPr>
          <p:cNvPr id="3" name="Text 0"/>
          <p:cNvSpPr/>
          <p:nvPr>
            <p:ph idx="101" type="title" hasCustomPrompt="1"/>
          </p:nvPr>
        </p:nvSpPr>
        <p:spPr>
          <a:xfrm>
            <a:off x="731520" y="2697480"/>
            <a:ext cx="10698480" cy="1280160"/>
          </a:xfrm>
          <a:prstGeom prst="rect">
            <a:avLst/>
          </a:prstGeom>
          <a:noFill/>
          <a:ln/>
        </p:spPr>
        <p:txBody>
          <a:bodyPr wrap="square" rtlCol="0" anchor="t"/>
          <a:lstStyle/>
          <a:p>
            <a:pPr algn="l" indent="0" marL="0">
              <a:buNone/>
            </a:pPr>
            <a:r>
              <a:rPr lang="en-US" sz="4000" b="1" dirty="0">
                <a:solidFill>
                  <a:srgbClr val="FFFFFF"/>
                </a:solidFill>
                <a:latin typeface="Arial" pitchFamily="34" charset="0"/>
                <a:ea typeface="Arial" pitchFamily="34" charset="-122"/>
                <a:cs typeface="Arial" pitchFamily="34" charset="-120"/>
              </a:rPr>
              <a:t>Dashboard avec Plotly Dash</a:t>
            </a:r>
            <a:endParaRPr lang="en-US" sz="4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rgbClr val="0B1D3A"/>
                </a:solidFill>
                <a:latin typeface="Arial" pitchFamily="34" charset="0"/>
                <a:ea typeface="Arial" pitchFamily="34" charset="-122"/>
                <a:cs typeface="Arial" pitchFamily="34" charset="-120"/>
              </a:rPr>
              <a:t>Part des lancements réussis par site</a:t>
            </a:r>
            <a:endParaRPr lang="en-US" sz="3000" dirty="0"/>
          </a:p>
        </p:txBody>
      </p:sp>
      <p:pic>
        <p:nvPicPr>
          <p:cNvPr id="3" name="Image 0" descr="C:/Users/enangue/Desktop/SpaceX-Capstone/images/dash_pie_all.png">    </p:cNvPr>
          <p:cNvPicPr>
            <a:picLocks noChangeAspect="1"/>
          </p:cNvPicPr>
          <p:nvPr/>
        </p:nvPicPr>
        <p:blipFill>
          <a:blip r:embed="rId1"/>
          <a:stretch>
            <a:fillRect/>
          </a:stretch>
        </p:blipFill>
        <p:spPr>
          <a:xfrm>
            <a:off x="548640" y="1254034"/>
            <a:ext cx="6949440" cy="2978331"/>
          </a:xfrm>
          <a:prstGeom prst="rect">
            <a:avLst/>
          </a:prstGeom>
        </p:spPr>
      </p:pic>
      <p:sp>
        <p:nvSpPr>
          <p:cNvPr id="4" name="Shape 1"/>
          <p:cNvSpPr/>
          <p:nvPr/>
        </p:nvSpPr>
        <p:spPr>
          <a:xfrm>
            <a:off x="7772400" y="1325880"/>
            <a:ext cx="3840480" cy="4754880"/>
          </a:xfrm>
          <a:prstGeom prst="roundRect">
            <a:avLst>
              <a:gd name="adj" fmla="val 1905"/>
            </a:avLst>
          </a:prstGeom>
          <a:solidFill>
            <a:srgbClr val="EEF2F7"/>
          </a:solidFill>
          <a:ln w="12700">
            <a:solidFill>
              <a:srgbClr val="EEF2F7"/>
            </a:solidFill>
            <a:prstDash val="solid"/>
          </a:ln>
        </p:spPr>
      </p:sp>
      <p:sp>
        <p:nvSpPr>
          <p:cNvPr id="5" name="Text 2"/>
          <p:cNvSpPr txBox="1"/>
          <p:nvPr/>
        </p:nvSpPr>
        <p:spPr>
          <a:xfrm>
            <a:off x="8001000" y="1463040"/>
            <a:ext cx="3383280" cy="365760"/>
          </a:xfrm>
          <a:prstGeom prst="rect">
            <a:avLst/>
          </a:prstGeom>
          <a:noFill/>
          <a:ln/>
        </p:spPr>
        <p:txBody>
          <a:bodyPr wrap="square" lIns="0" tIns="0" rIns="0" bIns="0" rtlCol="0" anchor="ctr"/>
          <a:lstStyle/>
          <a:p>
            <a:pPr indent="0" marL="0">
              <a:buNone/>
            </a:pPr>
            <a:r>
              <a:rPr lang="en-US" sz="1600" b="1" dirty="0">
                <a:solidFill>
                  <a:srgbClr val="0B1D3A"/>
                </a:solidFill>
                <a:latin typeface="Arial" pitchFamily="34" charset="0"/>
                <a:ea typeface="Arial" pitchFamily="34" charset="-122"/>
                <a:cs typeface="Arial" pitchFamily="34" charset="-120"/>
              </a:rPr>
              <a:t>Ce que l'on observe</a:t>
            </a:r>
            <a:endParaRPr lang="en-US" sz="1600" dirty="0"/>
          </a:p>
        </p:txBody>
      </p:sp>
      <p:sp>
        <p:nvSpPr>
          <p:cNvPr id="6" name="Text 3"/>
          <p:cNvSpPr txBox="1"/>
          <p:nvPr/>
        </p:nvSpPr>
        <p:spPr>
          <a:xfrm>
            <a:off x="7955280" y="1874520"/>
            <a:ext cx="3474720" cy="4069080"/>
          </a:xfrm>
          <a:prstGeom prst="rect">
            <a:avLst/>
          </a:prstGeom>
          <a:noFill/>
          <a:ln/>
        </p:spPr>
        <p:txBody>
          <a:bodyPr wrap="square" lIns="50800" tIns="50800" rIns="50800" bIns="50800" rtlCol="0" anchor="t"/>
          <a:lstStyle/>
          <a:p>
            <a:pPr marL="228600" indent="-2286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KSC LC-39A représente 41,7 % de tous les succès, la plus grande part</a:t>
            </a:r>
            <a:endParaRPr lang="en-US" sz="1400" dirty="0"/>
          </a:p>
          <a:p>
            <a:pPr marL="228600" indent="-2286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Viennent ensuite CCAFS LC-40 (29,2 %), VAFB SLC-4E (16,7 %) et CCAFS SLC-40 (12,5 %)</a:t>
            </a:r>
            <a:endParaRPr lang="en-US" sz="1400" dirty="0"/>
          </a:p>
          <a:p>
            <a:pPr marL="228600" indent="-2286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CCAFS LC-40 a beaucoup de lancements mais un taux de succès plus faible</a:t>
            </a:r>
            <a:endParaRPr lang="en-US" sz="1400" dirty="0"/>
          </a:p>
        </p:txBody>
      </p:sp>
      <p:sp>
        <p:nvSpPr>
          <p:cNvPr id="7" name="Text 4"/>
          <p:cNvSpPr txBox="1"/>
          <p:nvPr/>
        </p:nvSpPr>
        <p:spPr>
          <a:xfrm>
            <a:off x="548640" y="4389120"/>
            <a:ext cx="6949440" cy="548640"/>
          </a:xfrm>
          <a:prstGeom prst="rect">
            <a:avLst/>
          </a:prstGeom>
          <a:noFill/>
          <a:ln/>
        </p:spPr>
        <p:txBody>
          <a:bodyPr wrap="square" rtlCol="0" anchor="t"/>
          <a:lstStyle/>
          <a:p>
            <a:pPr indent="0" marL="0">
              <a:buNone/>
            </a:pPr>
            <a:r>
              <a:rPr lang="en-US" sz="1300" dirty="0">
                <a:solidFill>
                  <a:srgbClr val="5B6472"/>
                </a:solidFill>
                <a:latin typeface="Calibri" pitchFamily="34" charset="0"/>
                <a:ea typeface="Calibri" pitchFamily="34" charset="-122"/>
                <a:cs typeface="Calibri" pitchFamily="34" charset="-120"/>
              </a:rPr>
              <a:t>Option « All Sites » sélectionnée : la valeur du camembert est la somme de Class par site.</a:t>
            </a:r>
            <a:endParaRPr lang="en-US" sz="13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rgbClr val="0B1D3A"/>
                </a:solidFill>
                <a:latin typeface="Arial" pitchFamily="34" charset="0"/>
                <a:ea typeface="Arial" pitchFamily="34" charset="-122"/>
                <a:cs typeface="Arial" pitchFamily="34" charset="-120"/>
              </a:rPr>
              <a:t>KSC LC-39A, le site le plus performant</a:t>
            </a:r>
            <a:endParaRPr lang="en-US" sz="3000" dirty="0"/>
          </a:p>
        </p:txBody>
      </p:sp>
      <p:pic>
        <p:nvPicPr>
          <p:cNvPr id="3" name="Image 0" descr="C:/Users/enangue/Desktop/SpaceX-Capstone/images/dash_pie_ksc.png">    </p:cNvPr>
          <p:cNvPicPr>
            <a:picLocks noChangeAspect="1"/>
          </p:cNvPicPr>
          <p:nvPr/>
        </p:nvPicPr>
        <p:blipFill>
          <a:blip r:embed="rId1"/>
          <a:stretch>
            <a:fillRect/>
          </a:stretch>
        </p:blipFill>
        <p:spPr>
          <a:xfrm>
            <a:off x="548640" y="1254034"/>
            <a:ext cx="6949440" cy="2978331"/>
          </a:xfrm>
          <a:prstGeom prst="rect">
            <a:avLst/>
          </a:prstGeom>
        </p:spPr>
      </p:pic>
      <p:sp>
        <p:nvSpPr>
          <p:cNvPr id="4" name="Shape 1"/>
          <p:cNvSpPr/>
          <p:nvPr/>
        </p:nvSpPr>
        <p:spPr>
          <a:xfrm>
            <a:off x="7772400" y="1325880"/>
            <a:ext cx="3840480" cy="4754880"/>
          </a:xfrm>
          <a:prstGeom prst="roundRect">
            <a:avLst>
              <a:gd name="adj" fmla="val 1905"/>
            </a:avLst>
          </a:prstGeom>
          <a:solidFill>
            <a:srgbClr val="EEF2F7"/>
          </a:solidFill>
          <a:ln w="12700">
            <a:solidFill>
              <a:srgbClr val="EEF2F7"/>
            </a:solidFill>
            <a:prstDash val="solid"/>
          </a:ln>
        </p:spPr>
      </p:sp>
      <p:sp>
        <p:nvSpPr>
          <p:cNvPr id="5" name="Text 2"/>
          <p:cNvSpPr txBox="1"/>
          <p:nvPr/>
        </p:nvSpPr>
        <p:spPr>
          <a:xfrm>
            <a:off x="8046720" y="1554480"/>
            <a:ext cx="3291840" cy="731520"/>
          </a:xfrm>
          <a:prstGeom prst="rect">
            <a:avLst/>
          </a:prstGeom>
          <a:noFill/>
          <a:ln/>
        </p:spPr>
        <p:txBody>
          <a:bodyPr wrap="square" lIns="0" tIns="0" rIns="0" bIns="0" rtlCol="0" anchor="b"/>
          <a:lstStyle/>
          <a:p>
            <a:pPr indent="0" marL="0">
              <a:buNone/>
            </a:pPr>
            <a:r>
              <a:rPr lang="en-US" sz="3600" b="1" dirty="0">
                <a:solidFill>
                  <a:srgbClr val="E8590C"/>
                </a:solidFill>
                <a:latin typeface="Arial" pitchFamily="34" charset="0"/>
                <a:ea typeface="Arial" pitchFamily="34" charset="-122"/>
                <a:cs typeface="Arial" pitchFamily="34" charset="-120"/>
              </a:rPr>
              <a:t>76,9 %</a:t>
            </a:r>
            <a:endParaRPr lang="en-US" sz="3600" dirty="0"/>
          </a:p>
        </p:txBody>
      </p:sp>
      <p:sp>
        <p:nvSpPr>
          <p:cNvPr id="6" name="Text 3"/>
          <p:cNvSpPr txBox="1"/>
          <p:nvPr/>
        </p:nvSpPr>
        <p:spPr>
          <a:xfrm>
            <a:off x="8046720" y="2304288"/>
            <a:ext cx="3291840" cy="54864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de succès (10 lancements sur 13), en bleu (Class = 1)</a:t>
            </a:r>
            <a:endParaRPr lang="en-US" sz="1300" dirty="0"/>
          </a:p>
        </p:txBody>
      </p:sp>
      <p:sp>
        <p:nvSpPr>
          <p:cNvPr id="7" name="Text 4"/>
          <p:cNvSpPr txBox="1"/>
          <p:nvPr/>
        </p:nvSpPr>
        <p:spPr>
          <a:xfrm>
            <a:off x="8046720" y="3108960"/>
            <a:ext cx="3291840" cy="731520"/>
          </a:xfrm>
          <a:prstGeom prst="rect">
            <a:avLst/>
          </a:prstGeom>
          <a:noFill/>
          <a:ln/>
        </p:spPr>
        <p:txBody>
          <a:bodyPr wrap="square" lIns="0" tIns="0" rIns="0" bIns="0" rtlCol="0" anchor="b"/>
          <a:lstStyle/>
          <a:p>
            <a:pPr indent="0" marL="0">
              <a:buNone/>
            </a:pPr>
            <a:r>
              <a:rPr lang="en-US" sz="3600" b="1" dirty="0">
                <a:solidFill>
                  <a:srgbClr val="C62828"/>
                </a:solidFill>
                <a:latin typeface="Arial" pitchFamily="34" charset="0"/>
                <a:ea typeface="Arial" pitchFamily="34" charset="-122"/>
                <a:cs typeface="Arial" pitchFamily="34" charset="-120"/>
              </a:rPr>
              <a:t>23,1 %</a:t>
            </a:r>
            <a:endParaRPr lang="en-US" sz="3600" dirty="0"/>
          </a:p>
        </p:txBody>
      </p:sp>
      <p:sp>
        <p:nvSpPr>
          <p:cNvPr id="8" name="Text 5"/>
          <p:cNvSpPr txBox="1"/>
          <p:nvPr/>
        </p:nvSpPr>
        <p:spPr>
          <a:xfrm>
            <a:off x="8046720" y="3858768"/>
            <a:ext cx="3291840" cy="54864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d'échecs (3 lancements), en rouge (Class = 0)</a:t>
            </a:r>
            <a:endParaRPr lang="en-US" sz="1300" dirty="0"/>
          </a:p>
        </p:txBody>
      </p:sp>
      <p:sp>
        <p:nvSpPr>
          <p:cNvPr id="9" name="Text 6"/>
          <p:cNvSpPr txBox="1"/>
          <p:nvPr/>
        </p:nvSpPr>
        <p:spPr>
          <a:xfrm>
            <a:off x="548640" y="4389120"/>
            <a:ext cx="6949440" cy="548640"/>
          </a:xfrm>
          <a:prstGeom prst="rect">
            <a:avLst/>
          </a:prstGeom>
          <a:noFill/>
          <a:ln/>
        </p:spPr>
        <p:txBody>
          <a:bodyPr wrap="square" rtlCol="0" anchor="t"/>
          <a:lstStyle/>
          <a:p>
            <a:pPr indent="0" marL="0">
              <a:buNone/>
            </a:pPr>
            <a:r>
              <a:rPr lang="en-US" sz="1300" dirty="0">
                <a:solidFill>
                  <a:srgbClr val="5B6472"/>
                </a:solidFill>
                <a:latin typeface="Calibri" pitchFamily="34" charset="0"/>
                <a:ea typeface="Calibri" pitchFamily="34" charset="-122"/>
                <a:cs typeface="Calibri" pitchFamily="34" charset="-120"/>
              </a:rPr>
              <a:t>Une fois KSC LC-39A choisi dans la liste, le camembert montre succès et échecs pour ce site seulement.</a:t>
            </a:r>
            <a:endParaRPr lang="en-US" sz="13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rgbClr val="0B1D3A"/>
                </a:solidFill>
                <a:latin typeface="Arial" pitchFamily="34" charset="0"/>
                <a:ea typeface="Arial" pitchFamily="34" charset="-122"/>
                <a:cs typeface="Arial" pitchFamily="34" charset="-120"/>
              </a:rPr>
              <a:t>Charge utile × résultat pour tous les sites</a:t>
            </a:r>
            <a:endParaRPr lang="en-US" sz="3000" dirty="0"/>
          </a:p>
        </p:txBody>
      </p:sp>
      <p:pic>
        <p:nvPicPr>
          <p:cNvPr id="3" name="Image 0" descr="C:/Users/enangue/Desktop/SpaceX-Capstone/images/dash_scatter_0_5000.png">    </p:cNvPr>
          <p:cNvPicPr>
            <a:picLocks noChangeAspect="1"/>
          </p:cNvPicPr>
          <p:nvPr/>
        </p:nvPicPr>
        <p:blipFill>
          <a:blip r:embed="rId1"/>
          <a:stretch>
            <a:fillRect/>
          </a:stretch>
        </p:blipFill>
        <p:spPr>
          <a:xfrm>
            <a:off x="548640" y="1191333"/>
            <a:ext cx="6949440" cy="1960735"/>
          </a:xfrm>
          <a:prstGeom prst="rect">
            <a:avLst/>
          </a:prstGeom>
        </p:spPr>
      </p:pic>
      <p:sp>
        <p:nvSpPr>
          <p:cNvPr id="4" name="Text 1"/>
          <p:cNvSpPr txBox="1"/>
          <p:nvPr/>
        </p:nvSpPr>
        <p:spPr>
          <a:xfrm>
            <a:off x="548640" y="3154680"/>
            <a:ext cx="6949440" cy="27432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Curseur réglé sur 0 – 5 000 kg</a:t>
            </a:r>
            <a:endParaRPr lang="en-US" sz="1200" dirty="0"/>
          </a:p>
        </p:txBody>
      </p:sp>
      <p:pic>
        <p:nvPicPr>
          <p:cNvPr id="5" name="Image 1" descr="C:/Users/enangue/Desktop/SpaceX-Capstone/images/dash_scatter_5000_10000.png">    </p:cNvPr>
          <p:cNvPicPr>
            <a:picLocks noChangeAspect="1"/>
          </p:cNvPicPr>
          <p:nvPr/>
        </p:nvPicPr>
        <p:blipFill>
          <a:blip r:embed="rId2"/>
          <a:stretch>
            <a:fillRect/>
          </a:stretch>
        </p:blipFill>
        <p:spPr>
          <a:xfrm>
            <a:off x="548640" y="3523053"/>
            <a:ext cx="6949440" cy="1960735"/>
          </a:xfrm>
          <a:prstGeom prst="rect">
            <a:avLst/>
          </a:prstGeom>
        </p:spPr>
      </p:pic>
      <p:sp>
        <p:nvSpPr>
          <p:cNvPr id="6" name="Text 2"/>
          <p:cNvSpPr txBox="1"/>
          <p:nvPr/>
        </p:nvSpPr>
        <p:spPr>
          <a:xfrm>
            <a:off x="548640" y="5486400"/>
            <a:ext cx="6949440" cy="27432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Curseur réglé sur 5 000 – 10 000 kg</a:t>
            </a:r>
            <a:endParaRPr lang="en-US" sz="12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7772400" y="1234440"/>
          <a:ext cx="3840480" cy="914400"/>
        </p:xfrm>
        <a:graphic>
          <a:graphicData uri="http://schemas.openxmlformats.org/drawingml/2006/table">
            <a:tbl>
              <a:tblPr/>
              <a:tblGrid>
                <a:gridCol w="2194560"/>
                <a:gridCol w="1645920"/>
              </a:tblGrid>
              <a:tr h="32918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Charge utile</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3D5A8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Taux de succès</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3D5A80"/>
                    </a:solidFill>
                  </a:tcPr>
                </a:tc>
              </a:tr>
              <a:tr h="329184">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0 – 2 000 kg</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23 %</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r>
              <a:tr h="329184">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2 000 – 4 000 kg</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62 %</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r>
              <a:tr h="329184">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4 000 – 6 000 kg</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38 %</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r>
              <a:tr h="329184">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6 000 – 10 000 kg</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33 %</a:t>
                      </a:r>
                      <a:endParaRPr lang="en-US" sz="1300" dirty="0">
                        <a:latin typeface="Calibri" charset="0"/>
                        <a:ea typeface="Calibri" charset="0"/>
                        <a:cs typeface="Calibri" charset="0"/>
                      </a:endParaRPr>
                    </a:p>
                  </a:txBody>
                  <a:tcPr marL="45720" marR="45720" marT="45720" marB="4572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r>
            </a:tbl>
          </a:graphicData>
        </a:graphic>
      </p:graphicFrame>
      <p:sp>
        <p:nvSpPr>
          <p:cNvPr id="8" name="Shape 3"/>
          <p:cNvSpPr/>
          <p:nvPr/>
        </p:nvSpPr>
        <p:spPr>
          <a:xfrm>
            <a:off x="7772400" y="3154680"/>
            <a:ext cx="3840480" cy="2926080"/>
          </a:xfrm>
          <a:prstGeom prst="roundRect">
            <a:avLst>
              <a:gd name="adj" fmla="val 2500"/>
            </a:avLst>
          </a:prstGeom>
          <a:solidFill>
            <a:srgbClr val="EEF2F7"/>
          </a:solidFill>
          <a:ln w="12700">
            <a:solidFill>
              <a:srgbClr val="EEF2F7"/>
            </a:solidFill>
            <a:prstDash val="solid"/>
          </a:ln>
        </p:spPr>
      </p:sp>
      <p:sp>
        <p:nvSpPr>
          <p:cNvPr id="9" name="Text 4"/>
          <p:cNvSpPr txBox="1"/>
          <p:nvPr/>
        </p:nvSpPr>
        <p:spPr>
          <a:xfrm>
            <a:off x="8001000" y="3291840"/>
            <a:ext cx="3383280" cy="365760"/>
          </a:xfrm>
          <a:prstGeom prst="rect">
            <a:avLst/>
          </a:prstGeom>
          <a:noFill/>
          <a:ln/>
        </p:spPr>
        <p:txBody>
          <a:bodyPr wrap="square" lIns="0" tIns="0" rIns="0" bIns="0" rtlCol="0" anchor="ctr"/>
          <a:lstStyle/>
          <a:p>
            <a:pPr indent="0" marL="0">
              <a:buNone/>
            </a:pPr>
            <a:r>
              <a:rPr lang="en-US" sz="1600" b="1" dirty="0">
                <a:solidFill>
                  <a:srgbClr val="0B1D3A"/>
                </a:solidFill>
                <a:latin typeface="Arial" pitchFamily="34" charset="0"/>
                <a:ea typeface="Arial" pitchFamily="34" charset="-122"/>
                <a:cs typeface="Arial" pitchFamily="34" charset="-120"/>
              </a:rPr>
              <a:t>Ce que l'on observe</a:t>
            </a:r>
            <a:endParaRPr lang="en-US" sz="1600" dirty="0"/>
          </a:p>
        </p:txBody>
      </p:sp>
      <p:sp>
        <p:nvSpPr>
          <p:cNvPr id="10" name="Text 5"/>
          <p:cNvSpPr txBox="1"/>
          <p:nvPr/>
        </p:nvSpPr>
        <p:spPr>
          <a:xfrm>
            <a:off x="7955280" y="3703320"/>
            <a:ext cx="3474720" cy="2240280"/>
          </a:xfrm>
          <a:prstGeom prst="rect">
            <a:avLst/>
          </a:prstGeom>
          <a:noFill/>
          <a:ln/>
        </p:spPr>
        <p:txBody>
          <a:bodyPr wrap="square" lIns="50800" tIns="50800" rIns="50800" bIns="50800" rtlCol="0" anchor="t"/>
          <a:lstStyle/>
          <a:p>
            <a:pPr marL="228600" indent="-2286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Les charges de 2 000 à 4 000 kg réussissent le mieux</a:t>
            </a:r>
            <a:endParaRPr lang="en-US" sz="1400" dirty="0"/>
          </a:p>
          <a:p>
            <a:pPr marL="228600" indent="-2286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Le booster FT réussit le mieux (67 % sur 24 vols) ; v1.1 presque jamais (7 % sur 15)</a:t>
            </a:r>
            <a:endParaRPr lang="en-US" sz="14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body" hasCustomPrompt="1"/>
          </p:nvPr>
        </p:nvSpPr>
        <p:spPr>
          <a:xfrm>
            <a:off x="731520" y="2103120"/>
            <a:ext cx="8229600" cy="548640"/>
          </a:xfrm>
          <a:prstGeom prst="rect">
            <a:avLst/>
          </a:prstGeom>
          <a:noFill/>
          <a:ln/>
        </p:spPr>
        <p:txBody>
          <a:bodyPr wrap="square" rtlCol="0" anchor="b"/>
          <a:lstStyle/>
          <a:p>
            <a:pPr algn="l" indent="0" marL="0">
              <a:buNone/>
            </a:pPr>
            <a:r>
              <a:rPr lang="en-US" sz="1800" b="1" dirty="0">
                <a:solidFill>
                  <a:srgbClr val="E8590C"/>
                </a:solidFill>
              </a:rPr>
              <a:t>Section 5</a:t>
            </a:r>
            <a:endParaRPr lang="en-US" sz="1800" dirty="0"/>
          </a:p>
        </p:txBody>
      </p:sp>
      <p:sp>
        <p:nvSpPr>
          <p:cNvPr id="3" name="Text 0"/>
          <p:cNvSpPr/>
          <p:nvPr>
            <p:ph idx="101" type="title" hasCustomPrompt="1"/>
          </p:nvPr>
        </p:nvSpPr>
        <p:spPr>
          <a:xfrm>
            <a:off x="731520" y="2697480"/>
            <a:ext cx="10698480" cy="1280160"/>
          </a:xfrm>
          <a:prstGeom prst="rect">
            <a:avLst/>
          </a:prstGeom>
          <a:noFill/>
          <a:ln/>
        </p:spPr>
        <p:txBody>
          <a:bodyPr wrap="square" rtlCol="0" anchor="t"/>
          <a:lstStyle/>
          <a:p>
            <a:pPr algn="l" indent="0" marL="0">
              <a:buNone/>
            </a:pPr>
            <a:r>
              <a:rPr lang="en-US" sz="4000" b="1" dirty="0">
                <a:solidFill>
                  <a:srgbClr val="FFFFFF"/>
                </a:solidFill>
                <a:latin typeface="Arial" pitchFamily="34" charset="0"/>
                <a:ea typeface="Arial" pitchFamily="34" charset="-122"/>
                <a:cs typeface="Arial" pitchFamily="34" charset="-120"/>
              </a:rPr>
              <a:t>Analyse prédictive (classification)</a:t>
            </a:r>
            <a:endParaRPr lang="en-US" sz="4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rgbClr val="0B1D3A"/>
                </a:solidFill>
                <a:latin typeface="Arial" pitchFamily="34" charset="0"/>
                <a:ea typeface="Arial" pitchFamily="34" charset="-122"/>
                <a:cs typeface="Arial" pitchFamily="34" charset="-120"/>
              </a:rPr>
              <a:t>Précision des modèles de classification</a:t>
            </a:r>
            <a:endParaRPr lang="en-US" sz="3000" dirty="0"/>
          </a:p>
        </p:txBody>
      </p:sp>
      <p:graphicFrame>
        <p:nvGraphicFramePr>
          <p:cNvPr id="3" name="Chart 0" descr=""/>
          <p:cNvGraphicFramePr/>
          <p:nvPr/>
        </p:nvGraphicFramePr>
        <p:xfrm>
          <a:off x="548640" y="1234440"/>
          <a:ext cx="6949440" cy="484632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772400" y="1325880"/>
            <a:ext cx="3840480" cy="4754880"/>
          </a:xfrm>
          <a:prstGeom prst="roundRect">
            <a:avLst>
              <a:gd name="adj" fmla="val 1905"/>
            </a:avLst>
          </a:prstGeom>
          <a:solidFill>
            <a:srgbClr val="EEF2F7"/>
          </a:solidFill>
          <a:ln w="12700">
            <a:solidFill>
              <a:srgbClr val="EEF2F7"/>
            </a:solidFill>
            <a:prstDash val="solid"/>
          </a:ln>
        </p:spPr>
      </p:sp>
      <p:sp>
        <p:nvSpPr>
          <p:cNvPr id="5" name="Text 2"/>
          <p:cNvSpPr txBox="1"/>
          <p:nvPr/>
        </p:nvSpPr>
        <p:spPr>
          <a:xfrm>
            <a:off x="8046720" y="1463040"/>
            <a:ext cx="3291840" cy="731520"/>
          </a:xfrm>
          <a:prstGeom prst="rect">
            <a:avLst/>
          </a:prstGeom>
          <a:noFill/>
          <a:ln/>
        </p:spPr>
        <p:txBody>
          <a:bodyPr wrap="square" lIns="0" tIns="0" rIns="0" bIns="0" rtlCol="0" anchor="b"/>
          <a:lstStyle/>
          <a:p>
            <a:pPr indent="0" marL="0">
              <a:buNone/>
            </a:pPr>
            <a:r>
              <a:rPr lang="en-US" sz="3600" b="1" dirty="0">
                <a:solidFill>
                  <a:srgbClr val="E8590C"/>
                </a:solidFill>
                <a:latin typeface="Arial" pitchFamily="34" charset="0"/>
                <a:ea typeface="Arial" pitchFamily="34" charset="-122"/>
                <a:cs typeface="Arial" pitchFamily="34" charset="-120"/>
              </a:rPr>
              <a:t>86,3 %</a:t>
            </a:r>
            <a:endParaRPr lang="en-US" sz="3600" dirty="0"/>
          </a:p>
        </p:txBody>
      </p:sp>
      <p:sp>
        <p:nvSpPr>
          <p:cNvPr id="6" name="Text 3"/>
          <p:cNvSpPr txBox="1"/>
          <p:nvPr/>
        </p:nvSpPr>
        <p:spPr>
          <a:xfrm>
            <a:off x="8046720" y="2212848"/>
            <a:ext cx="3291840" cy="54864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précision en validation croisée de l'arbre de décision, la meilleure</a:t>
            </a:r>
            <a:endParaRPr lang="en-US" sz="1300" dirty="0"/>
          </a:p>
        </p:txBody>
      </p:sp>
      <p:sp>
        <p:nvSpPr>
          <p:cNvPr id="7" name="Text 4"/>
          <p:cNvSpPr txBox="1"/>
          <p:nvPr/>
        </p:nvSpPr>
        <p:spPr>
          <a:xfrm>
            <a:off x="7955280" y="2926080"/>
            <a:ext cx="3520440" cy="3017520"/>
          </a:xfrm>
          <a:prstGeom prst="rect">
            <a:avLst/>
          </a:prstGeom>
          <a:noFill/>
          <a:ln/>
        </p:spPr>
        <p:txBody>
          <a:bodyPr wrap="square" lIns="50800" tIns="50800" rIns="50800" bIns="50800" rtlCol="0" anchor="t"/>
          <a:lstStyle/>
          <a:p>
            <a:pPr marL="228600" indent="-228600">
              <a:spcAft>
                <a:spcPts val="800"/>
              </a:spcAft>
              <a:buSzPct val="100000"/>
              <a:buChar char="•"/>
            </a:pPr>
            <a:r>
              <a:rPr lang="en-US" sz="1400" dirty="0">
                <a:solidFill>
                  <a:srgbClr val="1F2937"/>
                </a:solidFill>
                <a:latin typeface="Calibri" pitchFamily="34" charset="0"/>
                <a:ea typeface="Calibri" pitchFamily="34" charset="-122"/>
                <a:cs typeface="Calibri" pitchFamily="34" charset="-120"/>
              </a:rPr>
              <a:t>Sur le test, les 4 modèles font jeu égal : 83,3 % (15 vols sur 18)</a:t>
            </a:r>
            <a:endParaRPr lang="en-US" sz="1400" dirty="0"/>
          </a:p>
          <a:p>
            <a:pPr marL="228600" indent="-228600">
              <a:spcAft>
                <a:spcPts val="800"/>
              </a:spcAft>
              <a:buSzPct val="100000"/>
              <a:buChar char="•"/>
            </a:pPr>
            <a:r>
              <a:rPr lang="en-US" sz="1400" dirty="0">
                <a:solidFill>
                  <a:srgbClr val="1F2937"/>
                </a:solidFill>
                <a:latin typeface="Calibri" pitchFamily="34" charset="0"/>
                <a:ea typeface="Calibri" pitchFamily="34" charset="-122"/>
                <a:cs typeface="Calibri" pitchFamily="34" charset="-120"/>
              </a:rPr>
              <a:t>On retient donc l'arbre de décision : max_depth = 6, critère gini</a:t>
            </a:r>
            <a:endParaRPr lang="en-US" sz="1400" dirty="0"/>
          </a:p>
          <a:p>
            <a:pPr marL="228600" indent="-228600">
              <a:spcAft>
                <a:spcPts val="800"/>
              </a:spcAft>
              <a:buSzPct val="100000"/>
              <a:buChar char="•"/>
            </a:pPr>
            <a:r>
              <a:rPr lang="en-US" sz="1400" dirty="0">
                <a:solidFill>
                  <a:srgbClr val="1F2937"/>
                </a:solidFill>
                <a:latin typeface="Calibri" pitchFamily="34" charset="0"/>
                <a:ea typeface="Calibri" pitchFamily="34" charset="-122"/>
                <a:cs typeface="Calibri" pitchFamily="34" charset="-120"/>
              </a:rPr>
              <a:t>Le test est petit (18 vols) : les écarts restent faibles</a:t>
            </a:r>
            <a:endParaRPr lang="en-US" sz="14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rgbClr val="0B1D3A"/>
                </a:solidFill>
                <a:latin typeface="Arial" pitchFamily="34" charset="0"/>
                <a:ea typeface="Arial" pitchFamily="34" charset="-122"/>
                <a:cs typeface="Arial" pitchFamily="34" charset="-120"/>
              </a:rPr>
              <a:t>Matrice de confusion du meilleur modèle</a:t>
            </a:r>
            <a:endParaRPr lang="en-US" sz="3000" dirty="0"/>
          </a:p>
        </p:txBody>
      </p:sp>
      <p:pic>
        <p:nvPicPr>
          <p:cNvPr id="3" name="Image 0" descr="C:/Users/enangue/Desktop/SpaceX-Capstone/images/cm_Decision_Tree.png">    </p:cNvPr>
          <p:cNvPicPr>
            <a:picLocks noChangeAspect="1"/>
          </p:cNvPicPr>
          <p:nvPr/>
        </p:nvPicPr>
        <p:blipFill>
          <a:blip r:embed="rId1"/>
          <a:stretch>
            <a:fillRect/>
          </a:stretch>
        </p:blipFill>
        <p:spPr>
          <a:xfrm>
            <a:off x="548640" y="1316736"/>
            <a:ext cx="5852160" cy="4681728"/>
          </a:xfrm>
          <a:prstGeom prst="rect">
            <a:avLst/>
          </a:prstGeom>
        </p:spPr>
      </p:pic>
      <p:sp>
        <p:nvSpPr>
          <p:cNvPr id="4" name="Shape 1"/>
          <p:cNvSpPr/>
          <p:nvPr/>
        </p:nvSpPr>
        <p:spPr>
          <a:xfrm>
            <a:off x="6675120" y="1325880"/>
            <a:ext cx="4937760" cy="4754880"/>
          </a:xfrm>
          <a:prstGeom prst="roundRect">
            <a:avLst>
              <a:gd name="adj" fmla="val 1538"/>
            </a:avLst>
          </a:prstGeom>
          <a:solidFill>
            <a:srgbClr val="EEF2F7"/>
          </a:solidFill>
          <a:ln w="12700">
            <a:solidFill>
              <a:srgbClr val="EEF2F7"/>
            </a:solidFill>
            <a:prstDash val="solid"/>
          </a:ln>
        </p:spPr>
      </p:sp>
      <p:sp>
        <p:nvSpPr>
          <p:cNvPr id="5" name="Text 2"/>
          <p:cNvSpPr txBox="1"/>
          <p:nvPr/>
        </p:nvSpPr>
        <p:spPr>
          <a:xfrm>
            <a:off x="6903720" y="1463040"/>
            <a:ext cx="4480560" cy="365760"/>
          </a:xfrm>
          <a:prstGeom prst="rect">
            <a:avLst/>
          </a:prstGeom>
          <a:noFill/>
          <a:ln/>
        </p:spPr>
        <p:txBody>
          <a:bodyPr wrap="square" lIns="0" tIns="0" rIns="0" bIns="0" rtlCol="0" anchor="ctr"/>
          <a:lstStyle/>
          <a:p>
            <a:pPr indent="0" marL="0">
              <a:buNone/>
            </a:pPr>
            <a:r>
              <a:rPr lang="en-US" sz="1600" b="1" dirty="0">
                <a:solidFill>
                  <a:srgbClr val="0B1D3A"/>
                </a:solidFill>
                <a:latin typeface="Arial" pitchFamily="34" charset="0"/>
                <a:ea typeface="Arial" pitchFamily="34" charset="-122"/>
                <a:cs typeface="Arial" pitchFamily="34" charset="-120"/>
              </a:rPr>
              <a:t>Lecture de la matrice</a:t>
            </a:r>
            <a:endParaRPr lang="en-US" sz="1600" dirty="0"/>
          </a:p>
        </p:txBody>
      </p:sp>
      <p:sp>
        <p:nvSpPr>
          <p:cNvPr id="6" name="Text 3"/>
          <p:cNvSpPr txBox="1"/>
          <p:nvPr/>
        </p:nvSpPr>
        <p:spPr>
          <a:xfrm>
            <a:off x="6858000" y="1874520"/>
            <a:ext cx="4572000" cy="4069080"/>
          </a:xfrm>
          <a:prstGeom prst="rect">
            <a:avLst/>
          </a:prstGeom>
          <a:noFill/>
          <a:ln/>
        </p:spPr>
        <p:txBody>
          <a:bodyPr wrap="square" lIns="50800" tIns="50800" rIns="50800" bIns="50800" rtlCol="0" anchor="t"/>
          <a:lstStyle/>
          <a:p>
            <a:pPr marL="228600" indent="-228600">
              <a:spcAft>
                <a:spcPts val="600"/>
              </a:spcAft>
              <a:buSzPct val="100000"/>
              <a:buChar char="•"/>
            </a:pPr>
            <a:r>
              <a:rPr lang="en-US" sz="1400" b="1" dirty="0">
                <a:solidFill>
                  <a:srgbClr val="1F2937"/>
                </a:solidFill>
                <a:latin typeface="Calibri" pitchFamily="34" charset="0"/>
                <a:ea typeface="Calibri" pitchFamily="34" charset="-122"/>
                <a:cs typeface="Calibri" pitchFamily="34" charset="-120"/>
              </a:rPr>
              <a:t>Vrais positifs : </a:t>
            </a:r>
            <a:pPr indent="0" marL="0">
              <a:buNone/>
            </a:pPr>
            <a:r>
              <a:rPr lang="en-US" sz="1400" dirty="0">
                <a:solidFill>
                  <a:srgbClr val="1F2937"/>
                </a:solidFill>
                <a:latin typeface="Calibri" pitchFamily="34" charset="0"/>
                <a:ea typeface="Calibri" pitchFamily="34" charset="-122"/>
                <a:cs typeface="Calibri" pitchFamily="34" charset="-120"/>
              </a:rPr>
              <a:t>12 atterrissages bien prédits</a:t>
            </a:r>
            <a:endParaRPr lang="en-US" sz="1400" dirty="0"/>
          </a:p>
          <a:p>
            <a:pPr marL="228600" indent="-228600">
              <a:spcAft>
                <a:spcPts val="600"/>
              </a:spcAft>
              <a:buSzPct val="100000"/>
              <a:buChar char="•"/>
            </a:pPr>
            <a:r>
              <a:rPr lang="en-US" sz="1400" b="1" dirty="0">
                <a:solidFill>
                  <a:srgbClr val="1F2937"/>
                </a:solidFill>
                <a:latin typeface="Calibri" pitchFamily="34" charset="0"/>
                <a:ea typeface="Calibri" pitchFamily="34" charset="-122"/>
                <a:cs typeface="Calibri" pitchFamily="34" charset="-120"/>
              </a:rPr>
              <a:t>Vrais négatifs : </a:t>
            </a:r>
            <a:pPr indent="0" marL="0">
              <a:buNone/>
            </a:pPr>
            <a:r>
              <a:rPr lang="en-US" sz="1400" dirty="0">
                <a:solidFill>
                  <a:srgbClr val="1F2937"/>
                </a:solidFill>
                <a:latin typeface="Calibri" pitchFamily="34" charset="0"/>
                <a:ea typeface="Calibri" pitchFamily="34" charset="-122"/>
                <a:cs typeface="Calibri" pitchFamily="34" charset="-120"/>
              </a:rPr>
              <a:t>3 échecs bien prédits</a:t>
            </a:r>
            <a:endParaRPr lang="en-US" sz="1400" dirty="0"/>
          </a:p>
          <a:p>
            <a:pPr marL="228600" indent="-228600">
              <a:spcAft>
                <a:spcPts val="600"/>
              </a:spcAft>
              <a:buSzPct val="100000"/>
              <a:buChar char="•"/>
            </a:pPr>
            <a:r>
              <a:rPr lang="en-US" sz="1400" b="1" dirty="0">
                <a:solidFill>
                  <a:srgbClr val="1F2937"/>
                </a:solidFill>
                <a:latin typeface="Calibri" pitchFamily="34" charset="0"/>
                <a:ea typeface="Calibri" pitchFamily="34" charset="-122"/>
                <a:cs typeface="Calibri" pitchFamily="34" charset="-120"/>
              </a:rPr>
              <a:t>Faux positifs : </a:t>
            </a:r>
            <a:pPr indent="0" marL="0">
              <a:buNone/>
            </a:pPr>
            <a:r>
              <a:rPr lang="en-US" sz="1400" dirty="0">
                <a:solidFill>
                  <a:srgbClr val="1F2937"/>
                </a:solidFill>
                <a:latin typeface="Calibri" pitchFamily="34" charset="0"/>
                <a:ea typeface="Calibri" pitchFamily="34" charset="-122"/>
                <a:cs typeface="Calibri" pitchFamily="34" charset="-120"/>
              </a:rPr>
              <a:t>3 échecs prédits à tort comme réussis</a:t>
            </a:r>
            <a:endParaRPr lang="en-US" sz="1400" dirty="0"/>
          </a:p>
          <a:p>
            <a:pPr marL="228600" indent="-228600">
              <a:spcAft>
                <a:spcPts val="600"/>
              </a:spcAft>
              <a:buSzPct val="100000"/>
              <a:buChar char="•"/>
            </a:pPr>
            <a:r>
              <a:rPr lang="en-US" sz="1400" b="1" dirty="0">
                <a:solidFill>
                  <a:srgbClr val="1F2937"/>
                </a:solidFill>
                <a:latin typeface="Calibri" pitchFamily="34" charset="0"/>
                <a:ea typeface="Calibri" pitchFamily="34" charset="-122"/>
                <a:cs typeface="Calibri" pitchFamily="34" charset="-120"/>
              </a:rPr>
              <a:t>Faux négatifs : </a:t>
            </a:r>
            <a:pPr indent="0" marL="0">
              <a:buNone/>
            </a:pPr>
            <a:r>
              <a:rPr lang="en-US" sz="1400" dirty="0">
                <a:solidFill>
                  <a:srgbClr val="1F2937"/>
                </a:solidFill>
                <a:latin typeface="Calibri" pitchFamily="34" charset="0"/>
                <a:ea typeface="Calibri" pitchFamily="34" charset="-122"/>
                <a:cs typeface="Calibri" pitchFamily="34" charset="-120"/>
              </a:rPr>
              <a:t>0</a:t>
            </a:r>
            <a:endParaRPr lang="en-US" sz="1400" dirty="0"/>
          </a:p>
          <a:p>
            <a:pPr marL="228600" indent="-2286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Le modèle repère tous les succès ; sa faiblesse, ce sont les faux positifs. Les 4 modèles ont exactement la même matrice sur le test.</a:t>
            </a:r>
            <a:endParaRPr lang="en-US" sz="14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rgbClr val="0B1D3A"/>
                </a:solidFill>
                <a:latin typeface="Arial" pitchFamily="34" charset="0"/>
                <a:ea typeface="Arial" pitchFamily="34" charset="-122"/>
                <a:cs typeface="Arial" pitchFamily="34" charset="-120"/>
              </a:rPr>
              <a:t>Conclusion</a:t>
            </a:r>
            <a:endParaRPr lang="en-US" sz="3000" dirty="0"/>
          </a:p>
        </p:txBody>
      </p:sp>
      <p:sp>
        <p:nvSpPr>
          <p:cNvPr id="3" name="Text 1"/>
          <p:cNvSpPr txBox="1"/>
          <p:nvPr/>
        </p:nvSpPr>
        <p:spPr>
          <a:xfrm>
            <a:off x="548640" y="1234440"/>
            <a:ext cx="6583680" cy="4846320"/>
          </a:xfrm>
          <a:prstGeom prst="rect">
            <a:avLst/>
          </a:prstGeom>
          <a:noFill/>
          <a:ln/>
        </p:spPr>
        <p:txBody>
          <a:bodyPr wrap="square" lIns="50800" tIns="50800" rIns="50800" bIns="50800" rtlCol="0" anchor="t"/>
          <a:lstStyle/>
          <a:p>
            <a:pPr marL="228600" indent="-228600">
              <a:spcAft>
                <a:spcPts val="1000"/>
              </a:spcAft>
              <a:buSzPct val="100000"/>
              <a:buChar char="•"/>
            </a:pPr>
            <a:r>
              <a:rPr lang="en-US" sz="1500" b="1" dirty="0">
                <a:solidFill>
                  <a:srgbClr val="1F2937"/>
                </a:solidFill>
                <a:latin typeface="Calibri" pitchFamily="34" charset="0"/>
                <a:ea typeface="Calibri" pitchFamily="34" charset="-122"/>
                <a:cs typeface="Calibri" pitchFamily="34" charset="-120"/>
              </a:rPr>
              <a:t>Expérience : </a:t>
            </a:r>
            <a:pPr indent="0" marL="0">
              <a:buNone/>
            </a:pPr>
            <a:r>
              <a:rPr lang="en-US" sz="1500" dirty="0">
                <a:solidFill>
                  <a:srgbClr val="1F2937"/>
                </a:solidFill>
                <a:latin typeface="Calibri" pitchFamily="34" charset="0"/>
                <a:ea typeface="Calibri" pitchFamily="34" charset="-122"/>
                <a:cs typeface="Calibri" pitchFamily="34" charset="-120"/>
              </a:rPr>
              <a:t>le taux de succès passe de 0 % (2010-2013) à 90 % (2019). Plus SpaceX vole, plus elle réussit</a:t>
            </a:r>
            <a:endParaRPr lang="en-US" sz="1500" dirty="0"/>
          </a:p>
          <a:p>
            <a:pPr marL="228600" indent="-228600">
              <a:spcAft>
                <a:spcPts val="1000"/>
              </a:spcAft>
              <a:buSzPct val="100000"/>
              <a:buChar char="•"/>
            </a:pPr>
            <a:r>
              <a:rPr lang="en-US" sz="1500" b="1" dirty="0">
                <a:solidFill>
                  <a:srgbClr val="1F2937"/>
                </a:solidFill>
                <a:latin typeface="Calibri" pitchFamily="34" charset="0"/>
                <a:ea typeface="Calibri" pitchFamily="34" charset="-122"/>
                <a:cs typeface="Calibri" pitchFamily="34" charset="-120"/>
              </a:rPr>
              <a:t>Site : </a:t>
            </a:r>
            <a:pPr indent="0" marL="0">
              <a:buNone/>
            </a:pPr>
            <a:r>
              <a:rPr lang="en-US" sz="1500" dirty="0">
                <a:solidFill>
                  <a:srgbClr val="1F2937"/>
                </a:solidFill>
                <a:latin typeface="Calibri" pitchFamily="34" charset="0"/>
                <a:ea typeface="Calibri" pitchFamily="34" charset="-122"/>
                <a:cs typeface="Calibri" pitchFamily="34" charset="-120"/>
              </a:rPr>
              <a:t>KSC LC-39A a le meilleur taux de succès (76,9 %) ; tous les sites sont près des côtes et loin des villes</a:t>
            </a:r>
            <a:endParaRPr lang="en-US" sz="1500" dirty="0"/>
          </a:p>
          <a:p>
            <a:pPr marL="228600" indent="-228600">
              <a:spcAft>
                <a:spcPts val="1000"/>
              </a:spcAft>
              <a:buSzPct val="100000"/>
              <a:buChar char="•"/>
            </a:pPr>
            <a:r>
              <a:rPr lang="en-US" sz="1500" b="1" dirty="0">
                <a:solidFill>
                  <a:srgbClr val="1F2937"/>
                </a:solidFill>
                <a:latin typeface="Calibri" pitchFamily="34" charset="0"/>
                <a:ea typeface="Calibri" pitchFamily="34" charset="-122"/>
                <a:cs typeface="Calibri" pitchFamily="34" charset="-120"/>
              </a:rPr>
              <a:t>Orbite : </a:t>
            </a:r>
            <a:pPr indent="0" marL="0">
              <a:buNone/>
            </a:pPr>
            <a:r>
              <a:rPr lang="en-US" sz="1500" dirty="0">
                <a:solidFill>
                  <a:srgbClr val="1F2937"/>
                </a:solidFill>
                <a:latin typeface="Calibri" pitchFamily="34" charset="0"/>
                <a:ea typeface="Calibri" pitchFamily="34" charset="-122"/>
                <a:cs typeface="Calibri" pitchFamily="34" charset="-120"/>
              </a:rPr>
              <a:t>ES-L1, GEO, HEO, SSO et VLEO réussissent le mieux ; GTO reste la plus difficile (52 %)</a:t>
            </a:r>
            <a:endParaRPr lang="en-US" sz="1500" dirty="0"/>
          </a:p>
          <a:p>
            <a:pPr marL="228600" indent="-228600">
              <a:spcAft>
                <a:spcPts val="1000"/>
              </a:spcAft>
              <a:buSzPct val="100000"/>
              <a:buChar char="•"/>
            </a:pPr>
            <a:r>
              <a:rPr lang="en-US" sz="1500" b="1" dirty="0">
                <a:solidFill>
                  <a:srgbClr val="1F2937"/>
                </a:solidFill>
                <a:latin typeface="Calibri" pitchFamily="34" charset="0"/>
                <a:ea typeface="Calibri" pitchFamily="34" charset="-122"/>
                <a:cs typeface="Calibri" pitchFamily="34" charset="-120"/>
              </a:rPr>
              <a:t>Charge utile : </a:t>
            </a:r>
            <a:pPr indent="0" marL="0">
              <a:buNone/>
            </a:pPr>
            <a:r>
              <a:rPr lang="en-US" sz="1500" dirty="0">
                <a:solidFill>
                  <a:srgbClr val="1F2937"/>
                </a:solidFill>
                <a:latin typeface="Calibri" pitchFamily="34" charset="0"/>
                <a:ea typeface="Calibri" pitchFamily="34" charset="-122"/>
                <a:cs typeface="Calibri" pitchFamily="34" charset="-120"/>
              </a:rPr>
              <a:t>2 000 à 4 000 kg est la plage la plus favorable ; le booster FT surpasse les anciennes versions</a:t>
            </a:r>
            <a:endParaRPr lang="en-US" sz="1500" dirty="0"/>
          </a:p>
          <a:p>
            <a:pPr marL="228600" indent="-228600">
              <a:spcAft>
                <a:spcPts val="1000"/>
              </a:spcAft>
              <a:buSzPct val="100000"/>
              <a:buChar char="•"/>
            </a:pPr>
            <a:r>
              <a:rPr lang="en-US" sz="1500" b="1" dirty="0">
                <a:solidFill>
                  <a:srgbClr val="1F2937"/>
                </a:solidFill>
                <a:latin typeface="Calibri" pitchFamily="34" charset="0"/>
                <a:ea typeface="Calibri" pitchFamily="34" charset="-122"/>
                <a:cs typeface="Calibri" pitchFamily="34" charset="-120"/>
              </a:rPr>
              <a:t>Modèle : </a:t>
            </a:r>
            <a:pPr indent="0" marL="0">
              <a:buNone/>
            </a:pPr>
            <a:r>
              <a:rPr lang="en-US" sz="1500" dirty="0">
                <a:solidFill>
                  <a:srgbClr val="1F2937"/>
                </a:solidFill>
                <a:latin typeface="Calibri" pitchFamily="34" charset="0"/>
                <a:ea typeface="Calibri" pitchFamily="34" charset="-122"/>
                <a:cs typeface="Calibri" pitchFamily="34" charset="-120"/>
              </a:rPr>
              <a:t>l'arbre de décision est retenu (86,3 % en validation croisée, 83,3 % sur le test). Il permet d'estimer si le premier étage sera récupéré, donc le coût d'un lancement</a:t>
            </a:r>
            <a:endParaRPr lang="en-US" sz="1500" dirty="0"/>
          </a:p>
        </p:txBody>
      </p:sp>
      <p:sp>
        <p:nvSpPr>
          <p:cNvPr id="4" name="Shape 2"/>
          <p:cNvSpPr/>
          <p:nvPr/>
        </p:nvSpPr>
        <p:spPr>
          <a:xfrm>
            <a:off x="7498080" y="1325880"/>
            <a:ext cx="4114800" cy="4754880"/>
          </a:xfrm>
          <a:prstGeom prst="roundRect">
            <a:avLst>
              <a:gd name="adj" fmla="val 1778"/>
            </a:avLst>
          </a:prstGeom>
          <a:solidFill>
            <a:srgbClr val="EEF2F7"/>
          </a:solidFill>
          <a:ln w="12700">
            <a:solidFill>
              <a:srgbClr val="EEF2F7"/>
            </a:solidFill>
            <a:prstDash val="solid"/>
          </a:ln>
        </p:spPr>
      </p:sp>
      <p:sp>
        <p:nvSpPr>
          <p:cNvPr id="5" name="Text 3"/>
          <p:cNvSpPr txBox="1"/>
          <p:nvPr/>
        </p:nvSpPr>
        <p:spPr>
          <a:xfrm>
            <a:off x="7726680" y="1463040"/>
            <a:ext cx="3657600" cy="365760"/>
          </a:xfrm>
          <a:prstGeom prst="rect">
            <a:avLst/>
          </a:prstGeom>
          <a:noFill/>
          <a:ln/>
        </p:spPr>
        <p:txBody>
          <a:bodyPr wrap="square" lIns="0" tIns="0" rIns="0" bIns="0" rtlCol="0" anchor="ctr"/>
          <a:lstStyle/>
          <a:p>
            <a:pPr indent="0" marL="0">
              <a:buNone/>
            </a:pPr>
            <a:r>
              <a:rPr lang="en-US" sz="1600" b="1" dirty="0">
                <a:solidFill>
                  <a:srgbClr val="E8590C"/>
                </a:solidFill>
                <a:latin typeface="Arial" pitchFamily="34" charset="0"/>
                <a:ea typeface="Arial" pitchFamily="34" charset="-122"/>
                <a:cs typeface="Arial" pitchFamily="34" charset="-120"/>
              </a:rPr>
              <a:t>Idées pour aller plus loin</a:t>
            </a:r>
            <a:endParaRPr lang="en-US" sz="1600" dirty="0"/>
          </a:p>
        </p:txBody>
      </p:sp>
      <p:sp>
        <p:nvSpPr>
          <p:cNvPr id="6" name="Text 4"/>
          <p:cNvSpPr txBox="1"/>
          <p:nvPr/>
        </p:nvSpPr>
        <p:spPr>
          <a:xfrm>
            <a:off x="7680960" y="1874520"/>
            <a:ext cx="3794760" cy="4114800"/>
          </a:xfrm>
          <a:prstGeom prst="rect">
            <a:avLst/>
          </a:prstGeom>
          <a:noFill/>
          <a:ln/>
        </p:spPr>
        <p:txBody>
          <a:bodyPr wrap="square" lIns="50800" tIns="50800" rIns="50800" bIns="50800" rtlCol="0" anchor="t"/>
          <a:lstStyle/>
          <a:p>
            <a:pPr marL="228600" indent="-228600">
              <a:spcAft>
                <a:spcPts val="800"/>
              </a:spcAft>
              <a:buSzPct val="100000"/>
              <a:buChar char="•"/>
            </a:pPr>
            <a:r>
              <a:rPr lang="en-US" sz="1400" b="1" dirty="0">
                <a:solidFill>
                  <a:srgbClr val="1F2937"/>
                </a:solidFill>
                <a:latin typeface="Calibri" pitchFamily="34" charset="0"/>
                <a:ea typeface="Calibri" pitchFamily="34" charset="-122"/>
                <a:cs typeface="Calibri" pitchFamily="34" charset="-120"/>
              </a:rPr>
              <a:t>Outil d'enchère pour Space Y : </a:t>
            </a:r>
            <a:pPr indent="0" marL="0">
              <a:buNone/>
            </a:pPr>
            <a:r>
              <a:rPr lang="en-US" sz="1400" dirty="0">
                <a:solidFill>
                  <a:srgbClr val="1F2937"/>
                </a:solidFill>
                <a:latin typeface="Calibri" pitchFamily="34" charset="0"/>
                <a:ea typeface="Calibri" pitchFamily="34" charset="-122"/>
                <a:cs typeface="Calibri" pitchFamily="34" charset="-120"/>
              </a:rPr>
              <a:t>coût estimé = probabilité d'atterrissage × économie de réutilisation</a:t>
            </a:r>
            <a:endParaRPr lang="en-US" sz="1400" dirty="0"/>
          </a:p>
          <a:p>
            <a:pPr marL="228600" indent="-228600">
              <a:spcAft>
                <a:spcPts val="800"/>
              </a:spcAft>
              <a:buSzPct val="100000"/>
              <a:buChar char="•"/>
            </a:pPr>
            <a:r>
              <a:rPr lang="en-US" sz="1400" b="1" dirty="0">
                <a:solidFill>
                  <a:srgbClr val="1F2937"/>
                </a:solidFill>
                <a:latin typeface="Calibri" pitchFamily="34" charset="0"/>
                <a:ea typeface="Calibri" pitchFamily="34" charset="-122"/>
                <a:cs typeface="Calibri" pitchFamily="34" charset="-120"/>
              </a:rPr>
              <a:t>Plus de données : </a:t>
            </a:r>
            <a:pPr indent="0" marL="0">
              <a:buNone/>
            </a:pPr>
            <a:r>
              <a:rPr lang="en-US" sz="1400" dirty="0">
                <a:solidFill>
                  <a:srgbClr val="1F2937"/>
                </a:solidFill>
                <a:latin typeface="Calibri" pitchFamily="34" charset="0"/>
                <a:ea typeface="Calibri" pitchFamily="34" charset="-122"/>
                <a:cs typeface="Calibri" pitchFamily="34" charset="-120"/>
              </a:rPr>
              <a:t>lancements après 2020, météo, nombre de réutilisations du booster</a:t>
            </a:r>
            <a:endParaRPr lang="en-US" sz="1400" dirty="0"/>
          </a:p>
          <a:p>
            <a:pPr marL="228600" indent="-228600">
              <a:spcAft>
                <a:spcPts val="800"/>
              </a:spcAft>
              <a:buSzPct val="100000"/>
              <a:buChar char="•"/>
            </a:pPr>
            <a:r>
              <a:rPr lang="en-US" sz="1400" b="1" dirty="0">
                <a:solidFill>
                  <a:srgbClr val="1F2937"/>
                </a:solidFill>
                <a:latin typeface="Calibri" pitchFamily="34" charset="0"/>
                <a:ea typeface="Calibri" pitchFamily="34" charset="-122"/>
                <a:cs typeface="Calibri" pitchFamily="34" charset="-120"/>
              </a:rPr>
              <a:t>Modèles plus robustes : </a:t>
            </a:r>
            <a:pPr indent="0" marL="0">
              <a:buNone/>
            </a:pPr>
            <a:r>
              <a:rPr lang="en-US" sz="1400" dirty="0">
                <a:solidFill>
                  <a:srgbClr val="1F2937"/>
                </a:solidFill>
                <a:latin typeface="Calibri" pitchFamily="34" charset="0"/>
                <a:ea typeface="Calibri" pitchFamily="34" charset="-122"/>
                <a:cs typeface="Calibri" pitchFamily="34" charset="-120"/>
              </a:rPr>
              <a:t>forêt aléatoire, XGBoost, mesures F1 et ROC-AUC</a:t>
            </a:r>
            <a:endParaRPr lang="en-US" sz="1400" dirty="0"/>
          </a:p>
          <a:p>
            <a:pPr marL="228600" indent="-228600">
              <a:spcAft>
                <a:spcPts val="800"/>
              </a:spcAft>
              <a:buSzPct val="100000"/>
              <a:buChar char="•"/>
            </a:pPr>
            <a:r>
              <a:rPr lang="en-US" sz="1400" b="1" dirty="0">
                <a:solidFill>
                  <a:srgbClr val="1F2937"/>
                </a:solidFill>
                <a:latin typeface="Calibri" pitchFamily="34" charset="0"/>
                <a:ea typeface="Calibri" pitchFamily="34" charset="-122"/>
                <a:cs typeface="Calibri" pitchFamily="34" charset="-120"/>
              </a:rPr>
              <a:t>Prédiction en direct : </a:t>
            </a:r>
            <a:pPr indent="0" marL="0">
              <a:buNone/>
            </a:pPr>
            <a:r>
              <a:rPr lang="en-US" sz="1400" dirty="0">
                <a:solidFill>
                  <a:srgbClr val="1F2937"/>
                </a:solidFill>
                <a:latin typeface="Calibri" pitchFamily="34" charset="0"/>
                <a:ea typeface="Calibri" pitchFamily="34" charset="-122"/>
                <a:cs typeface="Calibri" pitchFamily="34" charset="-120"/>
              </a:rPr>
              <a:t>ajouter le modèle au dashboard Dash</a:t>
            </a:r>
            <a:endParaRPr lang="en-US" sz="14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body" hasCustomPrompt="1"/>
          </p:nvPr>
        </p:nvSpPr>
        <p:spPr>
          <a:xfrm>
            <a:off x="731520" y="2103120"/>
            <a:ext cx="8229600" cy="548640"/>
          </a:xfrm>
          <a:prstGeom prst="rect">
            <a:avLst/>
          </a:prstGeom>
          <a:noFill/>
          <a:ln/>
        </p:spPr>
        <p:txBody>
          <a:bodyPr wrap="square" rtlCol="0" anchor="b"/>
          <a:lstStyle/>
          <a:p>
            <a:pPr algn="l" indent="0" marL="0">
              <a:buNone/>
            </a:pPr>
            <a:r>
              <a:rPr lang="en-US" sz="1800" b="1" dirty="0">
                <a:solidFill>
                  <a:srgbClr val="E8590C"/>
                </a:solidFill>
              </a:rPr>
              <a:t>Annexe</a:t>
            </a:r>
            <a:endParaRPr lang="en-US" sz="1800" dirty="0"/>
          </a:p>
        </p:txBody>
      </p:sp>
      <p:sp>
        <p:nvSpPr>
          <p:cNvPr id="3" name="Text 0"/>
          <p:cNvSpPr/>
          <p:nvPr>
            <p:ph idx="101" type="title" hasCustomPrompt="1"/>
          </p:nvPr>
        </p:nvSpPr>
        <p:spPr>
          <a:xfrm>
            <a:off x="731520" y="2697480"/>
            <a:ext cx="10698480" cy="1280160"/>
          </a:xfrm>
          <a:prstGeom prst="rect">
            <a:avLst/>
          </a:prstGeom>
          <a:noFill/>
          <a:ln/>
        </p:spPr>
        <p:txBody>
          <a:bodyPr wrap="square" rtlCol="0" anchor="t"/>
          <a:lstStyle/>
          <a:p>
            <a:pPr algn="l" indent="0" marL="0">
              <a:buNone/>
            </a:pPr>
            <a:r>
              <a:rPr lang="en-US" sz="4000" b="1" dirty="0">
                <a:solidFill>
                  <a:srgbClr val="FFFFFF"/>
                </a:solidFill>
                <a:latin typeface="Arial" pitchFamily="34" charset="0"/>
                <a:ea typeface="Arial" pitchFamily="34" charset="-122"/>
                <a:cs typeface="Arial" pitchFamily="34" charset="-120"/>
              </a:rPr>
              <a:t>Graphiques complémentaires</a:t>
            </a:r>
            <a:endParaRPr lang="en-US" sz="4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rgbClr val="0B1D3A"/>
                </a:solidFill>
                <a:latin typeface="Arial" pitchFamily="34" charset="0"/>
                <a:ea typeface="Arial" pitchFamily="34" charset="-122"/>
                <a:cs typeface="Arial" pitchFamily="34" charset="-120"/>
              </a:rPr>
              <a:t>Annexe — Numéro de vol × masse de la charge utile</a:t>
            </a:r>
            <a:endParaRPr lang="en-US" sz="3000" dirty="0"/>
          </a:p>
        </p:txBody>
      </p:sp>
      <p:pic>
        <p:nvPicPr>
          <p:cNvPr id="3" name="Image 0" descr="C:/Users/enangue/Desktop/SpaceX-Capstone/images/eda_19.png">    </p:cNvPr>
          <p:cNvPicPr>
            <a:picLocks noChangeAspect="1"/>
          </p:cNvPicPr>
          <p:nvPr/>
        </p:nvPicPr>
        <p:blipFill>
          <a:blip r:embed="rId1"/>
          <a:stretch>
            <a:fillRect/>
          </a:stretch>
        </p:blipFill>
        <p:spPr>
          <a:xfrm>
            <a:off x="548640" y="1339571"/>
            <a:ext cx="11064240" cy="2167178"/>
          </a:xfrm>
          <a:prstGeom prst="rect">
            <a:avLst/>
          </a:prstGeom>
        </p:spPr>
      </p:pic>
      <p:sp>
        <p:nvSpPr>
          <p:cNvPr id="4" name="Shape 1"/>
          <p:cNvSpPr/>
          <p:nvPr/>
        </p:nvSpPr>
        <p:spPr>
          <a:xfrm>
            <a:off x="548640" y="3794760"/>
            <a:ext cx="11064240" cy="2331720"/>
          </a:xfrm>
          <a:prstGeom prst="roundRect">
            <a:avLst>
              <a:gd name="adj" fmla="val 3137"/>
            </a:avLst>
          </a:prstGeom>
          <a:solidFill>
            <a:srgbClr val="EEF2F7"/>
          </a:solidFill>
          <a:ln w="12700">
            <a:solidFill>
              <a:srgbClr val="EEF2F7"/>
            </a:solidFill>
            <a:prstDash val="solid"/>
          </a:ln>
        </p:spPr>
      </p:sp>
      <p:sp>
        <p:nvSpPr>
          <p:cNvPr id="5" name="Text 2"/>
          <p:cNvSpPr txBox="1"/>
          <p:nvPr/>
        </p:nvSpPr>
        <p:spPr>
          <a:xfrm>
            <a:off x="777240" y="3931920"/>
            <a:ext cx="10607040" cy="365760"/>
          </a:xfrm>
          <a:prstGeom prst="rect">
            <a:avLst/>
          </a:prstGeom>
          <a:noFill/>
          <a:ln/>
        </p:spPr>
        <p:txBody>
          <a:bodyPr wrap="square" lIns="0" tIns="0" rIns="0" bIns="0" rtlCol="0" anchor="ctr"/>
          <a:lstStyle/>
          <a:p>
            <a:pPr indent="0" marL="0">
              <a:buNone/>
            </a:pPr>
            <a:r>
              <a:rPr lang="en-US" sz="1600" b="1" dirty="0">
                <a:solidFill>
                  <a:srgbClr val="0B1D3A"/>
                </a:solidFill>
                <a:latin typeface="Arial" pitchFamily="34" charset="0"/>
                <a:ea typeface="Arial" pitchFamily="34" charset="-122"/>
                <a:cs typeface="Arial" pitchFamily="34" charset="-120"/>
              </a:rPr>
              <a:t>Ce que l'on observe</a:t>
            </a:r>
            <a:endParaRPr lang="en-US" sz="1600" dirty="0"/>
          </a:p>
        </p:txBody>
      </p:sp>
      <p:sp>
        <p:nvSpPr>
          <p:cNvPr id="6" name="Text 3"/>
          <p:cNvSpPr txBox="1"/>
          <p:nvPr/>
        </p:nvSpPr>
        <p:spPr>
          <a:xfrm>
            <a:off x="731520" y="4343400"/>
            <a:ext cx="10698480" cy="1645920"/>
          </a:xfrm>
          <a:prstGeom prst="rect">
            <a:avLst/>
          </a:prstGeom>
          <a:noFill/>
          <a:ln/>
        </p:spPr>
        <p:txBody>
          <a:bodyPr wrap="square" lIns="50800" tIns="50800" rIns="50800" bIns="50800" rtlCol="0" anchor="t"/>
          <a:lstStyle/>
          <a:p>
            <a:pPr marL="228600" indent="-2286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Plus le numéro de vol augmente, plus le premier étage atterrit avec succès</a:t>
            </a:r>
            <a:endParaRPr lang="en-US" sz="1400" dirty="0"/>
          </a:p>
          <a:p>
            <a:pPr marL="228600" indent="-2286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Les charges lourdes ne sont pas un obstacle pour les vols récents</a:t>
            </a:r>
            <a:endParaRPr lang="en-US" sz="14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rgbClr val="0B1D3A"/>
                </a:solidFill>
                <a:latin typeface="Arial" pitchFamily="34" charset="0"/>
                <a:ea typeface="Arial" pitchFamily="34" charset="-122"/>
                <a:cs typeface="Arial" pitchFamily="34" charset="-120"/>
              </a:rPr>
              <a:t>Annexe — Matrices de confusion des 4 modèles</a:t>
            </a:r>
            <a:endParaRPr lang="en-US" sz="3000" dirty="0"/>
          </a:p>
        </p:txBody>
      </p:sp>
      <p:pic>
        <p:nvPicPr>
          <p:cNvPr id="3" name="Image 0" descr="C:/Users/enangue/Desktop/SpaceX-Capstone/images/cm_Logistic_Regression.png">    </p:cNvPr>
          <p:cNvPicPr>
            <a:picLocks noChangeAspect="1"/>
          </p:cNvPicPr>
          <p:nvPr/>
        </p:nvPicPr>
        <p:blipFill>
          <a:blip r:embed="rId1"/>
          <a:stretch>
            <a:fillRect/>
          </a:stretch>
        </p:blipFill>
        <p:spPr>
          <a:xfrm>
            <a:off x="548640" y="2029968"/>
            <a:ext cx="2697480" cy="2157984"/>
          </a:xfrm>
          <a:prstGeom prst="rect">
            <a:avLst/>
          </a:prstGeom>
        </p:spPr>
      </p:pic>
      <p:pic>
        <p:nvPicPr>
          <p:cNvPr id="4" name="Image 1" descr="C:/Users/enangue/Desktop/SpaceX-Capstone/images/cm_SVM.png">    </p:cNvPr>
          <p:cNvPicPr>
            <a:picLocks noChangeAspect="1"/>
          </p:cNvPicPr>
          <p:nvPr/>
        </p:nvPicPr>
        <p:blipFill>
          <a:blip r:embed="rId2"/>
          <a:stretch>
            <a:fillRect/>
          </a:stretch>
        </p:blipFill>
        <p:spPr>
          <a:xfrm>
            <a:off x="3337560" y="2029968"/>
            <a:ext cx="2697480" cy="2157984"/>
          </a:xfrm>
          <a:prstGeom prst="rect">
            <a:avLst/>
          </a:prstGeom>
        </p:spPr>
      </p:pic>
      <p:pic>
        <p:nvPicPr>
          <p:cNvPr id="5" name="Image 2" descr="C:/Users/enangue/Desktop/SpaceX-Capstone/images/cm_Decision_Tree.png">    </p:cNvPr>
          <p:cNvPicPr>
            <a:picLocks noChangeAspect="1"/>
          </p:cNvPicPr>
          <p:nvPr/>
        </p:nvPicPr>
        <p:blipFill>
          <a:blip r:embed="rId3"/>
          <a:stretch>
            <a:fillRect/>
          </a:stretch>
        </p:blipFill>
        <p:spPr>
          <a:xfrm>
            <a:off x="6126480" y="2029968"/>
            <a:ext cx="2697480" cy="2157984"/>
          </a:xfrm>
          <a:prstGeom prst="rect">
            <a:avLst/>
          </a:prstGeom>
        </p:spPr>
      </p:pic>
      <p:pic>
        <p:nvPicPr>
          <p:cNvPr id="6" name="Image 3" descr="C:/Users/enangue/Desktop/SpaceX-Capstone/images/cm_KNN.png">    </p:cNvPr>
          <p:cNvPicPr>
            <a:picLocks noChangeAspect="1"/>
          </p:cNvPicPr>
          <p:nvPr/>
        </p:nvPicPr>
        <p:blipFill>
          <a:blip r:embed="rId4"/>
          <a:stretch>
            <a:fillRect/>
          </a:stretch>
        </p:blipFill>
        <p:spPr>
          <a:xfrm>
            <a:off x="8915400" y="2029968"/>
            <a:ext cx="2697480" cy="2157984"/>
          </a:xfrm>
          <a:prstGeom prst="rect">
            <a:avLst/>
          </a:prstGeom>
        </p:spPr>
      </p:pic>
      <p:sp>
        <p:nvSpPr>
          <p:cNvPr id="7" name="Text 1"/>
          <p:cNvSpPr txBox="1"/>
          <p:nvPr/>
        </p:nvSpPr>
        <p:spPr>
          <a:xfrm>
            <a:off x="548640" y="5029200"/>
            <a:ext cx="11064240" cy="548640"/>
          </a:xfrm>
          <a:prstGeom prst="rect">
            <a:avLst/>
          </a:prstGeom>
          <a:noFill/>
          <a:ln/>
        </p:spPr>
        <p:txBody>
          <a:bodyPr wrap="square" rtlCol="0" anchor="t"/>
          <a:lstStyle/>
          <a:p>
            <a:pPr indent="0" marL="0">
              <a:buNone/>
            </a:pPr>
            <a:r>
              <a:rPr lang="en-US" sz="1500" dirty="0">
                <a:solidFill>
                  <a:srgbClr val="1F2937"/>
                </a:solidFill>
                <a:latin typeface="Calibri" pitchFamily="34" charset="0"/>
                <a:ea typeface="Calibri" pitchFamily="34" charset="-122"/>
                <a:cs typeface="Calibri" pitchFamily="34" charset="-120"/>
              </a:rPr>
              <a:t>Les 4 modèles produisent la même matrice sur le jeu de test : 12 vrais positifs, 3 vrais négatifs, 3 faux positifs et 0 faux négatif.</a:t>
            </a:r>
            <a:endParaRPr lang="en-US" sz="1500" dirty="0"/>
          </a:p>
        </p:txBody>
      </p:sp>
      <p:sp>
        <p:nvSpPr>
          <p:cNvPr id="8" name="Text 2"/>
          <p:cNvSpPr txBox="1"/>
          <p:nvPr/>
        </p:nvSpPr>
        <p:spPr>
          <a:xfrm>
            <a:off x="548640" y="5715000"/>
            <a:ext cx="11064240" cy="320040"/>
          </a:xfrm>
          <a:prstGeom prst="rect">
            <a:avLst/>
          </a:prstGeom>
          <a:noFill/>
          <a:ln/>
        </p:spPr>
        <p:txBody>
          <a:bodyPr wrap="square" lIns="0" tIns="0" rIns="0" bIns="0" rtlCol="0" anchor="ctr"/>
          <a:lstStyle/>
          <a:p>
            <a:pPr indent="0" marL="0">
              <a:buNone/>
            </a:pPr>
            <a:r>
              <a:rPr lang="en-US" sz="1200" b="1" dirty="0">
                <a:solidFill>
                  <a:srgbClr val="0B1D3A"/>
                </a:solidFill>
                <a:latin typeface="Calibri" pitchFamily="34" charset="0"/>
                <a:ea typeface="Calibri" pitchFamily="34" charset="-122"/>
                <a:cs typeface="Calibri" pitchFamily="34" charset="-120"/>
              </a:rPr>
              <a:t>GitHub : </a:t>
            </a:r>
            <a:pPr indent="0" marL="0">
              <a:buNone/>
            </a:pPr>
            <a:r>
              <a:rPr lang="en-US" sz="1200" u="sng" dirty="0">
                <a:solidFill>
                  <a:srgbClr val="1D4ED8"/>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https://github.com/vanessapenda/Spacex-Capstone/blob/main/SpaceX_Machine_Learning_Prediction_Part_5.ipynb</a:t>
            </a:r>
            <a:endParaRPr lang="en-US" sz="12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47</a:t>
            </a:fld>
            <a:endParaRPr lang="en-US"/>
          </a:p>
        </p:txBody>
      </p:sp>
    </p:spTree>
  </p:cSld>
  <p:clrMapOvr>
    <a:masterClrMapping/>
  </p:clrMapOvr>
</p:sld>
</file>

<file path=ppt/theme/theme1.xml><?xml version="1.0" encoding="utf-8"?>
<a:theme xmlns:a="http://schemas.openxmlformats.org/drawingml/2006/main" name="SpaceX Capstone">
  <a:themeElements>
    <a:clrScheme name="SpaceX Capstone">
      <a:dk1>
        <a:srgbClr val="1F2937"/>
      </a:dk1>
      <a:lt1>
        <a:srgbClr val="FFFFFF"/>
      </a:lt1>
      <a:dk2>
        <a:srgbClr val="0B1D3A"/>
      </a:dk2>
      <a:lt2>
        <a:srgbClr val="EEF2F7"/>
      </a:lt2>
      <a:accent1>
        <a:srgbClr val="E8590C"/>
      </a:accent1>
      <a:accent2>
        <a:srgbClr val="3D5A80"/>
      </a:accent2>
      <a:accent3>
        <a:srgbClr val="2E7D32"/>
      </a:accent3>
      <a:accent4>
        <a:srgbClr val="C62828"/>
      </a:accent4>
      <a:accent5>
        <a:srgbClr val="98C1D9"/>
      </a:accent5>
      <a:accent6>
        <a:srgbClr val="5B6472"/>
      </a:accent6>
      <a:hlink>
        <a:srgbClr val="1D4ED8"/>
      </a:hlink>
      <a:folHlink>
        <a:srgbClr val="6D28D9"/>
      </a:folHlink>
    </a:clrScheme>
    <a:fontScheme name="SpaceX Capston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Projet Capstone SpaceX Falcon 9</dc:title>
  <dc:subject>PptxGenJS Presentation</dc:subject>
  <dc:creator>Penda Vanessa</dc:creator>
  <cp:lastModifiedBy>Penda Vanessa</cp:lastModifiedBy>
  <cp:revision>1</cp:revision>
  <dcterms:created xsi:type="dcterms:W3CDTF">2026-10-19T09:11:27Z</dcterms:created>
  <dcterms:modified xsi:type="dcterms:W3CDTF">2026-10-19T09:11:27Z</dcterms:modified>
</cp:coreProperties>
</file>