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2d26479-d644-0d99-42b2-09ec80bb9c4d}">
          <p14:sldIdLst>
            <p14:sldId id="256"/>
            <p14:sldId id="257"/>
            <p14:sldId id="258"/>
            <p14:sldId id="259"/>
          </p14:sldIdLst>
        </p14:section>
        <p14:section name="Méthodologie" id="{421c586d-a3b6-f004-e4d3-6063fbe4f737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Résultats EDA" id="{78319876-4a38-508d-8f39-82fb515ee6f4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Analytique interactive" id="{62179abb-6722-bca4-7084-4e7b2df7fb54}">
          <p14:sldIdLst>
            <p14:sldId id="274"/>
            <p14:sldId id="275"/>
            <p14:sldId id="276"/>
            <p14:sldId id="277"/>
          </p14:sldIdLst>
        </p14:section>
        <p14:section name="Analyse prédictive" id="{f6f7eb2a-d67f-3be2-70a2-6efa841b8bfd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D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D3A"/>
                </a:solidFill>
                <a:latin typeface="+mn-lt"/>
              </a:rPr>
              <a:t>Précision de classification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croisée</c:v>
                </c:pt>
              </c:strCache>
            </c:strRef>
          </c:tx>
          <c:spPr>
            <a:solidFill>
              <a:srgbClr val="3D5A8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Rég. logistique</c:v>
                  </c:pt>
                  <c:pt idx="1">
                    <c:v>SVM</c:v>
                  </c:pt>
                  <c:pt idx="2">
                    <c:v>Arbre de décision</c:v>
                  </c:pt>
                  <c:pt idx="3">
                    <c:v>KNN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84.6</c:v>
                </c:pt>
                <c:pt idx="1">
                  <c:v>84.8</c:v>
                </c:pt>
                <c:pt idx="2">
                  <c:v>86.3</c:v>
                </c:pt>
                <c:pt idx="3">
                  <c:v>84.8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(18 vols)</c:v>
                </c:pt>
              </c:strCache>
            </c:strRef>
          </c:tx>
          <c:spPr>
            <a:solidFill>
              <a:srgbClr val="E8590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Rég. logistique</c:v>
                  </c:pt>
                  <c:pt idx="1">
                    <c:v>SVM</c:v>
                  </c:pt>
                  <c:pt idx="2">
                    <c:v>Arbre de décision</c:v>
                  </c:pt>
                  <c:pt idx="3">
                    <c:v>KNN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83.3</c:v>
                </c:pt>
                <c:pt idx="1">
                  <c:v>83.3</c:v>
                </c:pt>
                <c:pt idx="2">
                  <c:v>83.3</c:v>
                </c:pt>
                <c:pt idx="3">
                  <c:v>83.3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75"/>
        </c:scaling>
        <c:delete val="0"/>
        <c:axPos val="l"/>
        <c:majorGridlines>
          <c:spPr>
            <a:ln w="6350" cap="flat">
              <a:solidFill>
                <a:srgbClr val="D5DB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93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FC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rgbClr val="E8590C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6974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</a:rPr>
              <a:t>Projet GitHub : https://github.com/vanessapenda/Spacex-Capstone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/blob/main/jupyter-labs-spacex-data-collection-api.ipynb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/blob/main/jupyter-labs-webscraping.ipynb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/blob/main/labs-jupyter-spacex-data-wrangling.ipynb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/blob/main/edadataviz.ipynb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/blob/main/jupyter-labs-eda-sql-coursera_sqllite.ipynb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/blob/main/lab_jupyter_launch_site_location.ipynb" TargetMode="External"/><Relationship Id="rId2" Type="http://schemas.openxmlformats.org/officeDocument/2006/relationships/hyperlink" Target="https://github.com/vanessapenda/Spacex-Capstone/blob/main/spacex-dash-app.py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essapenda/Spacex-Capstone/blob/main/SpaceX_Machine_Learning_Prediction_Part_5.ipynb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Prédire l'atterrissage du premier étage du Falcon 9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Rapport de Projet de Capstone en Science des Données — IBM Data Science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Penda Vanessa — 19 octobre 2026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Dépôt GitHub (tous les notebooks et le fichier Python) : </a:t>
            </a:r>
            <a:pPr algn="l" indent="0" marL="0">
              <a:buNone/>
            </a:pPr>
            <a:r>
              <a:rPr lang="en-US" sz="1800" b="1" u="sng" dirty="0">
                <a:solidFill>
                  <a:srgbClr val="FFB3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Résumé exécutif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</a:rPr>
              <a:t>Executive Summary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64592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</a:rPr>
              <a:t>Introduction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37160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64592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Méthodologie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</a:rPr>
              <a:t>Data collection, wrangling, EDA, visual analytics, ML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88620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EDA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</a:rPr>
              <a:t>Visualisation et SQL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388620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Analytique interactive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</a:rPr>
              <a:t>Folium et Plotly Dash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361188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388620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prédictive et conclusion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</a:rPr>
              <a:t>Classification, Conclusion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Résumé exécutif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Méthodes utilisées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035040" cy="3657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: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SpaceX et web scraping de Wikipedia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: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Falcon 9, valeurs manquantes, création de la cible Class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: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graphiques Matplotlib/Seaborn et 10 requêtes SQL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interactive :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Folium et dashboard Plotly Dash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: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logistique, SVM, arbre de décision, KNN (GridSearchCV, cv = 10)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280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clés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040880" y="1737360"/>
            <a:ext cx="4572000" cy="4023360"/>
          </a:xfrm>
          <a:prstGeom prst="roundRect">
            <a:avLst>
              <a:gd name="adj" fmla="val 181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66,7 %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5328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d'atterrissage réussi (90 vols)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25328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succès en 2019 (0 % avant 2014)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36118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76,9 %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3616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succès à KSC LC-39A, le meilleur site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36118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86,3 %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9418320" y="43616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de décision, meilleur modèle (83,3 % sur le test)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vend ses lancements Falcon 9 environ 62 millions de dollars, contre plus de 165 millions chez les concurrents, car le premier étage est réutilisé.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l'on prédit l'atterrissage du premier étage, on peut estimer le coût d'un lancement. Une entreprise concurrente (Space Y) peut ainsi mieux répondre aux appels d'offres.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2801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Problèmes à résoudre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92240" y="17830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0" y="2130552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187452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facteurs (charge utile, site, orbite, nombre de vols, booster) influencent le succès de l'atterrissage 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31089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0" y="3456432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20040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le taux de succès évolue-t-il dans le temps 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92240" y="443484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75120" y="4782312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782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52628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modèle de classification prédit le mieux l'atterrissage 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Méthodologie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72184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325880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des données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API REST SpaceX et web scraping Wikipedia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340864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340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194560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(data wrangling)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Filtrage Falcon 9, valeurs manquantes, cible Class (1 = succès)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209544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9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063240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Visualisations (dispersion, barres, courbe) et requêtes SQL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078224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931920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visuelle interactive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Carte Folium et dashboard Plotly Dash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480060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946904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946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800600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prédictive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Standardisation, split 80/20, GridSearchCV sur 4 modèles, précision et matrice de confusion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Collecte des données — API SpaceX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COLLECTION – SPACEX API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" y="1653540"/>
            <a:ext cx="0" cy="3733800"/>
          </a:xfrm>
          <a:prstGeom prst="line">
            <a:avLst/>
          </a:prstGeom>
          <a:noFill/>
          <a:ln w="25400">
            <a:solidFill>
              <a:srgbClr val="98C1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151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61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28016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 GET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api.spacexdata.com/v4/launches/past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0827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208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02692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response.json() puis pd.json_normalize()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5503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55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77368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booster et 1 charge utile par lancement, dates ≤ 13/11/2020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70179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7017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52044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Enrichissement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aux endpoints rockets, launchpads, payloads, cores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44855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448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26720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dictionnaire launch_dict → DataFrame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9531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195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501396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9 seulement, PayloadMass manquante remplacée par la moyenne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0" y="1371600"/>
            <a:ext cx="3840480" cy="4297680"/>
          </a:xfrm>
          <a:prstGeom prst="roundRect">
            <a:avLst>
              <a:gd name="adj" fmla="val 190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0100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Fonctions d'appel API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1965960"/>
            <a:ext cx="3474720" cy="3566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getBoosterVersion() → nom du booster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getLaunchSite() → site, latitude, longitude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getPayloadData() → masse, orbite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getCoreData() → bloc, réutilisations, résultat d'atterrissage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https://github.com/vanessapenda/Spacex-Capstone/blob/main/jupyter-labs-spacex-data-collection-api.ipynb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Collecte des données — Web scraping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COLLECTION – WEB SCRAPING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" y="1653540"/>
            <a:ext cx="0" cy="3733800"/>
          </a:xfrm>
          <a:prstGeom prst="line">
            <a:avLst/>
          </a:prstGeom>
          <a:noFill/>
          <a:ln w="25400">
            <a:solidFill>
              <a:srgbClr val="98C1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151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61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28016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 HTTP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requests.get() sur la page Wikipedia « List of Falcon 9 and Falcon Heavy launches 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0827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208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02692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HTML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 BeautifulSoup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5503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55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77368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soup.find_all('table') et choix du tableau des lancements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70179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7017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52044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des en-têtes &lt;th&gt;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44855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448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26720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Remplissage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des lignes &lt;tr&gt; vers un dictionnaire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9531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195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5013960"/>
            <a:ext cx="6199632" cy="746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 puis fichier CSV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0" y="1371600"/>
            <a:ext cx="3840480" cy="4297680"/>
          </a:xfrm>
          <a:prstGeom prst="roundRect">
            <a:avLst>
              <a:gd name="adj" fmla="val 190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0" y="1554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23042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lancements extraits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3017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6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767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: Flight No., Date, Launch site, Payload, Payload mass, Orbit, Customer, Launch outcome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https://github.com/vanessapenda/Spacex-Capstone/blob/main/jupyter-labs-webscraping.ipynb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des données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WRANGLING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" y="1728216"/>
            <a:ext cx="0" cy="3584448"/>
          </a:xfrm>
          <a:prstGeom prst="line">
            <a:avLst/>
          </a:prstGeom>
          <a:noFill/>
          <a:ln w="25400">
            <a:solidFill>
              <a:srgbClr val="98C1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36192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280160"/>
            <a:ext cx="5468112" cy="896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pourcentage de valeurs nulles par colonne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176272"/>
            <a:ext cx="5468112" cy="896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lancements par site, par orbite, et types de résultats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072384"/>
            <a:ext cx="5468112" cy="896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 résultats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ASDS, False Ocean, False RTLS, None ASDS, None None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24528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968496"/>
            <a:ext cx="5468112" cy="896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cible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= 0 si mauvais résultat, sinon 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120640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864608"/>
            <a:ext cx="5468112" cy="896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succès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 Class = 66,7 %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371600"/>
          <a:ext cx="4663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ASDS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RTLS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ASDS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Ocean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Ocean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ASDS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RTLS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https://github.com/vanessapenda/Spacex-Capstone/blob/main/labs-jupyter-spacex-data-wrangling.ipynb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avec visualisation des données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WITH DATA VISUALIZATION – METHODOLOGY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Graphique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Numéro de vol × charge utile ; × site ; × orbite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 de l'expérience sur le succès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utile × site ; × orbite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Limites de charge et effet de la masse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succès par orbite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Comparer la difficulté des orbites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Courbe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succès moyen par année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Tendance dans le temps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2062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Ingénierie des variables 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encodage one-hot de Orbit, LaunchSite, LandingPad et Serial. On obtient 83 variables pour le Machine Learning.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https://github.com/vanessapenda/Spacex-Capstone/blob/main/edadataviz.ipynb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avec SQL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WITH SQL – METHODOLOGY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46304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258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de lancement uniques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28600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148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lancements de sites « CCA% 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310896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9718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totale pour NASA (CRS)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393192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7947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moyenne du F9 v1.1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61772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475488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" y="4754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6177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atterrissage réussi au sol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132588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36792" y="146304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36792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03720" y="13258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Succès sur barge, 4 000 à 6 000 kg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172200" y="214884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36792" y="228600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36792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903720" y="2148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 réussies / échouées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172200" y="297180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36792" y="310896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3679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903720" y="29718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Boosters à charge maximale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172200" y="379476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36792" y="393192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36792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37947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Échecs sur barge en 2015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172200" y="461772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36792" y="4754880"/>
            <a:ext cx="411480" cy="41148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336792" y="4754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903720" y="46177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Classement des résultats 2010-2017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486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chargées dans SQLite (table SPACEXTBL), requêtes exécutées avec %%sql.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https://github.com/vanessapenda/Spacex-Capstone/blob/main/jupyter-labs-eda-sql-coursera_sqllite.ipynb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Analytique visuelle interactive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VISUAL ANALYTICS – FOLIUM &amp; PLOTLY DASH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Folium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+ Marker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sites de lancement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MarkerCluster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marqueurs verts (succès) et rouges (échecs)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MousePosition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coordonnées des points proches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à la côte et aux routes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Plotly Dash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sites ou un site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succès par site, ou succès / échecs d'un site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RangeSlider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utile de 0 à 10 000 kg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utile × résultat, couleur = booster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: visualiser la géographie des sites et comparer les sites et charges utiles de façon interactive.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074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https://github.com/vanessapenda/Spacex-Capstone/blob/main/lab_jupyter_launch_site_location.ipynb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https://github.com/vanessapenda/Spacex-Capstone/blob/main/spacex-dash-app.py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prédictive (classification)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ANALYSIS – METHODOLOGY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" y="1719072"/>
            <a:ext cx="0" cy="3511296"/>
          </a:xfrm>
          <a:prstGeom prst="line">
            <a:avLst/>
          </a:prstGeom>
          <a:noFill/>
          <a:ln w="25400">
            <a:solidFill>
              <a:srgbClr val="98C1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27048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280160"/>
            <a:ext cx="6199632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Class ; X = 83 variables standardisées (StandardScaler)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404872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157984"/>
            <a:ext cx="6199632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train_test_split 80/20 (18 vols de test), random_state = 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82696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035808"/>
            <a:ext cx="6199632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GridSearchCV, validation croisée à 10 plis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913632"/>
            <a:ext cx="6199632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logistique, SVM, arbre de décision, KNN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038344"/>
            <a:ext cx="384048" cy="384048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38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791456"/>
            <a:ext cx="6199632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et choix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précision sur le test, matrice de confusion, meilleur score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0" y="1371600"/>
            <a:ext cx="3840480" cy="4206240"/>
          </a:xfrm>
          <a:prstGeom prst="roundRect">
            <a:avLst>
              <a:gd name="adj" fmla="val 190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Hyperparamètres testés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1965960"/>
            <a:ext cx="3474720" cy="3474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C, penalty, solver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kernel, C, gamma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criterion, splitter, max_depth…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n_neighbors, algorithm, p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: </a:t>
            </a:r>
            <a:pPr indent="0" marL="0">
              <a:buNone/>
            </a:pPr>
            <a:r>
              <a:rPr lang="en-US" sz="12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https://github.com/vanessapenda/Spacex-Capstone/blob/main/SpaceX_Machine_Learning_Prediction_Part_5.ipynb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EDA — sites de lancement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WITH VISUALIZATION – RESULTS</a:t>
            </a:r>
            <a:endParaRPr lang="en-US" sz="1300" dirty="0"/>
          </a:p>
        </p:txBody>
      </p:sp>
      <p:pic>
        <p:nvPicPr>
          <p:cNvPr id="4" name="Image 0" descr="C:/Users/enangue/Desktop/SpaceX-Capstone/images/eda_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587" y="1234440"/>
            <a:ext cx="10966346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de vol × site de lancement (orange = succès)</a:t>
            </a:r>
            <a:endParaRPr lang="en-US" sz="1200" dirty="0"/>
          </a:p>
        </p:txBody>
      </p:sp>
      <p:pic>
        <p:nvPicPr>
          <p:cNvPr id="6" name="Image 1" descr="C:/Users/enangue/Desktop/SpaceX-Capstone/images/eda_2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03320"/>
            <a:ext cx="3794970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63440" y="3749040"/>
            <a:ext cx="6949440" cy="2468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premiers vols (CCAFS SLC 40) échouent surtout ; le succès augmente avec le numéro de vol sur tous les sites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CCAFS SLC 40 est le site le plus utilisé (55 lancements sur 90)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utile × site : VAFB SLC 4E n'a aucun lancement au-delà de 10 000 kg ; les charges lourdes réussissent presque toujours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EDA — orbites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WITH VISUALIZATION – RESULTS</a:t>
            </a:r>
            <a:endParaRPr lang="en-US" sz="1300" dirty="0"/>
          </a:p>
        </p:txBody>
      </p:sp>
      <p:pic>
        <p:nvPicPr>
          <p:cNvPr id="4" name="Image 0" descr="C:/Users/enangue/Desktop/SpaceX-Capstone/images/eda_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1258" y="1280160"/>
            <a:ext cx="324972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0690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à barres : taux de succès par orbite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89120"/>
            <a:ext cx="5394960" cy="1828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ES-L1, GEO, HEO, SSO : 100 % (1 à 5 lancements)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VLEO : 85,7 % sur 14 lancements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GTO : 51,9 % sur 27, l'orbite la plus difficile</a:t>
            </a:r>
            <a:endParaRPr lang="en-US" sz="1400" dirty="0"/>
          </a:p>
        </p:txBody>
      </p:sp>
      <p:pic>
        <p:nvPicPr>
          <p:cNvPr id="7" name="Image 1" descr="C:/Users/enangue/Desktop/SpaceX-Capstone/images/eda_4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447" y="1280160"/>
            <a:ext cx="3579906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0" y="40690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: charge utile × orbite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4389120"/>
            <a:ext cx="5394960" cy="1828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lourdes : plus de succès en PO, LEO et ISS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GTO : succès et échecs mélangés quelle que soit la masse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EDA — tendance annuelle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WITH VISUALIZATION – RESULTS</a:t>
            </a:r>
            <a:endParaRPr lang="en-US" sz="1300" dirty="0"/>
          </a:p>
        </p:txBody>
      </p:sp>
      <p:pic>
        <p:nvPicPr>
          <p:cNvPr id="4" name="Image 0" descr="C:/Users/enangue/Desktop/SpaceX-Capstone/images/eda_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895" y="1280160"/>
            <a:ext cx="3418449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0690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: taux de succès moyen par année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89120"/>
            <a:ext cx="5394960" cy="1828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 de 2010 à 2013, puis hausse continue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83 % en 2017, baisse en 2018 (61 %), pic à 90 % en 2019</a:t>
            </a:r>
            <a:endParaRPr lang="en-US" sz="1400" dirty="0"/>
          </a:p>
        </p:txBody>
      </p:sp>
      <p:pic>
        <p:nvPicPr>
          <p:cNvPr id="7" name="Image 1" descr="C:/Users/enangue/Desktop/SpaceX-Capstone/images/eda_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318" y="1280160"/>
            <a:ext cx="3514165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0" y="40690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: numéro de vol × orbite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4389120"/>
            <a:ext cx="5394960" cy="1828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LEO, le succès suit le nombre de vols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GTO, pas de lien clair ; VLEO récent et réussi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EDA avec SQL (1/3)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WITH SQL – RESULTS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1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de lancement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"Launch_Site"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SPACEXTBL;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CCAFS LC-40, VAFB SLC-4E, KSC LC-39A, CCAFS SLC-40 (4 sites)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28016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2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commençant par « CCA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55080" y="178308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82880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SPACEXTBL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"Launch_Site" LIKE 'CCA%'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5;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0175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vols de 2010 à 2013 depuis CCAFS LC-40, boosters F9 v1.0, charges de 0 à 677 kg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93192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3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Masse totale NASA (CRS)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8912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SUM("PAYLOAD_MASS__KG_")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SPACEXTBL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"Customer" = 'NASA (CRS)';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57784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45 596 kg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393192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4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Masse moyenne F9 v1.1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55080" y="434340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438912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AVG("PAYLOAD_MASS__KG_")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SPACEXTBL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"Booster_Version" = 'F9 v1.1';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557784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2 928,4 kg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EDA avec SQL (2/3)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WITH SQL – RESULTS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5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succès au sol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MIN(Date) FROM SPACEXTBL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"Landing_Outcome"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'Success (ground pad)';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22/12/2015, premier atterrissage réussi sur plateforme au sol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28016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6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Succès sur barge, 4 000 à 6 000 kg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55080" y="178308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82880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"Booster_Version"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SPACEXTBL WHERE "Landing_Outcome"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'Success (drone ship)'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"PAYLOAD_MASS__KG_" &gt; 4000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"PAYLOAD_MASS__KG_" &lt; 6000;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0175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F9 FT B1022, F9 FT B1026, F9 FT B1021.2, F9 FT B1031.2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93192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7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 réussies et échouées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8912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"Mission_Outcome", COUNT(*)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SPACEXTBL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"Mission_Outcome";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57784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succès (98 + 1 + 1 « payload status unclear ») et 1 échec en vol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l'on retient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343400"/>
            <a:ext cx="5166360" cy="1783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missions réussissent presque toujours (99 %)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vraie difficulté est l'atterrissage du premier étage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succès au sol date de fin 2015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EDA avec SQL (3/3)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WITH SQL – RESULTS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8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Boosters à charge maximale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"Booster_Version" FROM SPACEXTBL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"PAYLOAD_MASS__KG_"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(SELECT MAX("PAYLOAD_MASS__KG_")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SPACEXTBL);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boosters F9 B5 (Block 5), dont B1048.4, B1049.4, B1051.3, B1056.4, B1060.2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28016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9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Échecs sur barge en 2015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55080" y="178308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82880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substr(Date,6,2) AS month,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SPACEXTBL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substr(Date,0,5) = '2015'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"Landing_Outcome"='Failure (drone ship)';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0175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Janvier : F9 v1.1 B1012 ; avril : F9 v1.1 B1015, tous deux à CCAFS LC-40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93192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Tâche 10 — </a:t>
            </a:r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Classement 2010-06-04 → 2017-03-20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5074920" cy="1188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8912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"Landing_Outcome", COUNT(*) AS 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SPACEXTBL WHERE Date BETWEEN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"Landing_Outcome"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n DESC;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57784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attempt 10, Success (drone ship) 5, Failure (drone ship) 5, Success (ground pad) 3, Controlled (ocean) 3…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temporelle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343400"/>
            <a:ext cx="5166360" cy="1783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2017, l'absence de tentative domine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barge : autant de succès que d'échecs (5 / 5)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charges maximales sont portées par la version la plus récente (B5)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Folium — sites et résultats des lancements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FOLIUM MAP – LAUNCH SITES &amp; OUTCOMES</a:t>
            </a:r>
            <a:endParaRPr lang="en-US" sz="1300" dirty="0"/>
          </a:p>
        </p:txBody>
      </p:sp>
      <p:pic>
        <p:nvPicPr>
          <p:cNvPr id="4" name="Image 0" descr="C:/Users/enangue/Desktop/SpaceX-Capstone/images/folium_si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5093"/>
            <a:ext cx="5486400" cy="31350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sites : 3 en Floride, 1 en Californie, tous en bord de mer</a:t>
            </a:r>
            <a:endParaRPr lang="en-US" sz="1200" dirty="0"/>
          </a:p>
        </p:txBody>
      </p:sp>
      <p:pic>
        <p:nvPicPr>
          <p:cNvPr id="6" name="Image 1" descr="C:/Users/enangue/Desktop/SpaceX-Capstone/images/folium_outcomes_ks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35093"/>
            <a:ext cx="5486400" cy="313508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2648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 LC-39A : 10 marqueurs verts (succès), 3 rouges (échecs)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KSC LC-39A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CCAFS SLC-40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VAFB SLC-4E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CCAFS LC-40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succès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76,9 % (10/13)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42,9 % (3/7)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40,0 % (4/10)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26,9 % (7/26)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Folium — analyse de proximité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FOLIUM MAP – PROXIMITY ANALYSIS</a:t>
            </a:r>
            <a:endParaRPr lang="en-US" sz="1300" dirty="0"/>
          </a:p>
        </p:txBody>
      </p:sp>
      <p:pic>
        <p:nvPicPr>
          <p:cNvPr id="4" name="Image 0" descr="C:/Users/enangue/Desktop/SpaceX-Capstone/images/folium_proxim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4237"/>
            <a:ext cx="6766560" cy="38666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1663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CCAFS SLC-40 : lignes PolyLine, distances calculées avec la formule de Haversine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589520" y="132588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3716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0,58 km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214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la côte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692640" y="13716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 km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9692640" y="21214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une route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7432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km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34930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Titusville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27432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km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9692640" y="34930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Orlando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4206240"/>
            <a:ext cx="3657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sites sont proches de la côte et des routes (logistique) mais loin des villes, pour la sécurité.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Plotly Dash — graphiques à secteurs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PLOTLY DASH – SUCCESS PIE CHARTS</a:t>
            </a:r>
            <a:endParaRPr lang="en-US" sz="1300" dirty="0"/>
          </a:p>
        </p:txBody>
      </p:sp>
      <p:pic>
        <p:nvPicPr>
          <p:cNvPr id="4" name="Image 0" descr="C:/Users/enangue/Desktop/SpaceX-Capstone/images/dash_pie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7503"/>
            <a:ext cx="5486400" cy="2351314"/>
          </a:xfrm>
          <a:prstGeom prst="rect">
            <a:avLst/>
          </a:prstGeom>
        </p:spPr>
      </p:pic>
      <p:pic>
        <p:nvPicPr>
          <p:cNvPr id="5" name="Image 1" descr="C:/Users/enangue/Desktop/SpaceX-Capstone/images/dash_pie_ks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47503"/>
            <a:ext cx="5486400" cy="23513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840480"/>
            <a:ext cx="54864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sites 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 LC-39A représente 41,7 % des succès, devant CCAFS LC-40 (29,2 %), VAFB SLC-4E (16,7 %) et CCAFS SLC-40 (12,5 %)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26480" y="3840480"/>
            <a:ext cx="54864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 LC-39A 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76,9 % de succès (10 sur 13) contre 23,1 % d'échecs, le meilleur taux de tous les sites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Plotly Dash — charge utile × résultat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PLOTLY DASH – PAYLOAD VS. LAUNCH OUTCOME</a:t>
            </a:r>
            <a:endParaRPr lang="en-US" sz="1300" dirty="0"/>
          </a:p>
        </p:txBody>
      </p:sp>
      <p:pic>
        <p:nvPicPr>
          <p:cNvPr id="4" name="Image 0" descr="C:/Users/enangue/Desktop/SpaceX-Capstone/images/dash_scatter_0_5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91333"/>
            <a:ext cx="6949440" cy="196073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1546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Curseur 0 – 5 000 kg</a:t>
            </a:r>
            <a:endParaRPr lang="en-US" sz="1200" dirty="0"/>
          </a:p>
        </p:txBody>
      </p:sp>
      <p:pic>
        <p:nvPicPr>
          <p:cNvPr id="6" name="Image 1" descr="C:/Users/enangue/Desktop/SpaceX-Capstone/images/dash_scatter_5000_1000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23053"/>
            <a:ext cx="6949440" cy="19607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Curseur 5 000 – 10 000 kg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234440"/>
          <a:ext cx="3840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utile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Succès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– 2 000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2 000 – 4 000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 – 6 000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6 000 – 10 000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7772400" y="3154680"/>
            <a:ext cx="3840480" cy="2926080"/>
          </a:xfrm>
          <a:prstGeom prst="roundRect">
            <a:avLst>
              <a:gd name="adj" fmla="val 25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00100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l'on observe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955280" y="3703320"/>
            <a:ext cx="3474720" cy="2240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2 000 à 4 000 kg : meilleur taux de succès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Booster FT : 67 % sur 24 vols ; v1.1 : 7 % sur 15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de l'analyse prédictive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ANALYSIS – CLASSIFICATION RESULTS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58521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C:/Users/enangue/Desktop/SpaceX-Capstone/images/cm_Decision_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62456"/>
            <a:ext cx="2651760" cy="212140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32688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confusion — arbre de décision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326880" y="19202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vrais positifs, 3 vrais négatifs, 3 faux positifs, 0 faux négatif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583680" y="379476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766560" y="3886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Meilleur modèle : arbre de décision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720840" y="4297680"/>
            <a:ext cx="4754880" cy="1737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validation croisée : 86,3 % (max_depth = 6, gini)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83,3 % sur le test, comme les 3 autres modèles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prédit tous les succès ; sa faiblesse : 3 faux positifs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6583680" cy="4754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 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taux de succès passe de 0 % (2010-2013) à 90 % (2019)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 LC-39A est le plus performant (76,9 %) ; tous les sites sont près des côtes et loin des villes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Orbite 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ES-L1, GEO, HEO, SSO, VLEO réussissent le mieux ; GTO est la plus difficile (52 %)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utile 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2 000 à 4 000 kg est la plage la plus favorable ; le booster FT surpasse les anciennes versions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l'arbre de décision est retenu (86,3 % en validation croisée, 83,3 % sur le test) pour estimer le coût d'un lancement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98080" y="132588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266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Idées créatives et innovantes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874520"/>
            <a:ext cx="3794760" cy="4114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d'enchère pour Space Y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estimé = probabilité d'atterrissage × économie de réutilisation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données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vols après 2020, météo, réutilisations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plus robustes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forêt aléatoire, XGBoost, F1 et ROC-AUC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en direct 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le modèle au dashboard Dash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ceX Capstone">
  <a:themeElements>
    <a:clrScheme name="SpaceX Capstone">
      <a:dk1>
        <a:srgbClr val="1F2937"/>
      </a:dk1>
      <a:lt1>
        <a:srgbClr val="FFFFFF"/>
      </a:lt1>
      <a:dk2>
        <a:srgbClr val="0B1D3A"/>
      </a:dk2>
      <a:lt2>
        <a:srgbClr val="EEF2F7"/>
      </a:lt2>
      <a:accent1>
        <a:srgbClr val="E8590C"/>
      </a:accent1>
      <a:accent2>
        <a:srgbClr val="3D5A80"/>
      </a:accent2>
      <a:accent3>
        <a:srgbClr val="2E7D32"/>
      </a:accent3>
      <a:accent4>
        <a:srgbClr val="C62828"/>
      </a:accent4>
      <a:accent5>
        <a:srgbClr val="98C1D9"/>
      </a:accent5>
      <a:accent6>
        <a:srgbClr val="5B6472"/>
      </a:accent6>
      <a:hlink>
        <a:srgbClr val="1D4ED8"/>
      </a:hlink>
      <a:folHlink>
        <a:srgbClr val="6D28D9"/>
      </a:folHlink>
    </a:clrScheme>
    <a:fontScheme name="SpaceX Capston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Capstone SpaceX Falcon 9</dc:title>
  <dc:subject>PptxGenJS Presentation</dc:subject>
  <dc:creator>Penda Vanessa</dc:creator>
  <cp:lastModifiedBy>Penda Vanessa</cp:lastModifiedBy>
  <cp:revision>1</cp:revision>
  <dcterms:created xsi:type="dcterms:W3CDTF">2026-10-19T09:24:56Z</dcterms:created>
  <dcterms:modified xsi:type="dcterms:W3CDTF">2026-10-19T09:24:56Z</dcterms:modified>
</cp:coreProperties>
</file>